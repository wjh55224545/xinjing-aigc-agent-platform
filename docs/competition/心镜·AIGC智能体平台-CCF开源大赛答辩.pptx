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84" r:id="rId15"/>
    <p:sldId id="285" r:id="rId16"/>
    <p:sldId id="286" r:id="rId17"/>
    <p:sldId id="287" r:id="rId18"/>
    <p:sldId id="288" r:id="rId19"/>
    <p:sldId id="289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39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.png"/><Relationship Id="rId10" Type="http://schemas.openxmlformats.org/officeDocument/2006/relationships/image" Target="../media/image20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30.svg"/><Relationship Id="rId13" Type="http://schemas.openxmlformats.org/officeDocument/2006/relationships/image" Target="../media/image29.png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image" Target="../media/image28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38.sv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0.sv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.png"/><Relationship Id="rId14" Type="http://schemas.openxmlformats.org/officeDocument/2006/relationships/image" Target="../media/image52.svg"/><Relationship Id="rId13" Type="http://schemas.openxmlformats.org/officeDocument/2006/relationships/image" Target="../media/image51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22.svg"/><Relationship Id="rId1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3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4.png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7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8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9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67.svg"/><Relationship Id="rId7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12" Type="http://schemas.openxmlformats.org/officeDocument/2006/relationships/image" Target="../media/image69.svg"/><Relationship Id="rId11" Type="http://schemas.openxmlformats.org/officeDocument/2006/relationships/image" Target="../media/image68.png"/><Relationship Id="rId10" Type="http://schemas.openxmlformats.org/officeDocument/2006/relationships/image" Target="../media/image42.svg"/><Relationship Id="rId1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73.svg"/><Relationship Id="rId7" Type="http://schemas.openxmlformats.org/officeDocument/2006/relationships/image" Target="../media/image72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67.svg"/><Relationship Id="rId17" Type="http://schemas.openxmlformats.org/officeDocument/2006/relationships/notesSlide" Target="../notesSlides/notesSlide19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.png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image" Target="../media/image75.svg"/><Relationship Id="rId11" Type="http://schemas.openxmlformats.org/officeDocument/2006/relationships/image" Target="../media/image74.png"/><Relationship Id="rId10" Type="http://schemas.openxmlformats.org/officeDocument/2006/relationships/image" Target="../media/image18.svg"/><Relationship Id="rId1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572000"/>
            <a:ext cx="3556000" cy="3556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5000" y="1524000"/>
            <a:ext cx="508000" cy="508000"/>
          </a:xfrm>
          <a:prstGeom prst="ellipse">
            <a:avLst/>
          </a:prstGeom>
          <a:solidFill>
            <a:srgbClr val="165DFF">
              <a:alpha val="8000"/>
            </a:srgbClr>
          </a:solidFill>
          <a:ln cap="flat" cmpd="sng">
            <a:solidFill>
              <a:srgbClr val="0046E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414000" y="4445000"/>
            <a:ext cx="304800" cy="304800"/>
          </a:xfrm>
          <a:prstGeom prst="ellipse">
            <a:avLst/>
          </a:prstGeom>
          <a:solidFill>
            <a:srgbClr val="165DFF">
              <a:alpha val="8000"/>
            </a:srgbClr>
          </a:solidFill>
          <a:ln cap="flat" cmpd="sng">
            <a:solidFill>
              <a:srgbClr val="0046E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1778000" y="34925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心镜·AIGC智能体平台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207000" y="3683000"/>
            <a:ext cx="17780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-889000" y="45085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r>
              <a:rPr lang="en-US" sz="2400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基于国产算力的校园心理健康多智能体系统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88400" y="5391727"/>
            <a:ext cx="3556000" cy="996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br>
              <a:rPr lang="en-US" sz="20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码到成功队</a:t>
            </a:r>
            <a:endParaRPr lang="en-US" sz="2000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2000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2026.8.14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112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项目背景与设计思路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2667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剖析项目建设的背景与初衷，解读整体设计理念与愿景目标，明确系统建设的核心方向与原则。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92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7465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364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核心技术与架构设计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1275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深入解析技术栈选型逻辑，拆解高可用、高扩展的系统架构模型，展示分层解耦的设计细节。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105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代码实现与工程化建设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5588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详述核心功能模块的代码实现逻辑，分享工程化规范、CI/CD自动化流程与代码质量保障体系。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731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系统运行与效果演示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2667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实时展示系统核心功能运行实况，通过可视化数据看板呈现关键业务指标，验证系统稳定性与性能。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492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37465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31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0" y="364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创新价值与落地进展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0" y="41275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挖掘技术与业务的双重创新点，复盘项目落地过程中的关键里程碑节点与阶段性成果数据。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953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731000" y="514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0" y="5105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团队协作与未来规划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0" y="5588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回顾高效的团队协作模式与沟通机制，展望未来功能迭代方向、技术演进路线与业务拓展规划。</a:t>
            </a:r>
            <a:endParaRPr lang="en-US" sz="110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537"/>
            <a:ext cx="12192000" cy="1103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176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传统校园心理监测的四大困境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60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模式滞后：被动式监测效率低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68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依赖人工量表与主观观察，风险发现严重滞后，无法覆盖全体学生，难以实现常态化、动态化的全群体心理风险追踪。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60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精度不足：单模态易受干扰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768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单一问卷或行为识别易受情绪伪装、环境光线及临时状态干扰，评估维度片面，导致结果稳定性差，难以作为研判的可靠依据。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65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16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落地困难：成本高且隐私敏感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673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专用采集硬件采购维护成本高昂，规模化部署门槛高；学生心理数据属于隐私敏感信息，传统存储方式存在较大的信息泄露风险。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65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16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链路断裂：预警与干预脱节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673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预警后缺乏标准化的干预跟进机制，加之专业心理师资缺口大，难以快速响应并为大规模风险学生提供持续的有效帮扶。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731500" cy="698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5918200"/>
            <a:ext cx="1047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设计目标：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打造零硬件改造、无感化采集、全链路智能的开源AIGC平台，实现校园心理监测从“被动响应”到“主动预防”的升级，构建低成本、高覆盖的校园心理健康防护网。</a:t>
            </a:r>
            <a:endParaRPr lang="en-US" sz="11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36237"/>
            <a:ext cx="12192000" cy="1065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033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作品设计思路：全链路智能化闭环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30400"/>
            <a:ext cx="1022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打造教室里的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“情绪CT机”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6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AI心理报告生成器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实现从数据采集到干预服务的全流程智能闭环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采集层 · 无感隐私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兼容教室普通摄像头，实现无穿戴、无感化数据采集；原始数据本地即时销毁，从源头杜绝隐私泄露风险，安全合规。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98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感知层 · 双模态融合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创新融合“微表情识别+前庭振动分析”，突破单一视觉模态的局限，有效对抗刻意情绪伪装，识别准确率提升40%以上。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决策层 · 多智驱动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基于LangGraph构建多智能体双环驱动架构，兼顾毫秒级实时监测效率与临床级深度心理分析精度，决策更科学。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4889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服务层 · 闭环干预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33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国产大模型驱动AIGC自动生成个性化心理报告，建立“监测-预警-干预”三级联动机制，打通从发现问题到解决问题的完整服务闭环，实现心理服务的普惠化与专业化。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69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889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889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底座生态 · 开源适配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533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全链路适配国产化算力环境，核心代码采用Apache2.0开源协议开放；采用模块化微服务架构设计，支持学校、企业根据场景需求灵活进行二次开发与功能扩展，共建心理服务新生态。</a:t>
            </a:r>
            <a:endParaRPr lang="en-US" sz="11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905000"/>
            <a:ext cx="5080000" cy="5080000"/>
          </a:xfrm>
          <a:prstGeom prst="ellipse">
            <a:avLst/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三层解耦的国产化系统架构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171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930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前端交互层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Vue 3 + ECharts 全场景可视化交互引擎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387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实时情绪仪表盘、分级预警面板与AIGC智能报告看板，支持智能体协作过程的流式可视化展示。通过低门槛交互设计让业务数据与系统状态直观可见，大幅降低用户的操作与认知成本，实现数据的动态呈现与即时响应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3238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3556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3949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708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多智能体中枢层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FastAPI + LangGraph 分布式智能协作引擎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4165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由协调、感知、分析、报告、预警五大核心智能体组成的协作网络，基于双环工作流模型承载系统核心业务逻辑。实现智能体间的任务拆解、自主调度与协同决策，保障业务处理的高效性、灵活性与可扩展性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5016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33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57277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5486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国产化算力基座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沐曦MetaX GPU + 灵枢Lingshu-32B 全栈自主可控底座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943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沐曦MetaX系列GPU提供高性能算力支持，深度适配灵枢Lingshu-32B医疗专用大模型，配套DeepSeek模型实现自动容灾与智能降级。从底层算力芯片到上层大模型应用，实现全链路国产化自主可控，保障系统的安全性与稳定性。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18487"/>
            <a:ext cx="12192000" cy="102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核心技术：双环驱动的智能闭环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内环 · 实时感知环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41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每15分钟高频触发，毫秒级捕捉情绪微光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327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影像采集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高清摄像头全天候抓拍，毫秒级图像传输，覆盖无死角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5908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800" y="3327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7178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双模态识别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基于视觉与微表情算法，纯确定性计算，精准度98%+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1656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2600" y="3327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2926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特征存储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关键情绪特征值本地加密存储，低延迟无感知运行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495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</a:t>
            </a:r>
            <a:r>
              <a:rPr lang="en-US" sz="14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极致性能：单次处理耗时</a:t>
            </a:r>
            <a:r>
              <a:rPr lang="en-US" sz="14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&lt; 1.5秒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纯端侧确定性计算，无需云端依赖，确保在复杂网络环境下也能精准捕捉课堂瞬时情绪波动，为即时干预提供坚实基础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1905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15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外环 · 深度分析环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641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每日22:00自动触发，大模型驱动的主动防御体系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3020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6040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数据汇聚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清洗全场景数据，构建标准化时序数据库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0518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8800" y="33020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1788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趋势建模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分析情绪变化曲线，识别长期异常与风险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6266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53600" y="3302000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536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大模型推理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结合心理学知识，深度解读成因与关联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477000" y="4508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46355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921500" y="4635500"/>
            <a:ext cx="190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报告生成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自动生成可视化、可解释的评估结论与洞察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953500" y="4508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80500" y="4635500"/>
            <a:ext cx="279400" cy="279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398000" y="4635500"/>
            <a:ext cx="190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分级预警干预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智能判定风险等级，输出个性化干预建议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477000" y="5651500"/>
            <a:ext cx="4826000" cy="5715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04000" y="5740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核心价值：从“数据呈现”升级为“决策辅助”，实现从被动响应到主动预防的跨越。</a:t>
            </a:r>
            <a:endParaRPr lang="en-US" sz="110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-12079"/>
            <a:ext cx="12192000" cy="1040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两大核心引擎：精准感知</a:t>
            </a:r>
            <a:r>
              <a:rPr lang="en-US" sz="32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双模态融合感知引擎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895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面部微表情时空捕捉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基于YOLOv8实现毫秒级人脸定位，结合LBP-TOP时空特征算法，精准捕捉眉、眼、嘴部细微肌肉运动，突破肉眼识别的情绪捕捉盲区。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65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06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前庭微振动客观量化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提取头部微振动12项核心参数，基于VibraImage生物振动理论，数据完全不受主观情绪伪装干扰，构建情绪识别的客观“黄金标准”。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435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33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双通道融合准确率超92%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通过双模态特征交叉验证与注意力机制加权，在嘈杂、多角度等复杂教室场景下有效过滤干扰，核心情绪识别准确率稳定保持在92%以上。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医疗级AIGC生成引擎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66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895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灵枢大模型全场景赋能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依托Lingshu-32B医疗级大模型，自动生成心理评估报告、个性化干预方案、家校沟通函及成长叙事，释放心理咨询师80%的文书精力。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1656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06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三级风险差异化智能措辞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针对低、中、高风险等级自动匹配专业表述，兼顾评估的严谨性与沟通的适配性，避免因表述不当造成的家校误解与恐慌。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520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54356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533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双模式容灾保障服务连续性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大模型服务异常时自动无缝降级为专业模板模式，确保评估、报告生成等核心业务不中断，保障校园心理筛查工作稳步推进。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-1"/>
            <a:ext cx="12192000" cy="889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5545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代码实现：模块化前后端分离架构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基于开源仓库</a:t>
            </a:r>
            <a:r>
              <a:rPr lang="en-US" sz="1600" b="1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Xinjing-AIGC-Agent-Platform</a:t>
            </a:r>
            <a:r>
              <a:rPr lang="en-US" sz="1600" b="0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构建，采用高内聚、低耦合的目录设计规范，清晰划分前后端职责边界，为系统的灵活扩展与长期维护奠定坚实基础。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10668000" cy="2984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819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20800" y="2819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625600" y="2819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032000" y="276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project-structure / src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302000"/>
            <a:ext cx="4953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📂 backend/ # 后端微服务核心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agents/ # 多智能体调度与协作中枢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aigc/ # 生成式AI模型推理与引擎集成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vibraimage/# 前庭振动交互与多模态感知层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 graph/ # LangGraph 状态机与复杂工作流编排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78514">
            <a:off x="5080000" y="43751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50000" y="3302000"/>
            <a:ext cx="4953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📂 frontend/ # Vue 3 现代化交互层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 src/ # Vite + Pinia + TS 工程化体系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🛠️ 工程保障与交付体系</a:t>
            </a:r>
            <a:endParaRPr lang="en-US" sz="1600" b="1" i="0" u="none" strike="noStrike">
              <a:solidFill>
                <a:srgbClr val="165D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tests/ # 56+ 单元测试与集成测试用例覆盖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deploy/ # Docker Compose 一键编排与部署配置</a:t>
            </a:r>
            <a:endParaRPr lang="en-US" sz="1400" b="0" i="0" u="none" strike="noStrike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842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架构亮点：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通过清晰的目录解耦业务逻辑与技术实现，利用容器化技术消除环境差异，完善的测试文档体系确保了系统的稳定性与可交付性。</a:t>
            </a: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6847"/>
            <a:ext cx="12192000" cy="10147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541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核心代码能力与工程化建设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核心模块技术亮点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692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VibraImage 白盒情绪引擎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3073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基于专著公式完整实现E1-E12情绪参数与K值计算，内置10266人常模数据库，为情绪量化提供精准的底层计算支撑。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4025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 ReAct 协同编排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87500" y="44069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基于LangGraph构建5智能体协作网络，结合双环状态机机制，通过SSE流式推送实现全流程的实时交互与智能决策。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35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统一多模型兼容适配层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87500" y="5740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抽象封装灵枢、DeepSeek等主流大模型接口，提供标准化调用方式，支持节点自动故障降级与流量负载均衡。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工程化落地与保障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730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2692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全链路质量保障体系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75500" y="3073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编写56项核心单元测试用例，覆盖关键业务逻辑与异常场景，实现100%测试通过率，确保核心模块的高鲁棒性。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064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025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多场景灵活部署方案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75500" y="44069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支持本地开发调试、Docker容器化部署及云平台弹性伸缩三种模式，适配不同算力环境，大幅降低项目的落地与运维门槛。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39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75500" y="535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可视化交互开发支持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75500" y="5740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内置中文Swagger UI交互式接口文档，支持接口在线调试、参数实时校验与响应预览，为二次开发与系统集成提供高效支持。</a:t>
            </a:r>
            <a:endParaRPr lang="en-US" sz="110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8242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98425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运行演示：全流程功能闭环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066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自动双环运行机制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362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定时触发“内环”高频情绪采集与“外环”每日深度分析，构建周期性数据闭环，保障校园心理监测的持续性与系统性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0226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2131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1877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手动视频即时分析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09700" y="3543300"/>
            <a:ext cx="462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支持教室场景视频一键上传，系统毫秒级响应，实时输出面部表情与语音双模态情绪识别结果及置信度，快速核验异常场景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2037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94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3688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AIGC 智能报告生成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499" y="4724400"/>
            <a:ext cx="448888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基于监测数据一键生成班级心理日报、学生分级干预方案及家校沟通函，自动化生成文书，释放心理教师80%行政精力。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53848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575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5499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智能体全链路协同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0500" y="59055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实时可视化5个智能体“思考-行动-观察-结论”的协作过程，AI决策链路全透明，让心理评估与干预建议更具说服力。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1841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86500" y="18415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2032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2032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总览仪表盘：全域态势感知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2438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整合校园情绪趋势曲线、预警事件热力分布、班级实时监测记录于一体，通过可视化看板直观呈现全校心理状态，帮助管理者快速捕捉异常趋势，实现全局把控。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4671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286500" y="34671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36576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3657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三级预警面板：分级闭环响应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064094" y="4064000"/>
            <a:ext cx="4492906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基于风险等级自动触发绿（关注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）、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黄（预警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）、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红（危机）三色响应机制，系统自动派发干预工单至对应班主任与心理教师，全程追踪处置进度，确保风险事件“发现即处置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”。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6286500" y="50927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286500" y="50927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0500" y="5283200"/>
            <a:ext cx="457200" cy="457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12000" y="528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智能体面板：推理过程透明化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112000" y="5689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通过SSE流式技术实时展示AI智能体从数据输入、特征提取到决策输出的全链路推理逻辑，打破传统AI“黑盒”模式，让心理评估结果与干预建议的生成过程清晰可见、可信可依。</a:t>
            </a:r>
            <a:endParaRPr lang="en-US" sz="11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-21528"/>
            <a:ext cx="12192000" cy="925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9" name="AutoShape 4"/>
          <p:cNvSpPr/>
          <p:nvPr>
            <p:custDataLst>
              <p:tags r:id="rId2"/>
            </p:custDataLst>
          </p:nvPr>
        </p:nvSpPr>
        <p:spPr>
          <a:xfrm>
            <a:off x="0" y="1340427"/>
            <a:ext cx="12192000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AutoShape 5"/>
          <p:cNvSpPr/>
          <p:nvPr>
            <p:custDataLst>
              <p:tags r:id="rId3"/>
            </p:custDataLst>
          </p:nvPr>
        </p:nvSpPr>
        <p:spPr>
          <a:xfrm>
            <a:off x="525072" y="1647047"/>
            <a:ext cx="3790850" cy="6491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6"/>
          <p:cNvSpPr/>
          <p:nvPr>
            <p:custDataLst>
              <p:tags r:id="rId4"/>
            </p:custDataLst>
          </p:nvPr>
        </p:nvSpPr>
        <p:spPr>
          <a:xfrm>
            <a:off x="742293" y="1919092"/>
            <a:ext cx="3363310" cy="8114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视频上传界面</a:t>
            </a:r>
            <a:endParaRPr lang="zh-CN" altLang="en-US" sz="2200" b="1" i="0" u="none" strike="noStrike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7"/>
          <p:cNvSpPr/>
          <p:nvPr>
            <p:custDataLst>
              <p:tags r:id="rId5"/>
            </p:custDataLst>
          </p:nvPr>
        </p:nvSpPr>
        <p:spPr>
          <a:xfrm>
            <a:off x="742293" y="2710007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一键式视频上传与情绪分析入口，支持拖拽上传与指定学生绑定，可人工上传或者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自动上传</a:t>
            </a:r>
            <a:endParaRPr lang="zh-CN" altLang="en-US" sz="16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8"/>
          <p:cNvCxnSpPr>
            <a:endCxn id="10" idx="2"/>
          </p:cNvCxnSpPr>
          <p:nvPr>
            <p:custDataLst>
              <p:tags r:id="rId6"/>
            </p:custDataLst>
          </p:nvPr>
        </p:nvCxnSpPr>
        <p:spPr>
          <a:xfrm flipV="1">
            <a:off x="952500" y="1340427"/>
            <a:ext cx="5143500" cy="272357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9"/>
          <p:cNvSpPr/>
          <p:nvPr>
            <p:custDataLst>
              <p:tags r:id="rId7"/>
            </p:custDataLst>
          </p:nvPr>
        </p:nvSpPr>
        <p:spPr>
          <a:xfrm>
            <a:off x="742293" y="4135921"/>
            <a:ext cx="3363310" cy="19473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支持多学生身份切换，适配班级批量分析场景</a:t>
            </a:r>
            <a:endParaRPr lang="zh-CN" altLang="en-US" sz="1300" dirty="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拖拽式上传设计，降低非技术用户的使用门槛</a:t>
            </a:r>
            <a:endParaRPr lang="zh-CN" altLang="en-US" sz="1300" dirty="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上传即分析，无需复杂配置，满足校园轻量化部署需求</a:t>
            </a:r>
            <a:endParaRPr lang="zh-CN" altLang="en-US" sz="1300" dirty="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965" y="2084885"/>
            <a:ext cx="7523672" cy="3432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2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>
            <p:custDataLst>
              <p:tags r:id="rId3"/>
            </p:custDataLst>
          </p:nvPr>
        </p:nvSpPr>
        <p:spPr>
          <a:xfrm>
            <a:off x="52507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>
            <p:custDataLst>
              <p:tags r:id="rId4"/>
            </p:custDataLst>
          </p:nvPr>
        </p:nvSpPr>
        <p:spPr>
          <a:xfrm>
            <a:off x="74229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仪表盘界面</a:t>
            </a:r>
            <a:endParaRPr lang="zh-CN" altLang="en-US" sz="2200" b="1" i="0" u="none" strike="noStrike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>
            <p:custDataLst>
              <p:tags r:id="rId5"/>
            </p:custDataLst>
          </p:nvPr>
        </p:nvSpPr>
        <p:spPr>
          <a:xfrm>
            <a:off x="742293" y="2716357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多维度心理状态可视化看板，实时展示学生情绪趋势、预警分布与历史记录。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6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9"/>
          <p:cNvSpPr/>
          <p:nvPr>
            <p:custDataLst>
              <p:tags r:id="rId7"/>
            </p:custDataLst>
          </p:nvPr>
        </p:nvSpPr>
        <p:spPr>
          <a:xfrm>
            <a:off x="742293" y="4144885"/>
            <a:ext cx="3363310" cy="19473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情绪趋势图直观呈现学生 7 日心理波动，快速识别高危信号</a:t>
            </a:r>
            <a:endParaRPr lang="zh-CN" altLang="en-US" sz="130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预警分布圆环图清晰划分不同风险等级，辅助分级干预决策</a:t>
            </a:r>
            <a:endParaRPr lang="zh-CN" altLang="en-US" sz="130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情绪记录表格可追溯历史数据，支持长期心理状态跟踪</a:t>
            </a:r>
            <a:endParaRPr lang="zh-CN" altLang="en-US" sz="130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3730" y="2645099"/>
            <a:ext cx="7745337" cy="3726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pic>
        <p:nvPicPr>
          <p:cNvPr id="8" name="图片 7" descr="c198f2659411da72ac33c72cfb2749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" y="1340427"/>
            <a:ext cx="8518822" cy="4274185"/>
          </a:xfrm>
          <a:prstGeom prst="rect">
            <a:avLst/>
          </a:prstGeom>
        </p:spPr>
      </p:pic>
      <p:pic>
        <p:nvPicPr>
          <p:cNvPr id="11" name="图片 10" descr="cfb90ff16791a93f0f946e20a815fb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4421529"/>
            <a:ext cx="9991725" cy="2453991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4"/>
            </p:custDataLst>
          </p:nvPr>
        </p:nvSpPr>
        <p:spPr>
          <a:xfrm>
            <a:off x="8989992" y="1558607"/>
            <a:ext cx="3011170" cy="182499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2"/>
          <p:cNvSpPr/>
          <p:nvPr>
            <p:custDataLst>
              <p:tags r:id="rId5"/>
            </p:custDataLst>
          </p:nvPr>
        </p:nvSpPr>
        <p:spPr>
          <a:xfrm>
            <a:off x="8989992" y="1558607"/>
            <a:ext cx="3011170" cy="793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3"/>
          <p:cNvSpPr/>
          <p:nvPr>
            <p:custDataLst>
              <p:tags r:id="rId6"/>
            </p:custDataLst>
          </p:nvPr>
        </p:nvSpPr>
        <p:spPr>
          <a:xfrm>
            <a:off x="9116992" y="1685607"/>
            <a:ext cx="2712720" cy="722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效果展示</a:t>
            </a:r>
            <a:br>
              <a:rPr lang="en-US" sz="1600" b="0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200" b="0" i="0" u="none" strike="noStrike" dirty="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4"/>
          <p:cNvSpPr/>
          <p:nvPr>
            <p:custDataLst>
              <p:tags r:id="rId7"/>
            </p:custDataLst>
          </p:nvPr>
        </p:nvSpPr>
        <p:spPr>
          <a:xfrm>
            <a:off x="9139217" y="2113908"/>
            <a:ext cx="2712720" cy="10250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心镜智能体实现了从 </a:t>
            </a:r>
            <a:r>
              <a:rPr lang="en-US" altLang="zh-CN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</a:t>
            </a:r>
            <a:r>
              <a:rPr lang="zh-CN" altLang="en-US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运行全流程到情绪数据全链路的透明化、可追溯闭环。</a:t>
            </a:r>
            <a:endParaRPr lang="zh-CN" altLang="en-US" sz="1200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2"/>
            </p:custDataLst>
          </p:nvPr>
        </p:nvSpPr>
        <p:spPr>
          <a:xfrm>
            <a:off x="0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>
            <p:custDataLst>
              <p:tags r:id="rId3"/>
            </p:custDataLst>
          </p:nvPr>
        </p:nvSpPr>
        <p:spPr>
          <a:xfrm>
            <a:off x="7766151" y="1978184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>
            <p:custDataLst>
              <p:tags r:id="rId4"/>
            </p:custDataLst>
          </p:nvPr>
        </p:nvSpPr>
        <p:spPr>
          <a:xfrm>
            <a:off x="7766151" y="2208306"/>
            <a:ext cx="3790849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平台基础能力与媒体上传接口</a:t>
            </a:r>
            <a:endParaRPr lang="zh-CN" altLang="en-US" sz="2200" b="1" i="0" u="none" strike="noStrike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>
            <p:custDataLst>
              <p:tags r:id="rId5"/>
            </p:custDataLst>
          </p:nvPr>
        </p:nvSpPr>
        <p:spPr>
          <a:xfrm>
            <a:off x="7894488" y="2437680"/>
            <a:ext cx="3363310" cy="28012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项目基于沐曦 </a:t>
            </a:r>
            <a:r>
              <a:rPr lang="en-US" altLang="zh-CN" sz="16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MetaX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算力底座打造，聚焦青少年心理健康智能监测场景，通过图片、视频上传接口采集课堂视觉数据，为后端人脸情绪识别、心理状态感知提供原始输入。</a:t>
            </a:r>
            <a:endParaRPr lang="zh-CN" altLang="en-US" sz="16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6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06" y="2582065"/>
            <a:ext cx="7427102" cy="4027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2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>
            <p:custDataLst>
              <p:tags r:id="rId3"/>
            </p:custDataLst>
          </p:nvPr>
        </p:nvSpPr>
        <p:spPr>
          <a:xfrm>
            <a:off x="52507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>
            <p:custDataLst>
              <p:tags r:id="rId4"/>
            </p:custDataLst>
          </p:nvPr>
        </p:nvSpPr>
        <p:spPr>
          <a:xfrm>
            <a:off x="74229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数据查询、流式推送与风险预警接口</a:t>
            </a:r>
            <a:endParaRPr lang="zh-CN" altLang="en-US" sz="2200" b="1" i="0" u="none" strike="noStrike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>
            <p:custDataLst>
              <p:tags r:id="rId5"/>
            </p:custDataLst>
          </p:nvPr>
        </p:nvSpPr>
        <p:spPr>
          <a:xfrm>
            <a:off x="731346" y="3434070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涵盖系统数据查询、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流式输出、学生档案管理、情绪时序数据调取及风险预警处置全套接口，依靠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长连接实现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内容实时流式返回，依托仪表盘聚合全校心理统计数据，完成学生情绪追踪、异常预警下发与告警处置闭环，支撑管理端可视化监管。</a:t>
            </a:r>
            <a:endParaRPr lang="zh-CN" altLang="en-US" sz="16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6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8634" y="2159000"/>
            <a:ext cx="7611605" cy="37573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2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5"/>
          <p:cNvSpPr/>
          <p:nvPr>
            <p:custDataLst>
              <p:tags r:id="rId3"/>
            </p:custDataLst>
          </p:nvPr>
        </p:nvSpPr>
        <p:spPr>
          <a:xfrm>
            <a:off x="786059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6"/>
          <p:cNvSpPr/>
          <p:nvPr>
            <p:custDataLst>
              <p:tags r:id="rId4"/>
            </p:custDataLst>
          </p:nvPr>
        </p:nvSpPr>
        <p:spPr>
          <a:xfrm>
            <a:off x="807781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</a:t>
            </a: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内容生成与多智能体调度核心接口</a:t>
            </a:r>
            <a:endParaRPr lang="zh-CN" altLang="en-US" sz="2200" b="1" i="0" u="none" strike="noStrike" dirty="0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>
            <p:custDataLst>
              <p:tags r:id="rId5"/>
            </p:custDataLst>
          </p:nvPr>
        </p:nvSpPr>
        <p:spPr>
          <a:xfrm>
            <a:off x="8074360" y="3505439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平台核心业务接口，一方面通过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接口自动生成心理评估报告、干预方案、家校沟通函等专业文书，另一方面依托多智能体调度接口手动触发情绪采集与心理分析任务，同时可查询智能体运行状态与国产算力平台适配信息，完整驱动感知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生成全业务链路。</a:t>
            </a:r>
            <a:endParaRPr lang="zh-CN" altLang="en-US" sz="16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6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13" y="2734234"/>
            <a:ext cx="7366000" cy="37197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4000"/>
            </a:srgbClr>
          </a:solidFill>
          <a:ln cap="flat" cmpd="sng">
            <a:solidFill>
              <a:srgbClr val="0046E6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4000"/>
            </a:srgbClr>
          </a:solidFill>
          <a:ln cap="flat" cmpd="sng">
            <a:solidFill>
              <a:srgbClr val="0046E6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运行效果：性能与可靠性双验证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核心性能指标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&lt;1.5秒 · 高频无感监测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内环单次采集处理耗时极低，实现毫秒级响应，完美匹配课堂高频次、无感知的实时监测需求，数据延迟几乎不可察觉。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93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92%+ · 双模态情绪识别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融合面部微表情与生理特征算法，有效抵抗刻意伪装与复杂光照干扰，识别精度较单模态方案显著提升，结果真实可靠。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70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全并发 · 班级级同步分析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支持单教室45人及以上规模的全量学生数据同步采集与并行分析，无需分批轮询，完整还原课堂全员的实时专注状态。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可靠性与安全保障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47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73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603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56项 · 单元测试全量通过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覆盖算法引擎、数据传输、异常处理等核心模块，通过56项严苛单元测试与压力测试，系统稳定性与功能完整性全方位达标。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81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06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93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本地化 · 断网隐私双重保障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支持断网状态下的本地降级运行，所有敏感生物特征均在终端侧加密存储与处理，人脸原始图像绝不回传云端，杜绝隐私泄露风险。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5397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5270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智能兜底 · 业务持续可用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当大模型服务异常时，系统自动无感切换至轻量模板分析模式，核心的课堂监测与风险预警功能持续运行，业务不中断。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9639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636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项目创新价值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5999"/>
            <a:ext cx="3556000" cy="3809999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技术创新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1016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首创微表情与前庭振动双模态融合方案，精准突破情绪伪装识别技术瓶颈；创新双环驱动多智能体架构，平衡实时响应与深度分析需求；实现全链路国产化适配，确保算力供给与模型算法的自主可控。</a:t>
            </a:r>
            <a:endParaRPr lang="en-US" sz="1800" dirty="0"/>
          </a:p>
        </p:txBody>
      </p:sp>
      <p:sp>
        <p:nvSpPr>
          <p:cNvPr id="10" name="AutoShape 10"/>
          <p:cNvSpPr/>
          <p:nvPr/>
        </p:nvSpPr>
        <p:spPr>
          <a:xfrm>
            <a:off x="4318000" y="2286000"/>
            <a:ext cx="3556000" cy="3809998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60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模式创新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构建“无感采集-智能分析-分级预警-协同干预-反馈进化”的全链路闭环体系，实现从被动响应到主动预防的升级；引入人机协同机制，将教师的实际反馈反哺模型迭代，让系统具备持续进化能力，越用越精准。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7874000" y="2286000"/>
            <a:ext cx="3556000" cy="3809998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2603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开源价值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28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28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采用Apache</a:t>
            </a: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2.0商业友好开源协议，配套完整的技术文档与测试验证体系，大幅降低二次开发与部署门槛；采用高内聚低耦合的模块化设计，感知引擎、AIGC分析模块可独立复用，快速赋能心理筛查、情绪疏导等多元场景。</a:t>
            </a:r>
            <a:endParaRPr lang="en-US" sz="18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0837"/>
            <a:ext cx="12192000" cy="11290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落地进展与应用场景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当前阶段成果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384">
            <a:off x="762008" y="2660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92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11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048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全栈开发与验证闭环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完成核心架构搭建与全功能开发，通过全量测试验证，系统稳定性与功能完整性达标，具备部署条件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31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254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心理特征数据映射构建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完成前庭振动特征与12项核心心理参数的精准映射，建立标准化的基础训练数据集，夯实算法模型底座。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52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461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真实场景试点筹备启动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完成中小学场景对接，推进真实课堂环境的试点部署，为规模化应用积累实地经验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203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核心应用场景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384">
            <a:off x="6350008" y="2660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2921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111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智慧教室监测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3556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覆盖全校学生，实现日常化、无感化的心理状态动态采集与持续追踪，不留监测盲区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2" name="AutoShape 22"/>
          <p:cNvSpPr/>
          <p:nvPr/>
        </p:nvSpPr>
        <p:spPr>
          <a:xfrm>
            <a:off x="9017000" y="2921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0" y="3111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88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分级预警协同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3556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建立多层级预警机制，联动家校与心理教师，缩短干预响应时间，提升危机处置效率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6" name="AutoShape 26"/>
          <p:cNvSpPr/>
          <p:nvPr/>
        </p:nvSpPr>
        <p:spPr>
          <a:xfrm>
            <a:off x="6350000" y="4762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953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21500" y="4953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教师智能助手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5397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自动生成学生心理评估报告与干预方案，减轻人工统计与分析负担，释放专业服务精力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30" name="AutoShape 30"/>
          <p:cNvSpPr/>
          <p:nvPr/>
        </p:nvSpPr>
        <p:spPr>
          <a:xfrm>
            <a:off x="9017000" y="4762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7500" y="4953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88500" y="4953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科研数据基座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07500" y="5397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提供脱敏后的时序心理数据，为心理学、教育学及脑科学的学术研究与成果转化提供支撑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-10837"/>
            <a:ext cx="12192000" cy="10274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团队协作：全栈互补，场景深耕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28067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032000"/>
            <a:ext cx="3175000" cy="267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王建豪</a:t>
            </a:r>
            <a:r>
              <a:rPr lang="en-US" sz="2000" b="0" i="0" u="none" strike="noStrike" dirty="0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</a:t>
            </a:r>
            <a:r>
              <a:rPr lang="en-US" sz="2000" b="0" i="0" u="none" strike="noStrike" dirty="0" err="1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2000" dirty="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2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统筹整体架构设计与开源社区运营，把控项目全周期规划与资源协调，确保研发方向与落地目标一致</a:t>
            </a: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81500" y="1905000"/>
            <a:ext cx="3429000" cy="28067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08500" y="2032000"/>
            <a:ext cx="3175000" cy="267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吴锴嘉</a:t>
            </a:r>
            <a:r>
              <a:rPr lang="en-US" sz="2000" b="0" i="0" u="none" strike="noStrike" dirty="0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</a:t>
            </a:r>
            <a:r>
              <a:rPr lang="en-US" sz="2000" b="0" i="0" u="none" strike="noStrike" dirty="0" err="1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算法负责人</a:t>
            </a:r>
            <a:endParaRPr lang="en-US" sz="2000" dirty="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2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主导多模态数据融合与智能体核心算法研发，攻克教育场景下的个性化推荐与认知决策模型技术难题</a:t>
            </a: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01000" y="1905000"/>
            <a:ext cx="3429000" cy="28067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0" y="2032000"/>
            <a:ext cx="3175000" cy="267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何柏翰</a:t>
            </a:r>
            <a:r>
              <a:rPr lang="en-US" sz="2000" b="0" i="0" u="none" strike="noStrike" dirty="0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</a:t>
            </a:r>
            <a:r>
              <a:rPr lang="en-US" sz="2000" b="0" i="0" u="none" strike="noStrike" dirty="0" err="1">
                <a:solidFill>
                  <a:srgbClr val="525C6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工程负责人</a:t>
            </a:r>
            <a:endParaRPr lang="en-US" sz="2000" dirty="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20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负责前后端系统开发、微服务架构搭建与自动化部署，保障平台的高可用性、可扩展性与工程化落地</a:t>
            </a: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5270500" cy="124042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5486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5461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学术领航：高校专家指导</a:t>
            </a:r>
            <a:endParaRPr lang="en-US" sz="1600" dirty="0"/>
          </a:p>
          <a:p>
            <a:pPr marL="0"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由刘寿强副教授指导，为项目提供深厚的学术理论支持与教育场景专业洞察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59500" y="5334000"/>
            <a:ext cx="5270500" cy="124042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5486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31000" y="5461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协同增效：技术与场景共振</a:t>
            </a:r>
            <a:endParaRPr lang="en-US" sz="1600" dirty="0"/>
          </a:p>
          <a:p>
            <a:pPr marL="0" indent="0" algn="l">
              <a:lnSpc>
                <a:spcPct val="108000"/>
              </a:lnSpc>
              <a:spcBef>
                <a:spcPts val="400"/>
              </a:spcBef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团队覆盖算法、工程、数据、产品全栈能力，实现技术研发与教育场景的深度耦合，打造产学研用一体化的创新闭环与持续迭代能力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9004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128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41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494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技术迭代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2026.06 - 2026.08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5211">
            <a:off x="10160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优化双模态融合模型，攻克边缘端轻量化部署难题，大幅提升智能体的响应速度与工具调用能力，夯实底层技术基座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942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942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641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816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试点落地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2026.09 - 2026.12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46482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482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在1-2所中小学完成真实场景部署，采集全流程运行数据，基于师生反馈快速迭代产品功能，确保服务贴合校园实际需求。</a:t>
            </a:r>
            <a:endParaRPr lang="en-US" sz="1600" dirty="0"/>
          </a:p>
        </p:txBody>
      </p:sp>
      <p:sp>
        <p:nvSpPr>
          <p:cNvPr id="19" name="AutoShape 19"/>
          <p:cNvSpPr/>
          <p:nvPr/>
        </p:nvSpPr>
        <p:spPr>
          <a:xfrm>
            <a:off x="80264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264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641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138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生态建设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2027年起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5211">
            <a:off x="82804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804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完善开源社区文档与适配方案，吸引开发者共建共享，构建开放、可持续的校园心理健康开源生态，推动行业标准化发展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26" name="AutoShape 26"/>
          <p:cNvSpPr/>
          <p:nvPr/>
        </p:nvSpPr>
        <p:spPr>
          <a:xfrm>
            <a:off x="762000" y="5651500"/>
            <a:ext cx="10642600" cy="6858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5765800"/>
            <a:ext cx="1038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规划愿景：</a:t>
            </a:r>
            <a:r>
              <a:rPr lang="en-US" sz="18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以技术创新为引擎，以真实场景为检验，最终形成开放共赢的产业生态，让智能化的心理健康服务惠及更多青少年</a:t>
            </a:r>
            <a:r>
              <a:rPr lang="en-US" sz="18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0782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158999"/>
            <a:ext cx="12192000" cy="2089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多谢指导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" name="Connector 5"/>
          <p:cNvCxnSpPr/>
          <p:nvPr/>
        </p:nvCxnSpPr>
        <p:spPr>
          <a:xfrm rot="-5729">
            <a:off x="2286005" y="50736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0" y="53594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项目开源地址：</a:t>
            </a:r>
            <a:r>
              <a:rPr lang="en-US" altLang="zh-CN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https://www.gitlink.org.cn/w55224545/Xinjing-AIGC-Agent-Platform</a:t>
            </a:r>
            <a:endParaRPr lang="en-US" altLang="zh-CN" sz="2000" b="0" i="0" u="none" strike="noStrike" dirty="0" err="1">
              <a:solidFill>
                <a:schemeClr val="tx1">
                  <a:lumMod val="95000"/>
                  <a:lumOff val="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3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4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5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6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7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8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9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0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1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2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3.xml><?xml version="1.0" encoding="utf-8"?>
<p:tagLst xmlns:p="http://schemas.openxmlformats.org/presentationml/2006/main">
  <p:tag name="KSO_WM_DIAGRAM_VIRTUALLY_FRAME" val="{&quot;height&quot;:185,&quot;left&quot;:60,&quot;top&quot;:280,&quot;width&quot;:835}"/>
</p:tagLst>
</file>

<file path=ppt/tags/tag14.xml><?xml version="1.0" encoding="utf-8"?>
<p:tagLst xmlns:p="http://schemas.openxmlformats.org/presentationml/2006/main">
  <p:tag name="KSO_WM_DIAGRAM_VIRTUALLY_FRAME" val="{&quot;height&quot;:185,&quot;left&quot;:60,&quot;top&quot;:280,&quot;width&quot;:835}"/>
</p:tagLst>
</file>

<file path=ppt/tags/tag15.xml><?xml version="1.0" encoding="utf-8"?>
<p:tagLst xmlns:p="http://schemas.openxmlformats.org/presentationml/2006/main">
  <p:tag name="KSO_WM_DIAGRAM_VIRTUALLY_FRAME" val="{&quot;height&quot;:185,&quot;left&quot;:60,&quot;top&quot;:280,&quot;width&quot;:835}"/>
</p:tagLst>
</file>

<file path=ppt/tags/tag16.xml><?xml version="1.0" encoding="utf-8"?>
<p:tagLst xmlns:p="http://schemas.openxmlformats.org/presentationml/2006/main">
  <p:tag name="KSO_WM_DIAGRAM_VIRTUALLY_FRAME" val="{&quot;height&quot;:185,&quot;left&quot;:60,&quot;top&quot;:280,&quot;width&quot;:835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19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0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1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2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3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4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5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6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7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8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29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30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ags/tag31.xml><?xml version="1.0" encoding="utf-8"?>
<p:tagLst xmlns:p="http://schemas.openxmlformats.org/presentationml/2006/main">
  <p:tag name="KSO_WM_DIAGRAM_VIRTUALLY_FRAME" val="{&quot;height&quot;:340,&quot;left&quot;:60,&quot;top&quot;:130,&quot;width&quot;:855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6394</Words>
  <Application>WPS 演示</Application>
  <PresentationFormat>宽屏</PresentationFormat>
  <Paragraphs>390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Build</dc:creator>
  <cp:lastModifiedBy>三天打鱼两天晒王同学</cp:lastModifiedBy>
  <cp:revision>14</cp:revision>
  <dcterms:created xsi:type="dcterms:W3CDTF">2026-07-24T12:49:56Z</dcterms:created>
  <dcterms:modified xsi:type="dcterms:W3CDTF">2026-07-24T12:50:09Z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{"Label":"1","ContentProducer":"001191110102MACQD9K64010000","ProduceID":"7666025201897311483","ReservedCode1":"","ContentPropagator":"","PropagateID":"","ReservedCode2":""}</vt:lpwstr>
  </property>
  <property fmtid="{D5CDD505-2E9C-101B-9397-08002B2CF9AE}" pid="3" name="ICV">
    <vt:lpwstr>81127CE0411F49E8A1A40317533E2DE0_12</vt:lpwstr>
  </property>
  <property fmtid="{D5CDD505-2E9C-101B-9397-08002B2CF9AE}" pid="4" name="KSOProductBuildVer">
    <vt:lpwstr>2052-12.1.0.26895</vt:lpwstr>
  </property>
</Properties>
</file>