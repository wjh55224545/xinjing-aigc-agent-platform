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4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5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4" r:id="rId13"/>
    <p:sldId id="285" r:id="rId14"/>
    <p:sldId id="286" r:id="rId15"/>
    <p:sldId id="287" r:id="rId16"/>
    <p:sldId id="288" r:id="rId17"/>
    <p:sldId id="289" r:id="rId18"/>
    <p:sldId id="266" r:id="rId19"/>
    <p:sldId id="267" r:id="rId20"/>
    <p:sldId id="268" r:id="rId21"/>
    <p:sldId id="290" r:id="rId22"/>
    <p:sldId id="270" r:id="rId23"/>
    <p:sldId id="27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208" y="-1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A42B9-78F1-1260-0F63-D20CFB5E4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7645BC-414B-E6C9-9E60-DB8B6BEDCC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0C912-CD60-3D60-8A24-6F776182042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55DAEA8-FB3B-5689-DAFD-16C4EE248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AF1924D-F608-C337-599A-0CAFA366F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444C3-50F7-E369-A8F9-735F8ED306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01E385-DE6A-EAC7-6F32-291B6A66D1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2894129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9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7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2.png"/><Relationship Id="rId5" Type="http://schemas.openxmlformats.org/officeDocument/2006/relationships/image" Target="../media/image14.svg"/><Relationship Id="rId10" Type="http://schemas.openxmlformats.org/officeDocument/2006/relationships/image" Target="../media/image10.svg"/><Relationship Id="rId4" Type="http://schemas.openxmlformats.org/officeDocument/2006/relationships/image" Target="../media/image8.sv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7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8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9.sv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3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10" Type="http://schemas.openxmlformats.org/officeDocument/2006/relationships/image" Target="../media/image2.png"/><Relationship Id="rId4" Type="http://schemas.openxmlformats.org/officeDocument/2006/relationships/image" Target="../media/image24.svg"/><Relationship Id="rId9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28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9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10" Type="http://schemas.openxmlformats.org/officeDocument/2006/relationships/image" Target="../media/image29.png"/><Relationship Id="rId4" Type="http://schemas.openxmlformats.org/officeDocument/2006/relationships/tags" Target="../tags/tag10.xml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15.xml"/><Relationship Id="rId7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6.xml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9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4.xml"/><Relationship Id="rId7" Type="http://schemas.openxmlformats.org/officeDocument/2006/relationships/notesSlide" Target="../notesSlides/notesSlide15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9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9.xml"/><Relationship Id="rId7" Type="http://schemas.openxmlformats.org/officeDocument/2006/relationships/notesSlide" Target="../notesSlides/notesSlide16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5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svg"/><Relationship Id="rId4" Type="http://schemas.openxmlformats.org/officeDocument/2006/relationships/image" Target="../media/image36.svg"/><Relationship Id="rId9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21.svg"/><Relationship Id="rId4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8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10" Type="http://schemas.openxmlformats.org/officeDocument/2006/relationships/image" Target="../media/image2.png"/><Relationship Id="rId4" Type="http://schemas.openxmlformats.org/officeDocument/2006/relationships/image" Target="../media/image12.svg"/><Relationship Id="rId9" Type="http://schemas.openxmlformats.org/officeDocument/2006/relationships/image" Target="../media/image1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4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-1524000"/>
            <a:ext cx="4064000" cy="4064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572000"/>
            <a:ext cx="3556000" cy="3556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905000" y="1524000"/>
            <a:ext cx="508000" cy="508000"/>
          </a:xfrm>
          <a:prstGeom prst="ellipse">
            <a:avLst/>
          </a:prstGeom>
          <a:solidFill>
            <a:srgbClr val="165DFF">
              <a:alpha val="8000"/>
            </a:srgbClr>
          </a:solidFill>
          <a:ln cap="flat" cmpd="sng">
            <a:solidFill>
              <a:srgbClr val="0046E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414000" y="4445000"/>
            <a:ext cx="304800" cy="304800"/>
          </a:xfrm>
          <a:prstGeom prst="ellipse">
            <a:avLst/>
          </a:prstGeom>
          <a:solidFill>
            <a:srgbClr val="165DFF">
              <a:alpha val="8000"/>
            </a:srgbClr>
          </a:solidFill>
          <a:ln cap="flat" cmpd="sng">
            <a:solidFill>
              <a:srgbClr val="0046E6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-1778000" y="34925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心镜·AIGC智能体平台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207000" y="3683000"/>
            <a:ext cx="1778000" cy="50800"/>
          </a:xfrm>
          <a:prstGeom prst="roundRect">
            <a:avLst>
              <a:gd name="adj" fmla="val 0"/>
            </a:avLst>
          </a:prstGeom>
          <a:solidFill>
            <a:srgbClr val="165D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-889000" y="45085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altLang="zh-CN" sz="2400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</a:t>
            </a:r>
            <a:r>
              <a:rPr lang="en-US" sz="2400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基于国产算力的校园心理健康多智能体系统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788400" y="5391727"/>
            <a:ext cx="3556000" cy="9969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br>
              <a:rPr lang="en-US" sz="20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码到成功队</a:t>
            </a:r>
            <a:endParaRPr lang="en-US" sz="2000" b="0" i="0" u="none" strike="noStrike" dirty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17000"/>
              </a:lnSpc>
              <a:defRPr/>
            </a:pPr>
            <a:r>
              <a:rPr lang="en-US" sz="2000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2026.8.14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11125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汇报目录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222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18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项目背景与设计思路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2667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剖析项目建设的背景与初衷，解读整体设计理念与愿景目标，明确系统建设的核心方向与原则。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492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37465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3644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核心技术与架构设计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41275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深入解析技术栈选型逻辑，拆解高可用、高扩展的系统架构模型，展示分层解耦的设计细节。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52070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143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5105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代码实现与工程化建设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905000" y="5588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详述核心功能模块的代码实现逻辑，分享工程化规范、CI/CD自动化流程与代码质量保障体系。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032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22860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731000" y="2222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0" y="218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系统运行与效果演示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0" y="2667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实时展示系统核心功能运行实况，通过可视化数据看板呈现关键业务指标，验证系统稳定性与性能。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34925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77000" y="37465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731000" y="3683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0" y="36449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创新价值与落地进展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620000" y="41275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挖掘技术与业务的双重创新点，复盘项目落地过程中的关键里程碑节点与阶段性成果数据。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477000" y="4953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477000" y="5207000"/>
            <a:ext cx="508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731000" y="5143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20000" y="5105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团队协作与未来规划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0" y="5588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回顾高效的团队协作模式与沟通机制，展望未来功能迭代方向、技术演进路线与业务拓展规划。</a:t>
            </a:r>
            <a:endParaRPr lang="en-US" sz="1100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537"/>
            <a:ext cx="12192000" cy="11030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1176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传统校园心理监测的四大困境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606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模式滞后：被动式监测效率低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68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依赖人工量表与主观观察，风险发现严重滞后，无法覆盖全体学生，难以实现常态化、动态化的全群体心理风险追踪。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032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2606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2260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精度不足：单模态易受干扰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768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单一问卷或行为识别易受情绪伪装、环境光线及临时状态干扰，评估维度片面，导致结果稳定性差，难以作为研判的可靠依据。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1656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16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落地困难：成本高且隐私敏感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673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专用采集硬件采购维护成本高昂，规模化部署门槛高；学生心理数据属于隐私敏感信息，传统存储方式存在较大的信息泄露风险。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9370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1656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416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链路断裂：预警与干预脱节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673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预警后缺乏标准化的干预跟进机制，加之专业心理师资缺口大，难以快速响应并为大规模风险学生提供持续的有效帮扶。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842000"/>
            <a:ext cx="10731500" cy="698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89000" y="5918200"/>
            <a:ext cx="1047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设计目标：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打造零硬件改造、无感化采集、全链路智能的开源AIGC平台，实现校园心理监测从“被动响应”到“主动预防”的升级，构建低成本、高覆盖的校园心理健康防护网。</a:t>
            </a:r>
            <a:endParaRPr lang="en-US" sz="11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36237"/>
            <a:ext cx="12192000" cy="10655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033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作品设计思路：全链路智能化闭环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930400"/>
            <a:ext cx="1022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核心定位：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打造教室里的</a:t>
            </a:r>
            <a:r>
              <a:rPr lang="en-US" sz="16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“情绪CT机”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6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sz="16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AI心理报告生成器</a:t>
            </a:r>
            <a:r>
              <a:rPr lang="en-US" sz="16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实现从数据采集到干预服务的全流程智能闭环</a:t>
            </a:r>
            <a:r>
              <a:rPr lang="en-US" sz="16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9845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采集层 · 无感隐私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兼容教室普通摄像头，实现无穿戴、无感化数据采集；原始数据本地即时销毁，从源头杜绝隐私泄露风险，安全合规。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984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9845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感知层 · 双模态融合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创新融合“微表情识别+前庭振动分析”，突破单一视觉模态的局限，有效对抗刻意情绪伪装，识别准确率提升40%以上。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2794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1500" y="298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2984500"/>
            <a:ext cx="273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决策层 · 多智驱动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91500" y="34290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基于LangGraph构建多智能体双环驱动架构，兼顾毫秒级实时监测效率与临床级深度心理分析精度，决策更科学。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699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889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4889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服务层 · 闭环干预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5334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国产大模型驱动AIGC自动生成个性化心理报告，建立“监测-预警-干预”三级联动机制，打通从发现问题到解决问题的完整服务闭环，实现心理服务的普惠化与专业化。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699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889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4889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底座生态 · 开源适配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5334000"/>
            <a:ext cx="482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全链路适配国产化算力环境，核心代码采用Apache2.0开源协议开放；采用模块化微服务架构设计，支持学校、企业根据场景需求灵活进行二次开发与功能扩展，共建心理服务新生态。</a:t>
            </a:r>
            <a:endParaRPr lang="en-US" sz="11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55000" y="-1905000"/>
            <a:ext cx="5080000" cy="5080000"/>
          </a:xfrm>
          <a:prstGeom prst="ellipse">
            <a:avLst/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三层解耦的国产化系统架构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1717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9304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前端交互层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Vue 3 + ECharts 全场景可视化交互引擎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387600"/>
            <a:ext cx="914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实时情绪仪表盘、分级预警面板与AIGC智能报告看板，支持智能体协作过程的流式可视化展示。通过低门槛交互设计让业务数据与系统状态直观可见，大幅降低用户的操作与认知成本，实现数据的动态呈现与即时响应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3238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3556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39497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37084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多智能体中枢层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FastAPI + LangGraph 分布式智能协作引擎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905000" y="4165600"/>
            <a:ext cx="914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由协调、感知、分析、报告、预警五大核心智能体组成的协作网络，基于双环工作流模型承载系统核心业务逻辑。实现智能体间的任务拆解、自主调度与协同决策，保障业务处理的高效性、灵活性与可扩展性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9000" y="50165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" y="533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7277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905000" y="54864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国产化算力基座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沐曦MetaX GPU + 灵枢Lingshu-32B 全栈自主可控底座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905000" y="5943600"/>
            <a:ext cx="914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沐曦MetaX系列GPU提供高性能算力支持，深度适配灵枢Lingshu-32B医疗专用大模型，配套DeepSeek模型实现自动容灾与智能降级。从底层算力芯片到上层大模型应用，实现全链路国产化自主可控，保障系统的安全性与稳定性。</a:t>
            </a:r>
            <a:endParaRPr lang="en-US" sz="11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8487"/>
            <a:ext cx="12192000" cy="1027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175000" cy="3175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14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核心技术：双环驱动的智能闭环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12700" cap="flat" cmpd="sng">
            <a:solidFill>
              <a:srgbClr val="165D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159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内环 · 实时感知环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41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每15分钟高频触发，毫秒级捕捉情绪微光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175000"/>
            <a:ext cx="1549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3327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37084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影像采集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高清摄像头全天候抓拍，毫秒级图像传输，覆盖无死角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590800" y="3175000"/>
            <a:ext cx="1549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7800" y="3327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717800" y="37084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双模态识别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基于视觉与微表情算法，纯确定性计算，精准度98%+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165600" y="3175000"/>
            <a:ext cx="15494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92600" y="3327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292600" y="3708400"/>
            <a:ext cx="133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特征存储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关键情绪特征值本地加密存储，低延迟无感知运行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4953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5080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</a:t>
            </a:r>
            <a:r>
              <a:rPr lang="en-US" sz="14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极致性能：单次处理耗时</a:t>
            </a:r>
            <a:r>
              <a:rPr lang="en-US" sz="14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&lt; 1.5秒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纯端侧确定性计算，无需云端依赖，确保在复杂网络环境下也能精准捕捉课堂瞬时情绪波动，为即时干预提供坚实基础</a:t>
            </a:r>
            <a:r>
              <a:rPr lang="en-US" sz="1300" b="0" i="0" u="none" strike="noStrike" dirty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1905000"/>
            <a:ext cx="5207000" cy="45720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12700" cap="flat" cmpd="sng">
            <a:solidFill>
              <a:srgbClr val="165D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21590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外环 · 深度分析环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641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每日22:00自动触发，大模型驱动的主动防御体系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175000"/>
            <a:ext cx="15494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33020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604000" y="3632200"/>
            <a:ext cx="1371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数据汇聚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清洗全场景数据，构建标准化时序数据库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051800" y="3175000"/>
            <a:ext cx="15494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8800" y="3302000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178800" y="3632200"/>
            <a:ext cx="1371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趋势建模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分析情绪变化曲线，识别长期异常与风险</a:t>
            </a:r>
          </a:p>
        </p:txBody>
      </p:sp>
      <p:sp>
        <p:nvSpPr>
          <p:cNvPr id="28" name="AutoShape 28"/>
          <p:cNvSpPr/>
          <p:nvPr/>
        </p:nvSpPr>
        <p:spPr>
          <a:xfrm>
            <a:off x="9626600" y="3175000"/>
            <a:ext cx="15494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53600" y="3302000"/>
            <a:ext cx="279400" cy="279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753600" y="3632200"/>
            <a:ext cx="1371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大模型推理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结合心理学知识，深度解读成因与关联</a:t>
            </a:r>
          </a:p>
        </p:txBody>
      </p:sp>
      <p:sp>
        <p:nvSpPr>
          <p:cNvPr id="31" name="AutoShape 31"/>
          <p:cNvSpPr/>
          <p:nvPr/>
        </p:nvSpPr>
        <p:spPr>
          <a:xfrm>
            <a:off x="6477000" y="4508500"/>
            <a:ext cx="2349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4635500"/>
            <a:ext cx="279400" cy="279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921500" y="4635500"/>
            <a:ext cx="190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 报告生成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自动生成可视化、可解释的评估结论与洞察</a:t>
            </a:r>
          </a:p>
        </p:txBody>
      </p:sp>
      <p:sp>
        <p:nvSpPr>
          <p:cNvPr id="34" name="AutoShape 34"/>
          <p:cNvSpPr/>
          <p:nvPr/>
        </p:nvSpPr>
        <p:spPr>
          <a:xfrm>
            <a:off x="8953500" y="4508500"/>
            <a:ext cx="23495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0500" y="4635500"/>
            <a:ext cx="279400" cy="279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398000" y="4635500"/>
            <a:ext cx="190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分级预警干预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智能判定风险等级，输出个性化干预建议</a:t>
            </a:r>
          </a:p>
        </p:txBody>
      </p:sp>
      <p:sp>
        <p:nvSpPr>
          <p:cNvPr id="37" name="AutoShape 37"/>
          <p:cNvSpPr/>
          <p:nvPr/>
        </p:nvSpPr>
        <p:spPr>
          <a:xfrm>
            <a:off x="6477000" y="5651500"/>
            <a:ext cx="4826000" cy="5715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604000" y="57404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核心价值：从“数据呈现”升级为“决策辅助”，实现从被动响应到主动预防的跨越。</a:t>
            </a:r>
            <a:endParaRPr lang="en-US" sz="110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12079"/>
            <a:ext cx="12192000" cy="1040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143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两大核心引擎：精准感知</a:t>
            </a:r>
            <a:r>
              <a:rPr lang="en-US" sz="32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+ </a:t>
            </a: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智能生成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双模态融合感知引擎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895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79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面部微表情时空捕捉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基于YOLOv8实现毫秒级人脸定位，结合LBP-TOP时空特征算法，精准捕捉眉、眼、嘴部细微肌肉运动，突破肉眼识别的情绪捕捉盲区。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1656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06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前庭微振动客观量化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提取头部微振动12项核心参数，基于VibraImage生物振动理论，数据完全不受主观情绪伪装干扰，构建情绪识别的客观“黄金标准”。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20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435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33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双通道融合准确率超92%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通过双模态特征交叉验证与注意力机制加权，在嘈杂、多角度等复杂教室场景下有效过滤干扰，核心情绪识别准确率稳定保持在92%以上。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2032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医疗级AIGC生成引擎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66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895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79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灵枢大模型全场景赋能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依托Lingshu-32B医疗级大模型，自动生成心理评估报告、个性化干预方案、家校沟通函及成长叙事，释放心理咨询师80%的文书精力。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1656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06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三级风险差异化智能措辞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针对低、中、高风险等级自动匹配专业表述，兼顾评估的严谨性与沟通的适配性，避免因表述不当造成的家校误解与恐慌。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5207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54356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5334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双模式容灾保障服务连续性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大模型服务异常时自动无缝降级为专业模板模式，确保评估、报告生成等核心业务不中断，保障校园心理筛查工作稳步推进。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-1"/>
            <a:ext cx="12192000" cy="8890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55455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代码实现：模块化前后端分离架构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26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基于开源仓库</a:t>
            </a:r>
            <a:r>
              <a:rPr lang="en-US" sz="1600" b="1" i="0" u="none" strike="noStrike">
                <a:solidFill>
                  <a:srgbClr val="526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Xinjing-AIGC-Agent-Platform</a:t>
            </a:r>
            <a:r>
              <a:rPr lang="en-US" sz="1600" b="0" i="0" u="none" strike="noStrike">
                <a:solidFill>
                  <a:srgbClr val="526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构建，采用高内聚、低耦合的目录设计规范，清晰划分前后端职责边界，为系统的灵活扩展与长期维护奠定坚实基础。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10668000" cy="2984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819400"/>
            <a:ext cx="152400" cy="1524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320800" y="2819400"/>
            <a:ext cx="152400" cy="1524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625600" y="2819400"/>
            <a:ext cx="152400" cy="1524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2032000" y="27686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65D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project-structure / src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302000"/>
            <a:ext cx="4953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📂 backend/ # 后端微服务核心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agents/ # 多智能体调度与协作中枢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aigc/ # 生成式AI模型推理与引擎集成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vibraimage/# 前庭振动交互与多模态感知层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 graph/ # LangGraph 状态机与复杂工作流编排</a:t>
            </a:r>
          </a:p>
        </p:txBody>
      </p:sp>
      <p:cxnSp>
        <p:nvCxnSpPr>
          <p:cNvPr id="13" name="Connector 13"/>
          <p:cNvCxnSpPr/>
          <p:nvPr/>
        </p:nvCxnSpPr>
        <p:spPr>
          <a:xfrm rot="5378514">
            <a:off x="5080000" y="437517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350000" y="3302000"/>
            <a:ext cx="4953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5D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📂 frontend/ # Vue 3 现代化交互层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└─ src/ # Vite + Pinia + TS 工程化体系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65DF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🛠️ 工程保障与交付体系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tests/ # 56+ 单元测试与集成测试用例覆盖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 deploy/ # Docker Compose 一键编排与部署配置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842000"/>
            <a:ext cx="10668000" cy="6096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89000" y="59436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架构亮点：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通过清晰的目录解耦业务逻辑与技术实现，利用容器化技术消除环境差异，完善的测试文档体系确保了系统的稳定性与可交付性。</a:t>
            </a:r>
            <a:endParaRPr lang="en-US" sz="1100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6847"/>
            <a:ext cx="12192000" cy="10147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541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核心代码能力与工程化建设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核心模块技术亮点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692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VibraImage 白盒情绪引擎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30734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基于专著公式完整实现E1-E12情绪参数与K值计算，内置10266人常模数据库，为情绪量化提供精准的底层计算支撑。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87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64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87500" y="40259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 ReAct 协同编排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87500" y="44069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基于LangGraph构建5智能体协作网络，结合双环状态机机制，通过SSE流式推送实现全流程的实时交互与智能决策。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535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统一多模型兼容适配层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87500" y="57404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抽象封装灵枢、DeepSeek等主流大模型接口，提供标准化调用方式，支持节点自动故障降级与流量负载均衡。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工程化落地与保障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254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730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75500" y="2692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全链路质量保障体系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75500" y="30734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编写56项核心单元测试用例，覆盖关键业务逻辑与异常场景，实现100%测试通过率，确保核心模块的高鲁棒性。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387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064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40259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多场景灵活部署方案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75500" y="44069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支持本地开发调试、Docker容器化部署及云平台弹性伸缩三种模式，适配不同算力环境，大幅降低项目的落地与运维门槛。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5207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5397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75500" y="5359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可视化交互开发支持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175500" y="5740400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内置中文Swagger UI交互式接口文档，支持接口在线调试、参数实时校验与响应预览，为二次开发与系统集成提供高效支持。</a:t>
            </a:r>
            <a:endParaRPr lang="en-US" sz="110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8242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98425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运行演示：全流程功能闭环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06600"/>
            <a:ext cx="438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自动双环运行机制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60500" y="2362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定时触发“内环”高频情绪采集与“外环”每日深度分析，构建周期性数据闭环，保障校园心理监测的持续性与系统性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30226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2131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187700"/>
            <a:ext cx="438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手动视频即时分析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09700" y="3543300"/>
            <a:ext cx="462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支持教室场景视频一键上传，系统毫秒级响应，实时输出面部表情与语音双模态情绪识别结果及置信度，快速核验异常场景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42037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3942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368800"/>
            <a:ext cx="438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AIGC 智能报告生成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460499" y="4724400"/>
            <a:ext cx="448888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基于监测数据一键生成班级心理日报、学生分级干预方案及家校沟通函，自动化生成文书，释放心理教师80%行政精力。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762000" y="53848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575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60500" y="5549900"/>
            <a:ext cx="438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智能体全链路协同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60500" y="5905500"/>
            <a:ext cx="438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实时可视化5个智能体“思考-行动-观察-结论”的协作过程，AI决策链路全透明，让心理评估与干预建议更具说服力。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86500" y="1841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86500" y="1841500"/>
            <a:ext cx="50800" cy="14605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0320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2032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总览仪表盘：全域态势感知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0" y="24384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整合校园情绪趋势曲线、预警事件热力分布、班级实时监测记录于一体，通过可视化看板直观呈现全校心理状态，帮助管理者快速捕捉异常趋势，实现全局把控。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34671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86500" y="3467100"/>
            <a:ext cx="50800" cy="1460500"/>
          </a:xfrm>
          <a:prstGeom prst="roundRect">
            <a:avLst>
              <a:gd name="adj" fmla="val 0"/>
            </a:avLst>
          </a:prstGeom>
          <a:solidFill>
            <a:srgbClr val="165D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3657600"/>
            <a:ext cx="457200" cy="457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12000" y="3657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三级预警面板：分级闭环响应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064094" y="4064000"/>
            <a:ext cx="4492906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基于风险等级自动触发绿（关注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）、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黄（预警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）、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红（危机）三色响应机制，系统自动派发干预工单至对应班主任与心理教师，全程追踪处置进度，确保风险事件“发现即处置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”。</a:t>
            </a:r>
            <a:endParaRPr lang="en-US" sz="1100" dirty="0"/>
          </a:p>
        </p:txBody>
      </p:sp>
      <p:sp>
        <p:nvSpPr>
          <p:cNvPr id="31" name="AutoShape 31"/>
          <p:cNvSpPr/>
          <p:nvPr/>
        </p:nvSpPr>
        <p:spPr>
          <a:xfrm>
            <a:off x="6286500" y="50927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286500" y="5092700"/>
            <a:ext cx="50800" cy="1460500"/>
          </a:xfrm>
          <a:prstGeom prst="roundRect">
            <a:avLst>
              <a:gd name="adj" fmla="val 0"/>
            </a:avLst>
          </a:prstGeom>
          <a:solidFill>
            <a:srgbClr val="165D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5283200"/>
            <a:ext cx="457200" cy="457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112000" y="52832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智能体面板：推理过程透明化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112000" y="56896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通过SSE流式技术实时展示AI智能体从数据输入、特征提取到决策输出的全链路推理逻辑，打破传统AI“黑盒”模式，让心理评估结果与干预建议的生成过程清晰可见、可信可依。</a:t>
            </a:r>
            <a:endParaRPr lang="en-US" sz="1100" dirty="0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21528"/>
            <a:ext cx="12192000" cy="9258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9" name="AutoShape 4"/>
          <p:cNvSpPr/>
          <p:nvPr>
            <p:custDataLst>
              <p:tags r:id="rId1"/>
            </p:custDataLst>
          </p:nvPr>
        </p:nvSpPr>
        <p:spPr>
          <a:xfrm>
            <a:off x="0" y="1340427"/>
            <a:ext cx="12192000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AutoShape 5"/>
          <p:cNvSpPr/>
          <p:nvPr>
            <p:custDataLst>
              <p:tags r:id="rId2"/>
            </p:custDataLst>
          </p:nvPr>
        </p:nvSpPr>
        <p:spPr>
          <a:xfrm>
            <a:off x="525072" y="1647047"/>
            <a:ext cx="3790850" cy="6491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6"/>
          <p:cNvSpPr/>
          <p:nvPr>
            <p:custDataLst>
              <p:tags r:id="rId3"/>
            </p:custDataLst>
          </p:nvPr>
        </p:nvSpPr>
        <p:spPr>
          <a:xfrm>
            <a:off x="742293" y="1919092"/>
            <a:ext cx="3363310" cy="8114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视频上传界面</a:t>
            </a:r>
          </a:p>
        </p:txBody>
      </p:sp>
      <p:sp>
        <p:nvSpPr>
          <p:cNvPr id="13" name="AutoShape 7"/>
          <p:cNvSpPr/>
          <p:nvPr>
            <p:custDataLst>
              <p:tags r:id="rId4"/>
            </p:custDataLst>
          </p:nvPr>
        </p:nvSpPr>
        <p:spPr>
          <a:xfrm>
            <a:off x="742293" y="2710007"/>
            <a:ext cx="3363310" cy="1379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一键式视频上传与情绪分析入口，支持拖拽上传与指定学生绑定，可人工上传或者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16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自动上传</a:t>
            </a:r>
            <a:endParaRPr lang="zh-CN" altLang="en-US" sz="1600" b="1" i="0" u="none" strike="noStrike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8"/>
          <p:cNvCxnSpPr>
            <a:endCxn id="10" idx="2"/>
          </p:cNvCxnSpPr>
          <p:nvPr>
            <p:custDataLst>
              <p:tags r:id="rId5"/>
            </p:custDataLst>
          </p:nvPr>
        </p:nvCxnSpPr>
        <p:spPr>
          <a:xfrm flipV="1">
            <a:off x="952500" y="1340427"/>
            <a:ext cx="5143500" cy="272357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9"/>
          <p:cNvSpPr/>
          <p:nvPr>
            <p:custDataLst>
              <p:tags r:id="rId6"/>
            </p:custDataLst>
          </p:nvPr>
        </p:nvSpPr>
        <p:spPr>
          <a:xfrm>
            <a:off x="742293" y="4135921"/>
            <a:ext cx="3363310" cy="19473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支持多学生身份切换，适配班级批量分析场景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拖拽式上传设计，降低非技术用户的使用门槛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 dirty="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上传即分析，无需复杂配置，满足校园轻量化部署需求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6965" y="2084885"/>
            <a:ext cx="7523672" cy="34326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1"/>
            </p:custDataLst>
          </p:nvPr>
        </p:nvSpPr>
        <p:spPr>
          <a:xfrm>
            <a:off x="-1" y="1340427"/>
            <a:ext cx="12191999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5"/>
          <p:cNvSpPr/>
          <p:nvPr>
            <p:custDataLst>
              <p:tags r:id="rId2"/>
            </p:custDataLst>
          </p:nvPr>
        </p:nvSpPr>
        <p:spPr>
          <a:xfrm>
            <a:off x="525071" y="1647345"/>
            <a:ext cx="3790849" cy="64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6"/>
          <p:cNvSpPr/>
          <p:nvPr>
            <p:custDataLst>
              <p:tags r:id="rId3"/>
            </p:custDataLst>
          </p:nvPr>
        </p:nvSpPr>
        <p:spPr>
          <a:xfrm>
            <a:off x="742293" y="1922827"/>
            <a:ext cx="3363310" cy="811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仪表盘界面</a:t>
            </a:r>
          </a:p>
        </p:txBody>
      </p:sp>
      <p:sp>
        <p:nvSpPr>
          <p:cNvPr id="11" name="AutoShape 7"/>
          <p:cNvSpPr/>
          <p:nvPr>
            <p:custDataLst>
              <p:tags r:id="rId4"/>
            </p:custDataLst>
          </p:nvPr>
        </p:nvSpPr>
        <p:spPr>
          <a:xfrm>
            <a:off x="742293" y="2716357"/>
            <a:ext cx="3363310" cy="1379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多维度心理状态可视化看板，实时展示学生情绪趋势、预警分布与历史记录。</a:t>
            </a:r>
          </a:p>
        </p:txBody>
      </p:sp>
      <p:cxnSp>
        <p:nvCxnSpPr>
          <p:cNvPr id="12" name="Connector 8"/>
          <p:cNvCxnSpPr>
            <a:endCxn id="10" idx="2"/>
          </p:cNvCxnSpPr>
          <p:nvPr>
            <p:custDataLst>
              <p:tags r:id="rId5"/>
            </p:custDataLst>
          </p:nvPr>
        </p:nvCxnSpPr>
        <p:spPr>
          <a:xfrm flipV="1">
            <a:off x="742359" y="1340427"/>
            <a:ext cx="5353641" cy="273977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9"/>
          <p:cNvSpPr/>
          <p:nvPr>
            <p:custDataLst>
              <p:tags r:id="rId6"/>
            </p:custDataLst>
          </p:nvPr>
        </p:nvSpPr>
        <p:spPr>
          <a:xfrm>
            <a:off x="742293" y="4144885"/>
            <a:ext cx="3363310" cy="194737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情绪趋势图直观呈现学生 7 日心理波动，快速识别高危信号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预警分布圆环图清晰划分不同风险等级，辅助分级干预决策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300">
                <a:solidFill>
                  <a:schemeClr val="bg1">
                    <a:lumMod val="85000"/>
                  </a:schemeClr>
                </a:solidFill>
                <a:latin typeface="Noto Sans SC" panose="020B0200000000000000" charset="-122"/>
                <a:ea typeface="Noto Sans SC" panose="020B0200000000000000" charset="-122"/>
              </a:rPr>
              <a:t>情绪记录表格可追溯历史数据，支持长期心理状态跟踪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3730" y="2645099"/>
            <a:ext cx="7745337" cy="37268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pic>
        <p:nvPicPr>
          <p:cNvPr id="8" name="图片 7" descr="c198f2659411da72ac33c72cfb27497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1430" y="1340427"/>
            <a:ext cx="8518822" cy="4274185"/>
          </a:xfrm>
          <a:prstGeom prst="rect">
            <a:avLst/>
          </a:prstGeom>
        </p:spPr>
      </p:pic>
      <p:pic>
        <p:nvPicPr>
          <p:cNvPr id="11" name="图片 10" descr="cfb90ff16791a93f0f946e20a815fba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0275" y="4421529"/>
            <a:ext cx="9991725" cy="2453991"/>
          </a:xfrm>
          <a:prstGeom prst="rect">
            <a:avLst/>
          </a:prstGeom>
        </p:spPr>
      </p:pic>
      <p:sp>
        <p:nvSpPr>
          <p:cNvPr id="13" name="AutoShape 11"/>
          <p:cNvSpPr/>
          <p:nvPr>
            <p:custDataLst>
              <p:tags r:id="rId1"/>
            </p:custDataLst>
          </p:nvPr>
        </p:nvSpPr>
        <p:spPr>
          <a:xfrm>
            <a:off x="8989992" y="1558607"/>
            <a:ext cx="3011170" cy="1824990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2"/>
          <p:cNvSpPr/>
          <p:nvPr>
            <p:custDataLst>
              <p:tags r:id="rId2"/>
            </p:custDataLst>
          </p:nvPr>
        </p:nvSpPr>
        <p:spPr>
          <a:xfrm>
            <a:off x="8989992" y="1558607"/>
            <a:ext cx="3011170" cy="793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3"/>
          <p:cNvSpPr/>
          <p:nvPr>
            <p:custDataLst>
              <p:tags r:id="rId3"/>
            </p:custDataLst>
          </p:nvPr>
        </p:nvSpPr>
        <p:spPr>
          <a:xfrm>
            <a:off x="9116992" y="1685607"/>
            <a:ext cx="2712720" cy="7226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6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效果展示</a:t>
            </a:r>
            <a:br>
              <a:rPr lang="en-US" sz="1600" b="0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sz="1200" b="0" i="0" u="none" strike="noStrike" dirty="0">
              <a:solidFill>
                <a:schemeClr val="bg1">
                  <a:lumMod val="85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4"/>
          <p:cNvSpPr/>
          <p:nvPr>
            <p:custDataLst>
              <p:tags r:id="rId4"/>
            </p:custDataLst>
          </p:nvPr>
        </p:nvSpPr>
        <p:spPr>
          <a:xfrm>
            <a:off x="9139217" y="2113908"/>
            <a:ext cx="2712720" cy="10250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200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心镜智能体实现了从 </a:t>
            </a:r>
            <a:r>
              <a:rPr lang="en-US" altLang="zh-CN" sz="1200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</a:t>
            </a:r>
            <a:r>
              <a:rPr lang="zh-CN" altLang="en-US" sz="1200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运行全流程到情绪数据全链路的透明化、可追溯闭环。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1"/>
            </p:custDataLst>
          </p:nvPr>
        </p:nvSpPr>
        <p:spPr>
          <a:xfrm>
            <a:off x="0" y="1340427"/>
            <a:ext cx="12191999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5"/>
          <p:cNvSpPr/>
          <p:nvPr>
            <p:custDataLst>
              <p:tags r:id="rId2"/>
            </p:custDataLst>
          </p:nvPr>
        </p:nvSpPr>
        <p:spPr>
          <a:xfrm>
            <a:off x="7766151" y="1978184"/>
            <a:ext cx="3790849" cy="64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6"/>
          <p:cNvSpPr/>
          <p:nvPr>
            <p:custDataLst>
              <p:tags r:id="rId3"/>
            </p:custDataLst>
          </p:nvPr>
        </p:nvSpPr>
        <p:spPr>
          <a:xfrm>
            <a:off x="7766151" y="2208306"/>
            <a:ext cx="3790849" cy="811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平台基础能力与媒体上传接口</a:t>
            </a:r>
          </a:p>
        </p:txBody>
      </p:sp>
      <p:sp>
        <p:nvSpPr>
          <p:cNvPr id="11" name="AutoShape 7"/>
          <p:cNvSpPr/>
          <p:nvPr>
            <p:custDataLst>
              <p:tags r:id="rId4"/>
            </p:custDataLst>
          </p:nvPr>
        </p:nvSpPr>
        <p:spPr>
          <a:xfrm>
            <a:off x="7894488" y="2437680"/>
            <a:ext cx="3363310" cy="28012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项目基于沐曦 </a:t>
            </a:r>
            <a:r>
              <a:rPr lang="en-US" altLang="zh-CN" sz="16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MetaX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国产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GPU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算力底座打造，聚焦青少年心理健康智能监测场景，通过图片、视频上传接口采集课堂视觉数据，为后端人脸情绪识别、心理状态感知提供原始输入。</a:t>
            </a:r>
          </a:p>
        </p:txBody>
      </p:sp>
      <p:cxnSp>
        <p:nvCxnSpPr>
          <p:cNvPr id="12" name="Connector 8"/>
          <p:cNvCxnSpPr>
            <a:endCxn id="10" idx="2"/>
          </p:cNvCxnSpPr>
          <p:nvPr>
            <p:custDataLst>
              <p:tags r:id="rId5"/>
            </p:custDataLst>
          </p:nvPr>
        </p:nvCxnSpPr>
        <p:spPr>
          <a:xfrm flipV="1">
            <a:off x="742359" y="1340427"/>
            <a:ext cx="5353641" cy="273977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806" y="2582065"/>
            <a:ext cx="7427102" cy="40273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1"/>
            </p:custDataLst>
          </p:nvPr>
        </p:nvSpPr>
        <p:spPr>
          <a:xfrm>
            <a:off x="-1" y="1340427"/>
            <a:ext cx="12191999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5"/>
          <p:cNvSpPr/>
          <p:nvPr>
            <p:custDataLst>
              <p:tags r:id="rId2"/>
            </p:custDataLst>
          </p:nvPr>
        </p:nvSpPr>
        <p:spPr>
          <a:xfrm>
            <a:off x="525071" y="1647345"/>
            <a:ext cx="3790849" cy="64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6"/>
          <p:cNvSpPr/>
          <p:nvPr>
            <p:custDataLst>
              <p:tags r:id="rId3"/>
            </p:custDataLst>
          </p:nvPr>
        </p:nvSpPr>
        <p:spPr>
          <a:xfrm>
            <a:off x="742293" y="1922827"/>
            <a:ext cx="3363310" cy="811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数据查询、流式推送与风险预警接口</a:t>
            </a:r>
          </a:p>
        </p:txBody>
      </p:sp>
      <p:sp>
        <p:nvSpPr>
          <p:cNvPr id="11" name="AutoShape 7"/>
          <p:cNvSpPr/>
          <p:nvPr>
            <p:custDataLst>
              <p:tags r:id="rId4"/>
            </p:custDataLst>
          </p:nvPr>
        </p:nvSpPr>
        <p:spPr>
          <a:xfrm>
            <a:off x="731346" y="3434070"/>
            <a:ext cx="3363310" cy="1379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涵盖系统数据查询、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流式输出、学生档案管理、情绪时序数据调取及风险预警处置全套接口，依靠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SSE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长连接实现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内容实时流式返回，依托仪表盘聚合全校心理统计数据，完成学生情绪追踪、异常预警下发与告警处置闭环，支撑管理端可视化监管。</a:t>
            </a:r>
          </a:p>
        </p:txBody>
      </p:sp>
      <p:cxnSp>
        <p:nvCxnSpPr>
          <p:cNvPr id="12" name="Connector 8"/>
          <p:cNvCxnSpPr>
            <a:endCxn id="10" idx="2"/>
          </p:cNvCxnSpPr>
          <p:nvPr>
            <p:custDataLst>
              <p:tags r:id="rId5"/>
            </p:custDataLst>
          </p:nvPr>
        </p:nvCxnSpPr>
        <p:spPr>
          <a:xfrm flipV="1">
            <a:off x="742359" y="1340427"/>
            <a:ext cx="5353641" cy="273977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8634" y="2159000"/>
            <a:ext cx="7611605" cy="37573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1"/>
            </p:custDataLst>
          </p:nvPr>
        </p:nvSpPr>
        <p:spPr>
          <a:xfrm>
            <a:off x="-1" y="1340427"/>
            <a:ext cx="12191999" cy="5517573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  <a:alpha val="85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5"/>
          <p:cNvSpPr/>
          <p:nvPr>
            <p:custDataLst>
              <p:tags r:id="rId2"/>
            </p:custDataLst>
          </p:nvPr>
        </p:nvSpPr>
        <p:spPr>
          <a:xfrm>
            <a:off x="7860591" y="1647345"/>
            <a:ext cx="3790849" cy="6491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6"/>
          <p:cNvSpPr/>
          <p:nvPr>
            <p:custDataLst>
              <p:tags r:id="rId3"/>
            </p:custDataLst>
          </p:nvPr>
        </p:nvSpPr>
        <p:spPr>
          <a:xfrm>
            <a:off x="8077813" y="1922827"/>
            <a:ext cx="3363310" cy="811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 </a:t>
            </a:r>
            <a:r>
              <a:rPr lang="zh-CN" altLang="en-US" sz="2200" b="1" i="0" u="none" strike="noStrike" dirty="0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内容生成与多智能体调度核心接口</a:t>
            </a:r>
          </a:p>
        </p:txBody>
      </p:sp>
      <p:sp>
        <p:nvSpPr>
          <p:cNvPr id="11" name="AutoShape 7"/>
          <p:cNvSpPr/>
          <p:nvPr>
            <p:custDataLst>
              <p:tags r:id="rId4"/>
            </p:custDataLst>
          </p:nvPr>
        </p:nvSpPr>
        <p:spPr>
          <a:xfrm>
            <a:off x="8074360" y="3505439"/>
            <a:ext cx="3363310" cy="137939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平台核心业务接口，一方面通过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AIGC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接口自动生成心理评估报告、干预方案、家校沟通函等专业文书，另一方面依托多智能体调度接口手动触发情绪采集与心理分析任务，同时可查询智能体运行状态与国产算力平台适配信息，完整驱动感知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 </a:t>
            </a:r>
            <a:r>
              <a:rPr lang="en-US" altLang="zh-CN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生成全业务链路。</a:t>
            </a:r>
          </a:p>
        </p:txBody>
      </p:sp>
      <p:cxnSp>
        <p:nvCxnSpPr>
          <p:cNvPr id="12" name="Connector 8"/>
          <p:cNvCxnSpPr>
            <a:endCxn id="10" idx="2"/>
          </p:cNvCxnSpPr>
          <p:nvPr>
            <p:custDataLst>
              <p:tags r:id="rId5"/>
            </p:custDataLst>
          </p:nvPr>
        </p:nvCxnSpPr>
        <p:spPr>
          <a:xfrm flipV="1">
            <a:off x="742359" y="1340427"/>
            <a:ext cx="5353641" cy="273977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813" y="2734234"/>
            <a:ext cx="7366000" cy="37197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4000"/>
            </a:srgbClr>
          </a:solidFill>
          <a:ln cap="flat" cmpd="sng">
            <a:solidFill>
              <a:srgbClr val="0046E6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4000"/>
            </a:srgbClr>
          </a:solidFill>
          <a:ln cap="flat" cmpd="sng">
            <a:solidFill>
              <a:srgbClr val="0046E6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运行效果：性能与可靠性双验证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核心性能指标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603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&lt;1.5秒 · 高频无感监测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内环单次采集处理耗时极低，实现毫秒级响应，完美匹配课堂高频次、无感知的实时监测需求，数据延迟几乎不可察觉。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064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937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92%+ ·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双模态情绪识别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融合面部微表情与生理特征算法，有效抵抗刻意伪装与复杂光照干扰，识别精度较单模态方案显著提升，结果真实可靠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14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397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270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全并发 · 班级级同步分析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支持单教室45人及以上规模的全量学生数据同步采集与并行分析，无需分批轮询，完整还原课堂全员的实时专注状态。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1905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可靠性与安全保障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476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730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603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56项 · 单元测试全量通过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覆盖算法引擎、数据传输、异常处理等核心模块，通过56项严苛单元测试与压力测试，系统稳定性与功能完整性全方位达标。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810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064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9370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本地化 · 断网隐私双重保障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支持断网状态下的本地降级运行，所有敏感生物特征均在终端侧加密存储与处理，人脸原始图像绝不回传云端，杜绝隐私泄露风险。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5143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5397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52705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智能兜底 · 业务持续可用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当大模型服务异常时，系统自动无感切换至轻量模板分析模式，核心的课堂监测与风险预警功能持续运行，业务不中断。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9639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26365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项目创新价值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285999"/>
            <a:ext cx="3556000" cy="3809999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603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技术创新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10160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925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首创微表情与前庭振动双模态融合方案，精准突破情绪伪装识别技术瓶颈；创新双环驱动多智能体架构，平衡实时响应与深度分析需求；实现全链路国产化适配，确保算力供给与模型算法的自主可控。</a:t>
            </a:r>
            <a:endParaRPr lang="en-US" sz="1800" dirty="0"/>
          </a:p>
        </p:txBody>
      </p:sp>
      <p:sp>
        <p:nvSpPr>
          <p:cNvPr id="10" name="AutoShape 10"/>
          <p:cNvSpPr/>
          <p:nvPr/>
        </p:nvSpPr>
        <p:spPr>
          <a:xfrm>
            <a:off x="4318000" y="2286000"/>
            <a:ext cx="3556000" cy="3809998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60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2603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模式创新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34925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构建“无感采集-智能分析-分级预警-协同干预-反馈进化”的全链路闭环体系，实现从被动响应到主动预防的升级；引入人机协同机制，将教师的实际反馈反哺模型迭代，让系统具备持续进化能力，越用越精准。</a:t>
            </a:r>
            <a:endParaRPr lang="en-US" sz="1800" dirty="0"/>
          </a:p>
        </p:txBody>
      </p:sp>
      <p:sp>
        <p:nvSpPr>
          <p:cNvPr id="15" name="AutoShape 15"/>
          <p:cNvSpPr/>
          <p:nvPr/>
        </p:nvSpPr>
        <p:spPr>
          <a:xfrm>
            <a:off x="7874000" y="2286000"/>
            <a:ext cx="3556000" cy="3809998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0" y="2603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36000" y="26035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开源价值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8128013" y="3295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128000" y="3492500"/>
            <a:ext cx="304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采用Apache</a:t>
            </a:r>
            <a:r>
              <a:rPr lang="en-US" sz="1800" b="0" i="0" u="none" strike="noStrike" dirty="0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2.0商业友好开源协议，配套完整的技术文档与测试验证体系，大幅降低二次开发与部署门槛；采用高内聚低耦合的模块化设计，感知引擎、AIGC分析模块可独立复用，快速赋能心理筛查、情绪疏导等多元场景。</a:t>
            </a:r>
            <a:endParaRPr lang="en-US" sz="18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0837"/>
            <a:ext cx="12192000" cy="11290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落地进展与应用场景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当前阶段成果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384">
            <a:off x="762008" y="2660650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921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111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048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全栈开发与验证闭环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完成核心架构搭建与全功能开发，通过全量测试验证，系统稳定性与功能完整性达标，具备部署条件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2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318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42545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心理特征数据映射构建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完成前庭振动特征与12项核心心理参数的精准映射，建立标准化的基础训练数据集，夯实算法模型底座。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524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5461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真实场景试点筹备启动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完成中小学场景对接，推进真实课堂环境的试点部署，为规模化应用积累实地经验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350000" y="203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核心应用场景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384">
            <a:off x="6350008" y="2660650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350000" y="2921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3111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311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智慧教室监测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0" y="3556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覆盖全校学生，实现日常化、无感化的心理状态动态采集与持续追踪，不留监测盲区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22" name="AutoShape 22"/>
          <p:cNvSpPr/>
          <p:nvPr/>
        </p:nvSpPr>
        <p:spPr>
          <a:xfrm>
            <a:off x="9017000" y="29210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07500" y="3111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88500" y="31115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分级预警协同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07500" y="35560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建立多层级预警机制，联动家校与心理教师，缩短干预响应时间，提升危机处置效率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26" name="AutoShape 26"/>
          <p:cNvSpPr/>
          <p:nvPr/>
        </p:nvSpPr>
        <p:spPr>
          <a:xfrm>
            <a:off x="6350000" y="4762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9530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21500" y="49530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教师智能助手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40500" y="53975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自动生成学生心理评估报告与干预方案，减轻人工统计与分析负担，释放专业服务精力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30" name="AutoShape 30"/>
          <p:cNvSpPr/>
          <p:nvPr/>
        </p:nvSpPr>
        <p:spPr>
          <a:xfrm>
            <a:off x="9017000" y="4762500"/>
            <a:ext cx="2540000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49530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588500" y="49530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科研数据基座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07500" y="5397500"/>
            <a:ext cx="215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提供脱敏后的时序心理数据，为心理学、教育学及脑科学的学术研究与成果转化提供支撑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10837"/>
            <a:ext cx="12192000" cy="102745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0D17F-AE34-D533-43F2-1D64E5318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F33287A-9E0B-5378-4902-B80CCF7BFEB1}"/>
              </a:ext>
            </a:extLst>
          </p:cNvPr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0361D71-62E7-8A2B-E2E0-2156E8DA0240}"/>
              </a:ext>
            </a:extLst>
          </p:cNvPr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DAA46C3-C1C1-9938-052F-C24A3C602C9A}"/>
              </a:ext>
            </a:extLst>
          </p:cNvPr>
          <p:cNvSpPr/>
          <p:nvPr/>
        </p:nvSpPr>
        <p:spPr>
          <a:xfrm>
            <a:off x="762000" y="11684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落地进展与应用场景</a:t>
            </a:r>
            <a:endParaRPr lang="en-US" sz="11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44746A3-C37D-FF40-75ED-9A0107943A48}"/>
              </a:ext>
            </a:extLst>
          </p:cNvPr>
          <p:cNvSpPr/>
          <p:nvPr/>
        </p:nvSpPr>
        <p:spPr>
          <a:xfrm>
            <a:off x="762000" y="2032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2000" b="1" i="0" u="none" strike="noStrike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作品</a:t>
            </a:r>
            <a:r>
              <a:rPr lang="zh-CN" altLang="zh-CN" sz="2000" b="1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</a:rPr>
              <a:t>曦云C500 GPU</a:t>
            </a:r>
            <a:r>
              <a:rPr lang="zh-CN" altLang="en-US" sz="2000" b="1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</a:rPr>
              <a:t>适配</a:t>
            </a:r>
            <a:r>
              <a:rPr lang="zh-CN" altLang="zh-CN" sz="2000" b="1" dirty="0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</a:rPr>
              <a:t> </a:t>
            </a:r>
          </a:p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6" name="Connector 6">
            <a:extLst>
              <a:ext uri="{FF2B5EF4-FFF2-40B4-BE49-F238E27FC236}">
                <a16:creationId xmlns:a16="http://schemas.microsoft.com/office/drawing/2014/main" id="{5D487790-6DDB-97DD-0323-4883C73148AE}"/>
              </a:ext>
            </a:extLst>
          </p:cNvPr>
          <p:cNvCxnSpPr/>
          <p:nvPr/>
        </p:nvCxnSpPr>
        <p:spPr>
          <a:xfrm rot="-8384">
            <a:off x="762008" y="2660650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>
              <a:ext uri="{FF2B5EF4-FFF2-40B4-BE49-F238E27FC236}">
                <a16:creationId xmlns:a16="http://schemas.microsoft.com/office/drawing/2014/main" id="{8D7E7754-0CE2-B3B3-13E2-DCE3CC19A5EC}"/>
              </a:ext>
            </a:extLst>
          </p:cNvPr>
          <p:cNvSpPr/>
          <p:nvPr/>
        </p:nvSpPr>
        <p:spPr>
          <a:xfrm>
            <a:off x="762000" y="2921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165DFF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17" name="Connector 17">
            <a:extLst>
              <a:ext uri="{FF2B5EF4-FFF2-40B4-BE49-F238E27FC236}">
                <a16:creationId xmlns:a16="http://schemas.microsoft.com/office/drawing/2014/main" id="{B9208FBD-3C52-AF38-EC2E-35B65721C2B8}"/>
              </a:ext>
            </a:extLst>
          </p:cNvPr>
          <p:cNvCxnSpPr/>
          <p:nvPr/>
        </p:nvCxnSpPr>
        <p:spPr>
          <a:xfrm rot="-8384">
            <a:off x="6349993" y="1181721"/>
            <a:ext cx="520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>
            <a:extLst>
              <a:ext uri="{FF2B5EF4-FFF2-40B4-BE49-F238E27FC236}">
                <a16:creationId xmlns:a16="http://schemas.microsoft.com/office/drawing/2014/main" id="{6690F3CB-F9B5-AA76-D18B-634FC3F8245C}"/>
              </a:ext>
            </a:extLst>
          </p:cNvPr>
          <p:cNvSpPr/>
          <p:nvPr/>
        </p:nvSpPr>
        <p:spPr>
          <a:xfrm>
            <a:off x="6349984" y="1410321"/>
            <a:ext cx="5207016" cy="3225179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642E8DBF-0078-5B6B-9A5D-C6D0DE77FB07}"/>
              </a:ext>
            </a:extLst>
          </p:cNvPr>
          <p:cNvSpPr/>
          <p:nvPr/>
        </p:nvSpPr>
        <p:spPr>
          <a:xfrm>
            <a:off x="6418892" y="4762500"/>
            <a:ext cx="5206999" cy="17145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>
            <a:extLst>
              <a:ext uri="{FF2B5EF4-FFF2-40B4-BE49-F238E27FC236}">
                <a16:creationId xmlns:a16="http://schemas.microsoft.com/office/drawing/2014/main" id="{A1F7FEE6-344B-2264-E01A-04600C95D7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4953000"/>
            <a:ext cx="304800" cy="304800"/>
          </a:xfrm>
          <a:prstGeom prst="rect">
            <a:avLst/>
          </a:prstGeom>
        </p:spPr>
      </p:pic>
      <p:sp>
        <p:nvSpPr>
          <p:cNvPr id="28" name="AutoShape 28">
            <a:extLst>
              <a:ext uri="{FF2B5EF4-FFF2-40B4-BE49-F238E27FC236}">
                <a16:creationId xmlns:a16="http://schemas.microsoft.com/office/drawing/2014/main" id="{6AE7F9AC-FEE2-3C9E-043F-7D77987621D6}"/>
              </a:ext>
            </a:extLst>
          </p:cNvPr>
          <p:cNvSpPr/>
          <p:nvPr/>
        </p:nvSpPr>
        <p:spPr>
          <a:xfrm>
            <a:off x="6921500" y="4953000"/>
            <a:ext cx="1841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结论</a:t>
            </a:r>
            <a:endParaRPr lang="en-US" sz="2000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4241D4AF-0FC7-813E-3C56-6902D08C9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837"/>
            <a:ext cx="12192000" cy="1027458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F0A386AD-E3DE-1C62-0031-9A7AE71F2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700" y="3338081"/>
            <a:ext cx="3944799" cy="2594837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2600A902-3C34-73FA-BC41-8AA22E06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7561" y="2255484"/>
            <a:ext cx="4070878" cy="2092411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8840D2BB-0FFC-32E2-19AF-AEB603F54018}"/>
              </a:ext>
            </a:extLst>
          </p:cNvPr>
          <p:cNvSpPr txBox="1"/>
          <p:nvPr/>
        </p:nvSpPr>
        <p:spPr>
          <a:xfrm>
            <a:off x="6808340" y="1648356"/>
            <a:ext cx="458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前庭提取具体过程</a:t>
            </a:r>
            <a:r>
              <a:rPr lang="en-US" altLang="zh-CN" sz="2000" b="1" dirty="0"/>
              <a:t>GPU</a:t>
            </a:r>
            <a:r>
              <a:rPr lang="zh-CN" altLang="en-US" sz="2000" b="1" dirty="0"/>
              <a:t>适配提速</a:t>
            </a:r>
          </a:p>
        </p:txBody>
      </p:sp>
      <p:pic>
        <p:nvPicPr>
          <p:cNvPr id="44" name="Picture 27">
            <a:extLst>
              <a:ext uri="{FF2B5EF4-FFF2-40B4-BE49-F238E27FC236}">
                <a16:creationId xmlns:a16="http://schemas.microsoft.com/office/drawing/2014/main" id="{35F6E703-9BE0-F915-94DB-B670E27F8F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1715496"/>
            <a:ext cx="304800" cy="304800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310DBB80-043B-0293-B15A-0AD2E2CBA60F}"/>
              </a:ext>
            </a:extLst>
          </p:cNvPr>
          <p:cNvSpPr txBox="1"/>
          <p:nvPr/>
        </p:nvSpPr>
        <p:spPr>
          <a:xfrm>
            <a:off x="6692900" y="5411244"/>
            <a:ext cx="47934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曦云C500 GPU 在 VibraImage 全流水线上实现了 </a:t>
            </a:r>
            <a:r>
              <a:rPr lang="zh-CN" altLang="zh-CN" b="1" dirty="0"/>
              <a:t>5.8x</a:t>
            </a:r>
            <a:r>
              <a:rPr lang="zh-CN" altLang="zh-CN" dirty="0"/>
              <a:t> 的平均加速比（GPU优势项加权平均 </a:t>
            </a:r>
            <a:r>
              <a:rPr lang="zh-CN" altLang="zh-CN" b="1" dirty="0"/>
              <a:t>6.96x</a:t>
            </a:r>
            <a:r>
              <a:rPr lang="zh-CN" altLang="zh-CN" dirty="0"/>
              <a:t>）。其中「全流水线端到端」加速最为显著（</a:t>
            </a:r>
            <a:r>
              <a:rPr lang="zh-CN" altLang="zh-CN" b="1" dirty="0"/>
              <a:t>14.06x</a:t>
            </a:r>
            <a:r>
              <a:rPr lang="zh-CN" altLang="zh-CN" dirty="0"/>
              <a:t>），验证了国产GPU在计算密集型振动分析场景下的显著优势。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7897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21285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41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49400" y="2641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技术迭代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2512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2026.06 - 2026.08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5211">
            <a:off x="1016014" y="367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3873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优化双模态融合模型，攻克边缘端轻量化部署难题，大幅提升智能体的响应速度与工具调用能力，夯实底层技术基座</a:t>
            </a:r>
            <a:r>
              <a:rPr lang="en-US" sz="1600" b="0" i="0" u="none" strike="noStrike" dirty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12" name="AutoShape 12"/>
          <p:cNvSpPr/>
          <p:nvPr/>
        </p:nvSpPr>
        <p:spPr>
          <a:xfrm>
            <a:off x="43942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942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6416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81600" y="2641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试点落地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48200" y="32512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2026.09 - 2026.12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4648214" y="367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648200" y="3873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在1-2所中小学完成真实场景部署，采集全流程运行数据，基于师生反馈快速迭代产品功能，确保服务贴合校园实际需求。</a:t>
            </a:r>
            <a:endParaRPr lang="en-US" sz="1600" dirty="0"/>
          </a:p>
        </p:txBody>
      </p:sp>
      <p:sp>
        <p:nvSpPr>
          <p:cNvPr id="19" name="AutoShape 19"/>
          <p:cNvSpPr/>
          <p:nvPr/>
        </p:nvSpPr>
        <p:spPr>
          <a:xfrm>
            <a:off x="80264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165DFF">
              <a:alpha val="6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0264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65D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0400" y="2641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13800" y="2641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生态建设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80400" y="3251200"/>
            <a:ext cx="287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2027年起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5211">
            <a:off x="8280414" y="3676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280400" y="3873500"/>
            <a:ext cx="2870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完善开源社区文档与适配方案，吸引开发者共建共享，构建开放、可持续的校园心理健康开源生态，推动行业标准化发展</a:t>
            </a:r>
            <a:r>
              <a:rPr lang="en-US" sz="1600" b="0" i="0" u="none" strike="noStrike" dirty="0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26" name="AutoShape 26"/>
          <p:cNvSpPr/>
          <p:nvPr/>
        </p:nvSpPr>
        <p:spPr>
          <a:xfrm>
            <a:off x="762000" y="5651500"/>
            <a:ext cx="10642600" cy="685800"/>
          </a:xfrm>
          <a:prstGeom prst="roundRect">
            <a:avLst>
              <a:gd name="adj" fmla="val 0"/>
            </a:avLst>
          </a:prstGeom>
          <a:solidFill>
            <a:srgbClr val="165DFF">
              <a:alpha val="5000"/>
            </a:srgbClr>
          </a:solidFill>
          <a:ln w="12700" cap="flat" cmpd="sng">
            <a:solidFill>
              <a:srgbClr val="165D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89000" y="5765800"/>
            <a:ext cx="1038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65D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规划愿景：</a:t>
            </a:r>
            <a:r>
              <a:rPr lang="en-US" sz="18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以技术创新为引擎，以真实场景为检验，最终形成开放共赢的产业生态，让智能化的心理健康服务惠及更多青少年</a:t>
            </a:r>
            <a:r>
              <a:rPr lang="en-US" sz="18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107825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7FF">
                <a:alpha val="100000"/>
              </a:srgbClr>
            </a:gs>
            <a:gs pos="100000">
              <a:srgbClr val="E6F2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89000" y="4699000"/>
            <a:ext cx="2794000" cy="2794000"/>
          </a:xfrm>
          <a:prstGeom prst="ellipse">
            <a:avLst/>
          </a:prstGeom>
          <a:solidFill>
            <a:srgbClr val="165DFF">
              <a:alpha val="7000"/>
            </a:srgbClr>
          </a:solidFill>
          <a:ln cap="flat" cmpd="sng">
            <a:solidFill>
              <a:srgbClr val="0046E6">
                <a:alpha val="7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906000" y="-1143000"/>
            <a:ext cx="3302000" cy="3302000"/>
          </a:xfrm>
          <a:prstGeom prst="ellipse">
            <a:avLst/>
          </a:prstGeom>
          <a:solidFill>
            <a:srgbClr val="165DFF">
              <a:alpha val="6000"/>
            </a:srgbClr>
          </a:solidFill>
          <a:ln cap="flat" cmpd="sng">
            <a:solidFill>
              <a:srgbClr val="0046E6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2158999"/>
            <a:ext cx="12192000" cy="20897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多谢指导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5" name="Connector 5"/>
          <p:cNvCxnSpPr/>
          <p:nvPr/>
        </p:nvCxnSpPr>
        <p:spPr>
          <a:xfrm rot="-5729">
            <a:off x="2286005" y="50736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5D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0" y="53594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项目开源地址：</a:t>
            </a:r>
            <a:r>
              <a:rPr lang="en-US" altLang="zh-CN" sz="2000" b="0" i="0" u="none" strike="noStrik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https://www.gitlink.org.cn/w55224545/Xinjing-AIGC-Agent-Platform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3404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60,&quot;top&quot;:280,&quot;width&quot;:83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60,&quot;top&quot;:280,&quot;width&quot;:8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60,&quot;top&quot;:280,&quot;width&quot;:8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5,&quot;left&quot;:60,&quot;top&quot;:280,&quot;width&quot;:8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,&quot;left&quot;:60,&quot;top&quot;:130,&quot;width&quot;:855.5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1562</Words>
  <Application>Microsoft Office PowerPoint</Application>
  <PresentationFormat>宽屏</PresentationFormat>
  <Paragraphs>254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Noto Sans SC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Build</dc:creator>
  <cp:lastModifiedBy>锴嘉 吴</cp:lastModifiedBy>
  <cp:revision>15</cp:revision>
  <dcterms:created xsi:type="dcterms:W3CDTF">2026-07-24T12:49:56Z</dcterms:created>
  <dcterms:modified xsi:type="dcterms:W3CDTF">2026-08-02T13:03:31Z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{"Label":"1","ContentProducer":"001191110102MACQD9K64010000","ProduceID":"7666025201897311483","ReservedCode1":"","ContentPropagator":"","PropagateID":"","ReservedCode2":""}</vt:lpwstr>
  </property>
  <property fmtid="{D5CDD505-2E9C-101B-9397-08002B2CF9AE}" pid="3" name="ICV">
    <vt:lpwstr>81127CE0411F49E8A1A40317533E2DE0_12</vt:lpwstr>
  </property>
  <property fmtid="{D5CDD505-2E9C-101B-9397-08002B2CF9AE}" pid="4" name="KSOProductBuildVer">
    <vt:lpwstr>2052-12.1.0.26895</vt:lpwstr>
  </property>
</Properties>
</file>