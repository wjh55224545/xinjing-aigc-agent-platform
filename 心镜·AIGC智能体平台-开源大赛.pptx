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9.svg" ContentType="image/svg+xml"/>
  <Override PartName="/ppt/media/image21.svg" ContentType="image/svg+xml"/>
  <Override PartName="/ppt/media/image23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svg"/><Relationship Id="rId7" Type="http://schemas.openxmlformats.org/officeDocument/2006/relationships/image" Target="../media/image34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9.svg"/><Relationship Id="rId11" Type="http://schemas.openxmlformats.org/officeDocument/2006/relationships/image" Target="../media/image38.png"/><Relationship Id="rId10" Type="http://schemas.openxmlformats.org/officeDocument/2006/relationships/image" Target="../media/image37.svg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6.png"/><Relationship Id="rId7" Type="http://schemas.openxmlformats.org/officeDocument/2006/relationships/image" Target="../media/image45.png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57.png"/><Relationship Id="rId11" Type="http://schemas.openxmlformats.org/officeDocument/2006/relationships/image" Target="../media/image56.png"/><Relationship Id="rId10" Type="http://schemas.openxmlformats.org/officeDocument/2006/relationships/image" Target="../media/image55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13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69.svg"/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png"/><Relationship Id="rId8" Type="http://schemas.openxmlformats.org/officeDocument/2006/relationships/image" Target="../media/image83.jpeg"/><Relationship Id="rId7" Type="http://schemas.openxmlformats.org/officeDocument/2006/relationships/image" Target="../media/image82.png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2.png"/><Relationship Id="rId7" Type="http://schemas.openxmlformats.org/officeDocument/2006/relationships/image" Target="../media/image91.png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3" Type="http://schemas.openxmlformats.org/officeDocument/2006/relationships/image" Target="../media/image87.png"/><Relationship Id="rId2" Type="http://schemas.openxmlformats.org/officeDocument/2006/relationships/image" Target="../media/image40.pn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-946"/>
          <a:stretch>
            <a:fillRect/>
          </a:stretch>
        </p:blipFill>
        <p:spPr>
          <a:xfrm>
            <a:off x="-304800" y="-16510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3125" r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143000" y="2197100"/>
            <a:ext cx="76200" cy="76200"/>
          </a:xfrm>
          <a:prstGeom prst="roundRect">
            <a:avLst>
              <a:gd name="adj" fmla="val 966666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95400" y="2222500"/>
            <a:ext cx="457200" cy="12700"/>
          </a:xfrm>
          <a:prstGeom prst="roundRect">
            <a:avLst>
              <a:gd name="adj" fmla="val 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905000" y="2095500"/>
            <a:ext cx="44958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spc="200">
                <a:solidFill>
                  <a:srgbClr val="00D4AA">
                    <a:alpha val="90196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MINDMIRROR AIGC AGENT PLATFORM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2667000"/>
            <a:ext cx="99568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4500"/>
              </a:lnSpc>
              <a:defRPr/>
            </a:pPr>
            <a:r>
              <a:rPr lang="en-US" sz="38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心镜·AIGC智能体平台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43000" y="4102100"/>
            <a:ext cx="99568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教室里的“情绪CT机” + “AI心理报告生成器”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基于前沿AIGC技术，打造从无感监测、智能分析到精准干预的全流程心理健康解决方案，守护校园心灵健康。</a:t>
            </a:r>
            <a:endParaRPr lang="en-US" sz="16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638800" y="1930400"/>
            <a:ext cx="914400" cy="38100"/>
          </a:xfrm>
          <a:prstGeom prst="roundRect">
            <a:avLst>
              <a:gd name="adj" fmla="val 10000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38800" y="1930400"/>
            <a:ext cx="914400" cy="38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486400" y="1244600"/>
            <a:ext cx="1295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500" b="1" i="0" u="none" strike="noStrike" spc="200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目录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76400" y="2578100"/>
            <a:ext cx="2743200" cy="1371600"/>
          </a:xfrm>
          <a:prstGeom prst="roundRect">
            <a:avLst>
              <a:gd name="adj" fmla="val 11111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517900" y="2489200"/>
            <a:ext cx="8001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0" i="0" u="none" strike="noStrike">
                <a:solidFill>
                  <a:srgbClr val="FFFFFF">
                    <a:alpha val="3137"/>
                  </a:srgbClr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01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93900" y="2921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2413000" y="2997200"/>
            <a:ext cx="6731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1" i="0" u="none" strike="noStrike" spc="90">
                <a:solidFill>
                  <a:srgbClr val="2DD4B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PART ONE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993900" y="3340100"/>
            <a:ext cx="21844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1F5F9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项目背景与定位升级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24400" y="2578100"/>
            <a:ext cx="2743200" cy="1371600"/>
          </a:xfrm>
          <a:prstGeom prst="roundRect">
            <a:avLst>
              <a:gd name="adj" fmla="val 11111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2489200"/>
            <a:ext cx="88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0" i="0" u="none" strike="noStrike">
                <a:solidFill>
                  <a:srgbClr val="FFFFFF">
                    <a:alpha val="3137"/>
                  </a:srgbClr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02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41900" y="2921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5461000" y="2997200"/>
            <a:ext cx="6858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1" i="0" u="none" strike="noStrike" spc="90">
                <a:solidFill>
                  <a:srgbClr val="2DD4B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PART TWO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41900" y="3340100"/>
            <a:ext cx="21844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1F5F9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系统架构与核心技术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772400" y="2578100"/>
            <a:ext cx="2743200" cy="1371600"/>
          </a:xfrm>
          <a:prstGeom prst="roundRect">
            <a:avLst>
              <a:gd name="adj" fmla="val 11111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499600" y="2489200"/>
            <a:ext cx="9017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0" i="0" u="none" strike="noStrike">
                <a:solidFill>
                  <a:srgbClr val="FFFFFF">
                    <a:alpha val="3137"/>
                  </a:srgbClr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03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089900" y="2921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8509000" y="2997200"/>
            <a:ext cx="8128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1" i="0" u="none" strike="noStrike" spc="90">
                <a:solidFill>
                  <a:srgbClr val="2DD4B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PART THREE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89900" y="3340100"/>
            <a:ext cx="21844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1F5F9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核心功能与开源特性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676400" y="4254500"/>
            <a:ext cx="2743200" cy="1371600"/>
          </a:xfrm>
          <a:prstGeom prst="roundRect">
            <a:avLst>
              <a:gd name="adj" fmla="val 11111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3429000" y="4165600"/>
            <a:ext cx="88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0" i="0" u="none" strike="noStrike">
                <a:solidFill>
                  <a:srgbClr val="FFFFFF">
                    <a:alpha val="3137"/>
                  </a:srgbClr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04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993900" y="45974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2413000" y="4673600"/>
            <a:ext cx="7366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1" i="0" u="none" strike="noStrike" spc="90">
                <a:solidFill>
                  <a:srgbClr val="2DD4B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PART FOUR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993900" y="5016500"/>
            <a:ext cx="21844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1F5F9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项目进展与未来展望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724400" y="4254500"/>
            <a:ext cx="2743200" cy="1371600"/>
          </a:xfrm>
          <a:prstGeom prst="roundRect">
            <a:avLst>
              <a:gd name="adj" fmla="val 11111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451600" y="4165600"/>
            <a:ext cx="9144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0" i="0" u="none" strike="noStrike">
                <a:solidFill>
                  <a:srgbClr val="FFFFFF">
                    <a:alpha val="3137"/>
                  </a:srgbClr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05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041900" y="45974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5461000" y="4673600"/>
            <a:ext cx="6731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1" i="0" u="none" strike="noStrike" spc="90">
                <a:solidFill>
                  <a:srgbClr val="2DD4B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Q &amp; A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041900" y="5016500"/>
            <a:ext cx="21844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1F5F9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交流互动与答疑环节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62000" y="1841500"/>
            <a:ext cx="76200" cy="76200"/>
          </a:xfrm>
          <a:prstGeom prst="roundRect">
            <a:avLst>
              <a:gd name="adj" fmla="val 966666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16200000" algn="bl" rotWithShape="0">
              <a:srgbClr val="00D4AA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841500"/>
            <a:ext cx="76200" cy="76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914400" y="1879600"/>
            <a:ext cx="457200" cy="12700"/>
          </a:xfrm>
          <a:prstGeom prst="roundRect">
            <a:avLst>
              <a:gd name="adj" fmla="val 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50800" dir="16200000" algn="bl" rotWithShape="0">
              <a:srgbClr val="00D4AA">
                <a:alpha val="5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524000" y="1752600"/>
            <a:ext cx="32893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spc="300">
                <a:solidFill>
                  <a:srgbClr val="00D4AA">
                    <a:alpha val="90196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AIGC INTELLIGENT PLATFORM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62000" y="2247900"/>
            <a:ext cx="106680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762000" y="2933700"/>
            <a:ext cx="10731500" cy="1333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5250"/>
              </a:lnSpc>
              <a:defRPr/>
            </a:pPr>
            <a:r>
              <a:rPr lang="en-US" sz="42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项目背景与定位升级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256796">
            <a:off x="463485" y="4794316"/>
            <a:ext cx="60973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sq" cmpd="sng">
            <a:solidFill>
              <a:srgbClr val="7C3AE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28700" y="4495800"/>
            <a:ext cx="7366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 spc="30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项目定位从单一的“监测预警系统”升级为高可扩展的“AIGC智能体平台”，聚焦智慧教室场景打造全流程智能化闭环：实现从双模态感知采集，到AI深度情绪分析，再到AIGC定制化内容生成，最终通过多渠道完成预警与干预，实现从被动监测到主动服务的跨越式升级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825500"/>
            <a:ext cx="762000" cy="38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>
            <a:fillRect/>
          </a:stretch>
        </p:blipFill>
        <p:spPr>
          <a:xfrm>
            <a:off x="3238500" y="1384300"/>
            <a:ext cx="5715000" cy="476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473700" y="1587500"/>
            <a:ext cx="114300" cy="114300"/>
          </a:xfrm>
          <a:prstGeom prst="roundRect">
            <a:avLst>
              <a:gd name="adj" fmla="val 10000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422900" y="1524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604000" y="1587500"/>
            <a:ext cx="114300" cy="114300"/>
          </a:xfrm>
          <a:prstGeom prst="roundRect">
            <a:avLst>
              <a:gd name="adj" fmla="val 10000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540500" y="1524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81000" y="279400"/>
            <a:ext cx="5080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传统心理健康监测模式的痛点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81000" y="1308100"/>
            <a:ext cx="5410200" cy="1485900"/>
          </a:xfrm>
          <a:prstGeom prst="roundRect">
            <a:avLst>
              <a:gd name="adj" fmla="val 7692"/>
            </a:avLst>
          </a:prstGeom>
          <a:solidFill>
            <a:srgbClr val="0F1629">
              <a:alpha val="6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581400" y="1511300"/>
            <a:ext cx="1778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数据揭示的现实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451100" y="1854200"/>
            <a:ext cx="289560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ts val="1950"/>
              </a:lnSpc>
              <a:defRPr/>
            </a:pPr>
            <a:r>
              <a:rPr lang="en-US" sz="12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15%-25%</a:t>
            </a: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青少年存在抑郁症状，检出率逐年攀升。</a:t>
            </a:r>
            <a:endParaRPr lang="en-US" sz="1100"/>
          </a:p>
          <a:p>
            <a:pPr marL="0" indent="0" algn="r">
              <a:lnSpc>
                <a:spcPts val="195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传统评估依赖主观量表，易受伪装影响，时效性差。</a:t>
            </a:r>
            <a:endParaRPr lang="en-US" sz="1200" b="0" i="0" u="none" strike="noStrike">
              <a:solidFill>
                <a:srgbClr val="94A3B8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400800" y="1308100"/>
            <a:ext cx="5410200" cy="1485900"/>
          </a:xfrm>
          <a:prstGeom prst="roundRect">
            <a:avLst>
              <a:gd name="adj" fmla="val 7692"/>
            </a:avLst>
          </a:prstGeom>
          <a:solidFill>
            <a:srgbClr val="0F1629">
              <a:alpha val="6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870700" y="1511300"/>
            <a:ext cx="1778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主观评估的局限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870700" y="1854200"/>
            <a:ext cx="364490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9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量表评估易受个体认知偏差、情绪状态干扰，难以反映真实心理；仅能捕捉静态切片，无法追踪动态变化过程。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81000" y="3022600"/>
            <a:ext cx="5410200" cy="1485900"/>
          </a:xfrm>
          <a:prstGeom prst="roundRect">
            <a:avLst>
              <a:gd name="adj" fmla="val 7692"/>
            </a:avLst>
          </a:prstGeom>
          <a:solidFill>
            <a:srgbClr val="0F1629">
              <a:alpha val="6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473700" y="3302000"/>
            <a:ext cx="114300" cy="114300"/>
          </a:xfrm>
          <a:prstGeom prst="roundRect">
            <a:avLst>
              <a:gd name="adj" fmla="val 10000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3581400" y="3225800"/>
            <a:ext cx="1778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监测模式的短板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717800" y="3568700"/>
            <a:ext cx="262890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ts val="19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滞后性：依赖事后报告，错失干预黄金窗口。</a:t>
            </a:r>
            <a:endParaRPr lang="en-US" sz="1100"/>
          </a:p>
          <a:p>
            <a:pPr marL="0" indent="0" algn="r">
              <a:lnSpc>
                <a:spcPts val="195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单一性：仅靠问卷，缺乏客观生理数据佐证。</a:t>
            </a:r>
            <a:endParaRPr lang="en-US" sz="1200" b="0" i="0" u="none" strike="noStrike">
              <a:solidFill>
                <a:srgbClr val="94A3B8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00800" y="3022600"/>
            <a:ext cx="5410200" cy="1485900"/>
          </a:xfrm>
          <a:prstGeom prst="roundRect">
            <a:avLst>
              <a:gd name="adj" fmla="val 7692"/>
            </a:avLst>
          </a:prstGeom>
          <a:solidFill>
            <a:srgbClr val="0F1629">
              <a:alpha val="6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04000" y="3302000"/>
            <a:ext cx="114300" cy="114300"/>
          </a:xfrm>
          <a:prstGeom prst="roundRect">
            <a:avLst>
              <a:gd name="adj" fmla="val 10000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870700" y="3225800"/>
            <a:ext cx="1778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技术应用的瓶颈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870700" y="3568700"/>
            <a:ext cx="364490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9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单模态数据抗干扰能力弱，难以全面刻画复杂心理状态；缺乏成熟的多模态融合算法，评估结果的准确性与稳定性不足。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81000" y="4737100"/>
            <a:ext cx="5410200" cy="1485900"/>
          </a:xfrm>
          <a:prstGeom prst="roundRect">
            <a:avLst>
              <a:gd name="adj" fmla="val 7692"/>
            </a:avLst>
          </a:prstGeom>
          <a:solidFill>
            <a:srgbClr val="0F1629">
              <a:alpha val="6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5473700" y="5016500"/>
            <a:ext cx="114300" cy="114300"/>
          </a:xfrm>
          <a:prstGeom prst="roundRect">
            <a:avLst>
              <a:gd name="adj" fmla="val 10000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3581400" y="4940300"/>
            <a:ext cx="1778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行业落地的痛点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413000" y="5283200"/>
            <a:ext cx="293370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ts val="19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预警与干预脱节，缺乏高效协同闭环机制。</a:t>
            </a:r>
            <a:endParaRPr lang="en-US" sz="1100"/>
          </a:p>
          <a:p>
            <a:pPr marL="0" indent="0" algn="r">
              <a:lnSpc>
                <a:spcPts val="195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专业资源稀缺，难以支撑大规模学生的筛查与帮扶。</a:t>
            </a:r>
            <a:endParaRPr lang="en-US" sz="1200" b="0" i="0" u="none" strike="noStrike">
              <a:solidFill>
                <a:srgbClr val="94A3B8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400800" y="4737100"/>
            <a:ext cx="5410200" cy="1485900"/>
          </a:xfrm>
          <a:prstGeom prst="roundRect">
            <a:avLst>
              <a:gd name="adj" fmla="val 7692"/>
            </a:avLst>
          </a:prstGeom>
          <a:solidFill>
            <a:srgbClr val="0F1629">
              <a:alpha val="6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604000" y="5016500"/>
            <a:ext cx="114300" cy="114300"/>
          </a:xfrm>
          <a:prstGeom prst="roundRect">
            <a:avLst>
              <a:gd name="adj" fmla="val 10000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870700" y="4940300"/>
            <a:ext cx="1778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普及推广的障碍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870700" y="5283200"/>
            <a:ext cx="364490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9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部分方案依赖专业硬件，成本高昂难以普及；智能体能力薄弱，缺乏预警后的自动化干预与人工协同的有效衔接。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72554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0" y="-1270000"/>
            <a:ext cx="5080000" cy="5080000"/>
          </a:xfrm>
          <a:prstGeom prst="ellipse">
            <a:avLst/>
          </a:prstGeom>
          <a:solidFill>
            <a:srgbClr val="38BDF8">
              <a:alpha val="8000"/>
            </a:srgbClr>
          </a:solidFill>
          <a:ln cap="flat" cmpd="sng">
            <a:solidFill>
              <a:srgbClr val="1CA3D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3810000"/>
            <a:ext cx="3810000" cy="3810000"/>
          </a:xfrm>
          <a:prstGeom prst="ellipse">
            <a:avLst/>
          </a:prstGeom>
          <a:solidFill>
            <a:srgbClr val="A855F7">
              <a:alpha val="8000"/>
            </a:srgbClr>
          </a:solidFill>
          <a:ln cap="flat" cmpd="sng">
            <a:solidFill>
              <a:srgbClr val="8C36DE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智能体驱动的创新价值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524000"/>
            <a:ext cx="3683000" cy="4064000"/>
          </a:xfrm>
          <a:prstGeom prst="roundRect">
            <a:avLst>
              <a:gd name="adj" fmla="val 0"/>
            </a:avLst>
          </a:prstGeom>
          <a:solidFill>
            <a:srgbClr val="1E3A8A">
              <a:alpha val="25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000" y="1778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43000" y="17780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学术创新价值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3750">
            <a:off x="635013" y="2343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0A5F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35000" y="2476500"/>
            <a:ext cx="330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spcBef>
                <a:spcPts val="800"/>
              </a:spcBef>
              <a:defRPr/>
            </a:pPr>
            <a:r>
              <a:rPr lang="en-US" sz="1500" b="1" i="0" u="none" strike="noStrike">
                <a:solidFill>
                  <a:srgbClr val="E0F2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架构突破：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设计多模态融合与长程记忆的专用心理监测智能体，解决传统监测中数据单一与理论不确定性的核心难题。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500" b="1" i="0" u="none" strike="noStrike">
                <a:solidFill>
                  <a:srgbClr val="E0F2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范式重塑：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建立“智能体评估→可信预警→人机协同”的闭环新机制，实现从被动分析到主动预判的范式跃迁。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500" b="1" i="0" u="none" strike="noStrike">
                <a:solidFill>
                  <a:srgbClr val="E0F2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模型重构：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量化“生理-情绪-心理”动态关联，构建个体差异化的动态心理基线，实现精准化状态研判。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254500" y="1524000"/>
            <a:ext cx="3683000" cy="4064000"/>
          </a:xfrm>
          <a:prstGeom prst="roundRect">
            <a:avLst>
              <a:gd name="adj" fmla="val 0"/>
            </a:avLst>
          </a:prstGeom>
          <a:solidFill>
            <a:srgbClr val="581C87">
              <a:alpha val="25000"/>
            </a:srgbClr>
          </a:solidFill>
          <a:ln w="12700" cap="flat" cmpd="sng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1778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16500" y="17780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8B4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应用实践价值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750">
            <a:off x="4508513" y="2343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855F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08500" y="2476500"/>
            <a:ext cx="330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spcBef>
                <a:spcPts val="800"/>
              </a:spcBef>
              <a:defRPr/>
            </a:pPr>
            <a:r>
              <a:rPr lang="en-US" sz="1500" b="1" i="0" u="none" strike="noStrike">
                <a:solidFill>
                  <a:srgbClr val="E9D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主动预警：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变“人找问题”为“问题找人”，通过无感监测实现风险早发现、早干预，大幅减轻人工筛查负担。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500" b="1" i="0" u="none" strike="noStrike">
                <a:solidFill>
                  <a:srgbClr val="E9D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降维赋能：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封装复杂算法，提供可视化、零门槛的操作工具，让非专业人员也能高效开展心理健康管理。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500" b="1" i="0" u="none" strike="noStrike">
                <a:solidFill>
                  <a:srgbClr val="E9D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角色升级：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从单纯的“数据分析工具”进化为“主动决策助理”，实时生成干预建议，辅助教育场景科学决策。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1524000"/>
            <a:ext cx="3683000" cy="4064000"/>
          </a:xfrm>
          <a:prstGeom prst="roundRect">
            <a:avLst>
              <a:gd name="adj" fmla="val 0"/>
            </a:avLst>
          </a:prstGeom>
          <a:solidFill>
            <a:srgbClr val="064E3B">
              <a:alpha val="25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778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17780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生态平台价值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3750">
            <a:off x="8382013" y="2343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382000" y="2476500"/>
            <a:ext cx="330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spcBef>
                <a:spcPts val="800"/>
              </a:spcBef>
              <a:defRPr/>
            </a:pPr>
            <a:r>
              <a:rPr lang="en-US" sz="1500" b="1" i="0" u="none" strike="noStrike">
                <a:solidFill>
                  <a:srgbClr val="D1FAE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赋能教师：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提供客观、实时的学生心理数据支撑，提升班级管理与心理疏导的精准度，减轻管理压力。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500" b="1" i="0" u="none" strike="noStrike">
                <a:solidFill>
                  <a:srgbClr val="D1FAE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辅助家长：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打破家校信息壁垒，让家长及时掌握孩子在校状态，实现科学共育与双向沟通，消除教育焦虑。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500" b="1" i="0" u="none" strike="noStrike">
                <a:solidFill>
                  <a:srgbClr val="D1FAE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守护学生：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基于个性化模型提供适配的心理支持方案，及时化解成长困扰，守护青少年心理健康。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81000" y="5778500"/>
            <a:ext cx="11430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08000" y="59055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核心愿景：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以智能体技术为枢纽，打通学术研究、教育实践与家庭关怀的壁垒，构建可持续、可复制的心理健康数字化服务新生态，让技术真正温暖每一颗心灵。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914400" y="1803400"/>
            <a:ext cx="6096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16200000" algn="bl" rotWithShape="0">
              <a:srgbClr val="00D4AA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1803400"/>
            <a:ext cx="609600" cy="12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762000" y="1765300"/>
            <a:ext cx="76200" cy="76200"/>
          </a:xfrm>
          <a:prstGeom prst="roundRect">
            <a:avLst>
              <a:gd name="adj" fmla="val 966666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16200000" algn="bl" rotWithShape="0">
              <a:srgbClr val="00D4AA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676400" y="1676400"/>
            <a:ext cx="51308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spc="400">
                <a:solidFill>
                  <a:srgbClr val="00D4AA">
                    <a:alpha val="80000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SYSTEM ARCHITECTURE &amp; TECHNOLOGY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62000" y="2247900"/>
            <a:ext cx="10668000" cy="533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762000" y="3009900"/>
            <a:ext cx="10731500" cy="1333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5250"/>
              </a:lnSpc>
              <a:defRPr/>
            </a:pPr>
            <a:r>
              <a:rPr lang="en-US" sz="42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系统架构与</a:t>
            </a:r>
            <a:endParaRPr lang="en-US" sz="1100"/>
          </a:p>
          <a:p>
            <a:pPr marL="0" indent="0" algn="l">
              <a:lnSpc>
                <a:spcPts val="5250"/>
              </a:lnSpc>
            </a:pPr>
            <a:r>
              <a:rPr lang="en-US" sz="42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核心技术</a:t>
            </a:r>
            <a:endParaRPr lang="en-US" sz="4200" b="1" i="0" u="none" strike="noStrike">
              <a:solidFill>
                <a:srgbClr val="F8FAFC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5319118">
            <a:off x="228563" y="5105437"/>
            <a:ext cx="107957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sq" cmpd="sng">
            <a:solidFill>
              <a:srgbClr val="E5E7EB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id="13" name="AutoShape 13"/>
          <p:cNvSpPr/>
          <p:nvPr/>
        </p:nvSpPr>
        <p:spPr>
          <a:xfrm>
            <a:off x="1028700" y="4572000"/>
            <a:ext cx="10414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全链路国产化，多智能体协作，AIGC驱动全流程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CBD5E1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项目采用分层解耦的微服务架构，基于沐曦MetaX GPU和灵枢Lingshu-32B医疗大模型，通过LangGraph实现多智能体高效协作，构建了从前端感知、智能分析到决策干预的全流程AIGC驱动解决方案，保障系统的高可用性与智能化迭代。</a:t>
            </a:r>
            <a:endParaRPr lang="en-US" sz="1500" b="0" i="0" u="none" strike="noStrike">
              <a:solidFill>
                <a:srgbClr val="CBD5E1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730">
                <a:alpha val="100000"/>
              </a:srgbClr>
            </a:gs>
            <a:gs pos="100000">
              <a:srgbClr val="14234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381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系统架构总览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3556000" cy="2286000"/>
          </a:xfrm>
          <a:prstGeom prst="roundRect">
            <a:avLst>
              <a:gd name="adj" fmla="val 0"/>
            </a:avLst>
          </a:prstGeom>
          <a:solidFill>
            <a:srgbClr val="1E3A8A">
              <a:alpha val="3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1587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06500" y="16002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前端交互可视化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98500" y="20955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Vue 3 + Vite 构建高性能交互层，打造沉浸式数据体验：</a:t>
            </a:r>
            <a:b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实时情绪监测与趋势仪表盘</a:t>
            </a:r>
            <a:b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AIGC 智能分析报告动态看板</a:t>
            </a:r>
            <a:b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分级风险预警与干预响应面板</a:t>
            </a:r>
            <a:b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多维度医疗数据可视化大屏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1397000"/>
            <a:ext cx="3556000" cy="2286000"/>
          </a:xfrm>
          <a:prstGeom prst="roundRect">
            <a:avLst>
              <a:gd name="adj" fmla="val 0"/>
            </a:avLst>
          </a:prstGeom>
          <a:solidFill>
            <a:srgbClr val="1E3A8A">
              <a:alpha val="30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1587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16500" y="16002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后端多智能体中枢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08500" y="20955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FastAPI + LangGraph 驱动的 Agent 协作网络：</a:t>
            </a:r>
            <a:b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协调智能体：任务调度与资源动态分配</a:t>
            </a:r>
            <a:b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感知/分析：数据清洗、特征提取与研判</a:t>
            </a:r>
            <a:b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报告智能体：生成个性化医疗评估报告</a:t>
            </a:r>
            <a:b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预警智能体：毫秒级风险识别与自动告警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397000"/>
            <a:ext cx="3556000" cy="2286000"/>
          </a:xfrm>
          <a:prstGeom prst="roundRect">
            <a:avLst>
              <a:gd name="adj" fmla="val 0"/>
            </a:avLst>
          </a:prstGeom>
          <a:solidFill>
            <a:srgbClr val="1E3A8A">
              <a:alpha val="3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587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26500" y="16002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国产化算力基座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20955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自主可控的高性能计算集群支持：</a:t>
            </a:r>
            <a:b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主算力：灵枢 Lingshu-32B 医疗大模型</a:t>
            </a:r>
            <a:b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硬件层：沐曦 MetaX GPU 本地化部署</a:t>
            </a:r>
            <a:b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容灾层：DeepSeek 国产模型自动 Failover</a:t>
            </a:r>
            <a:b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优势：低延迟推理，医疗垂直场景深度适配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8000" y="3937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核心技术引擎矩阵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08000" y="4572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FBBF2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4762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079500" y="4762500"/>
            <a:ext cx="292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BBF2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双模态感知融合引擎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98500" y="5207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融合面部微表情识别与 VibraImage 前庭振动分析技术，突破单一视觉模态的局限，实现对情绪状态、心理压力的精准量化捕捉与实时动态监测。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18000" y="4572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EC48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08500" y="4762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4889500" y="4762500"/>
            <a:ext cx="292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C48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医疗场景 AIGC 引擎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508500" y="5207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支持四大类医疗内容的自动化生成：临床分析报告、个性化干预方案、医患沟通函及康复叙事，生成内容高度贴合临床规范，辅助医生高效决策。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0" y="4572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8500" y="47625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699500" y="4762500"/>
            <a:ext cx="292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全渠道触达反馈引擎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318500" y="5207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 APP 推送、微信服务通知、短信、邮件、电话语音等 7+ 触达渠道，构建“监测-预警-干预”的闭环链路，确保关键信息即时触达。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8148" b="81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571500"/>
            <a:ext cx="4445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双模态无感知感知技术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079500"/>
            <a:ext cx="762000" cy="38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0" y="1282700"/>
            <a:ext cx="5981700" cy="1104900"/>
          </a:xfrm>
          <a:prstGeom prst="roundRect">
            <a:avLst>
              <a:gd name="adj" fmla="val 10344"/>
            </a:avLst>
          </a:prstGeom>
          <a:solidFill>
            <a:srgbClr val="0F1629">
              <a:alpha val="4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>
            <a:fillRect/>
          </a:stretch>
        </p:blipFill>
        <p:spPr>
          <a:xfrm>
            <a:off x="5359400" y="12954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5100" y="1485900"/>
            <a:ext cx="190500" cy="19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469900" y="1447800"/>
            <a:ext cx="54864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核心定位：非接触式情绪感知基座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5100" y="1752600"/>
            <a:ext cx="56769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855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作为系统前端核心层，依托普通教室摄像头无感部署，同步采集学生面部微表情动态与头部前庭振动信号，实现无侵扰、高隐蔽的心理状态数据采集，守护学生隐私安全。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2540000"/>
            <a:ext cx="5981700" cy="2654300"/>
          </a:xfrm>
          <a:prstGeom prst="roundRect">
            <a:avLst>
              <a:gd name="adj" fmla="val 4306"/>
            </a:avLst>
          </a:prstGeom>
          <a:solidFill>
            <a:srgbClr val="0F1629">
              <a:alpha val="4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65100" y="2743200"/>
            <a:ext cx="190500" cy="19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469900" y="2705100"/>
            <a:ext cx="54864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双模态感知技术路径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65100" y="3098800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00D4A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54000" y="3162300"/>
            <a:ext cx="139700" cy="19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584200" y="3086100"/>
            <a:ext cx="53721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01 面部微表情智能识别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84200" y="3365500"/>
            <a:ext cx="52578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6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采用YOLOv8n实现精准人脸定位，结合LBP-TOP算法提取时空纹理特征，引入通道注意力机制强化情绪关键特征、抑制环境噪声，精准捕捉细微肌肉运动背后的情绪倾向。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65100" y="4127500"/>
            <a:ext cx="304800" cy="304800"/>
          </a:xfrm>
          <a:prstGeom prst="roundRect">
            <a:avLst>
              <a:gd name="adj" fmla="val 100000"/>
            </a:avLst>
          </a:prstGeom>
          <a:solidFill>
            <a:srgbClr val="7C3AE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28600" y="4191000"/>
            <a:ext cx="177800" cy="19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584200" y="4114800"/>
            <a:ext cx="53721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02 前庭振动量化分析 (VibraImage)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84200" y="4394200"/>
            <a:ext cx="52578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6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基于VibraImage理论，通过摄像头捕捉头部微振动，提取12项情绪参数与优势频率、对称性等7维特征，经聚合系数K量化情绪强度，不受刻意伪装干扰，具备极高的真实性与抗干扰性。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0" y="5334000"/>
            <a:ext cx="5981700" cy="952500"/>
          </a:xfrm>
          <a:prstGeom prst="roundRect">
            <a:avLst>
              <a:gd name="adj" fmla="val 12000"/>
            </a:avLst>
          </a:prstGeom>
          <a:solidFill>
            <a:srgbClr val="0F162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2" name="Connector 22"/>
          <p:cNvCxnSpPr/>
          <p:nvPr/>
        </p:nvCxnSpPr>
        <p:spPr>
          <a:xfrm>
            <a:off x="0" y="5346700"/>
            <a:ext cx="598171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FFFFFF">
                <a:alpha val="5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3" name="Connector 23"/>
          <p:cNvCxnSpPr/>
          <p:nvPr/>
        </p:nvCxnSpPr>
        <p:spPr>
          <a:xfrm rot="5309542">
            <a:off x="5505409" y="5810292"/>
            <a:ext cx="96528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FFFFFF">
                <a:alpha val="5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4" name="Connector 24"/>
          <p:cNvCxnSpPr/>
          <p:nvPr/>
        </p:nvCxnSpPr>
        <p:spPr>
          <a:xfrm>
            <a:off x="0" y="6286500"/>
            <a:ext cx="598171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FFFFFF">
                <a:alpha val="5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5" name="Connector 25"/>
          <p:cNvCxnSpPr/>
          <p:nvPr/>
        </p:nvCxnSpPr>
        <p:spPr>
          <a:xfrm rot="5309542">
            <a:off x="-476291" y="5810292"/>
            <a:ext cx="96528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sq" cmpd="sng">
            <a:solidFill>
              <a:srgbClr val="7C3AED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pic>
        <p:nvPicPr>
          <p:cNvPr id="26" name="Picture 2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90500" y="5524500"/>
            <a:ext cx="2159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520700" y="5499100"/>
            <a:ext cx="54229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双模态融合与高鲁棒性输出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20700" y="5765800"/>
            <a:ext cx="53086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445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利用双通道注意力机制实现跨模态特征深度融合，构建多维度的情绪与心理状态表征模型，输出高鲁棒性的量化指标，为心理预警与干预提供精准、客观的数据支撑。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10300" y="1282700"/>
            <a:ext cx="5981700" cy="5016500"/>
          </a:xfrm>
          <a:prstGeom prst="roundRect">
            <a:avLst>
              <a:gd name="adj" fmla="val 1518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477000" y="1587500"/>
            <a:ext cx="546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技术核心优势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477000" y="2286000"/>
            <a:ext cx="5461000" cy="952500"/>
          </a:xfrm>
          <a:prstGeom prst="roundRect">
            <a:avLst>
              <a:gd name="adj" fmla="val 0"/>
            </a:avLst>
          </a:prstGeom>
          <a:solidFill>
            <a:srgbClr val="00D4A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604000" y="2387600"/>
            <a:ext cx="5207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无感化部署，隐私零侵扰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依托普通教室摄像头，无需佩戴任何设备，不采集面部图像原始数据，仅提取特征值，从源头保障学生隐私安全。</a:t>
            </a:r>
            <a:endParaRPr lang="en-US" sz="1200" b="0" i="0" u="none" strike="noStrike">
              <a:solidFill>
                <a:srgbClr val="CBD5E1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477000" y="3429000"/>
            <a:ext cx="5461000" cy="952500"/>
          </a:xfrm>
          <a:prstGeom prst="roundRect">
            <a:avLst>
              <a:gd name="adj" fmla="val 0"/>
            </a:avLst>
          </a:prstGeom>
          <a:solidFill>
            <a:srgbClr val="7C3AE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604000" y="3530600"/>
            <a:ext cx="5207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抗干扰强，识别更真实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前庭振动受自主意识控制弱，有效规避刻意情绪伪装；双模态交叉验证，大幅降低单模态识别的误判率，提升准确性。</a:t>
            </a:r>
            <a:endParaRPr lang="en-US" sz="1200" b="0" i="0" u="none" strike="noStrike">
              <a:solidFill>
                <a:srgbClr val="CBD5E1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477000" y="4572000"/>
            <a:ext cx="54610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604000" y="4673600"/>
            <a:ext cx="5207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全场景适配，低成本落地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兼容现有校园监控硬件，无需额外采购专业设备，算法轻量化设计，可在边缘端快速部署，降低校园心理监测建设成本。</a:t>
            </a:r>
            <a:endParaRPr lang="en-US" sz="1200" b="0" i="0" u="none" strike="noStrike">
              <a:solidFill>
                <a:srgbClr val="CBD5E1"/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6477000" y="5651500"/>
            <a:ext cx="546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“ 从行为信号到心理洞察，构建校园心理安全的隐形防线 ”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04800" y="228600"/>
            <a:ext cx="118491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LangGraph多智能体编排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4800" y="685800"/>
            <a:ext cx="762000" cy="38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4800" y="876300"/>
            <a:ext cx="190500" cy="19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71500" y="838200"/>
            <a:ext cx="64643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双环驱动架构：实时感知与深度分析的智能闭环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17500" y="1193800"/>
            <a:ext cx="3200400" cy="133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683000" y="1193800"/>
            <a:ext cx="3200400" cy="133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04800" y="2692400"/>
            <a:ext cx="215900" cy="19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596900" y="2654300"/>
            <a:ext cx="64389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模块化工具链：封装核心能力的智能积木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4800" y="2997200"/>
            <a:ext cx="6731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基于LangGraph状态机封装四大核心工具，构建“感知-推理-决策-交互”的完整智能工作流：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04800" y="3340100"/>
            <a:ext cx="50800" cy="50800"/>
          </a:xfrm>
          <a:prstGeom prst="roundRect">
            <a:avLst>
              <a:gd name="adj" fmla="val 90000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1800" y="3302000"/>
            <a:ext cx="31115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650"/>
              </a:lnSpc>
              <a:defRPr/>
            </a:pPr>
            <a:r>
              <a:rPr lang="en-US" sz="1200" b="1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多模态情绪识别：</a:t>
            </a:r>
            <a:r>
              <a:rPr lang="en-US" sz="1200" b="0" i="0" u="none" strike="noStrike">
                <a:solidFill>
                  <a:srgbClr val="CBD5E1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融合面部微表情与语音声学特征，基于预训练模型实现细粒度分类，输出多维情绪量化分值与置信度。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70300" y="3340100"/>
            <a:ext cx="50800" cy="50800"/>
          </a:xfrm>
          <a:prstGeom prst="roundRect">
            <a:avLst>
              <a:gd name="adj" fmla="val 90000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810000" y="3302000"/>
            <a:ext cx="31115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650"/>
              </a:lnSpc>
              <a:defRPr/>
            </a:pPr>
            <a:r>
              <a:rPr lang="en-US" sz="1200" b="1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时序心理健康分析：</a:t>
            </a:r>
            <a:r>
              <a:rPr lang="en-US" sz="1200" b="0" i="0" u="none" strike="noStrike">
                <a:solidFill>
                  <a:srgbClr val="CBD5E1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利用LSTM模型建模情绪变化趋势，计算稳定性与累积风险，对比个人动态基线生成红黄绿分级预警。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04800" y="4038600"/>
            <a:ext cx="50800" cy="50800"/>
          </a:xfrm>
          <a:prstGeom prst="roundRect">
            <a:avLst>
              <a:gd name="adj" fmla="val 90000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31800" y="4000500"/>
            <a:ext cx="31115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650"/>
              </a:lnSpc>
              <a:defRPr/>
            </a:pPr>
            <a:r>
              <a:rPr lang="en-US" sz="1200" b="1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数据持久化引擎：</a:t>
            </a:r>
            <a:r>
              <a:rPr lang="en-US" sz="1200" b="0" i="0" u="none" strike="noStrike">
                <a:solidFill>
                  <a:srgbClr val="CBD5E1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构建“关系型数据库+向量库”双层存储，支持情绪特征的快速检索与历史回溯，保障数据安全与隐私。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670300" y="4038600"/>
            <a:ext cx="50800" cy="50800"/>
          </a:xfrm>
          <a:prstGeom prst="roundRect">
            <a:avLst>
              <a:gd name="adj" fmla="val 90000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810000" y="4000500"/>
            <a:ext cx="31115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650"/>
              </a:lnSpc>
              <a:defRPr/>
            </a:pPr>
            <a:r>
              <a:rPr lang="en-US" sz="1200" b="1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多渠道反馈干预：</a:t>
            </a:r>
            <a:r>
              <a:rPr lang="en-US" sz="1200" b="0" i="0" u="none" strike="noStrike">
                <a:solidFill>
                  <a:srgbClr val="CBD5E1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联动校园通知与心理平台，自动生成干预工单，支持人工反馈标注，形成人机协同的闭环优化机制。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04800" y="4787900"/>
            <a:ext cx="177800" cy="19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558800" y="4749800"/>
            <a:ext cx="6477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核心技术优势：轻量化、可解释与自进化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04800" y="5105400"/>
            <a:ext cx="101600" cy="19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482600" y="5092700"/>
            <a:ext cx="19939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轻量化高适配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82600" y="5321300"/>
            <a:ext cx="1943100" cy="73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445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FastAPI+Vue3前后端分离，支持SSE流式通信，低资源占用，完美适配校园服务器与终端设备环境。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2540000" y="5105400"/>
            <a:ext cx="139700" cy="19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2755900" y="5092700"/>
            <a:ext cx="19685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决策透明可解释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755900" y="5321300"/>
            <a:ext cx="1917700" cy="73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445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预警附带情绪热力图与变化曲线，可视化展示推理逻辑，让评估过程透明可追溯，提升信任度。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775200" y="5105400"/>
            <a:ext cx="152400" cy="19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5003800" y="5092700"/>
            <a:ext cx="1943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反馈驱动自进化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003800" y="5321300"/>
            <a:ext cx="1905000" cy="73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445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基于教师反馈动态优化模型权重与基线，持续迭代个体画像与群体知识库，系统越用越精准。</a:t>
            </a:r>
            <a:endParaRPr lang="en-US" sz="11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1">
            <a:alphaModFix amt="20000"/>
          </a:blip>
          <a:srcRect/>
          <a:stretch>
            <a:fillRect/>
          </a:stretch>
        </p:blipFill>
        <p:spPr>
          <a:xfrm>
            <a:off x="7124700" y="838200"/>
            <a:ext cx="4775200" cy="5791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7124700" y="2387600"/>
            <a:ext cx="4775200" cy="2692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2019300"/>
            <a:ext cx="76200" cy="76200"/>
          </a:xfrm>
          <a:prstGeom prst="roundRect">
            <a:avLst>
              <a:gd name="adj" fmla="val 966666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16200000" algn="bl" rotWithShape="0">
              <a:srgbClr val="00D4AA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14400" y="2057400"/>
            <a:ext cx="457200" cy="12700"/>
          </a:xfrm>
          <a:prstGeom prst="roundRect">
            <a:avLst>
              <a:gd name="adj" fmla="val 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24000" y="1930400"/>
            <a:ext cx="28956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spc="400">
                <a:solidFill>
                  <a:srgbClr val="00D4AA">
                    <a:alpha val="90196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CORE &amp; OPEN SOURCE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501900"/>
            <a:ext cx="10934700" cy="673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核心功能与开源特性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259717">
            <a:off x="457137" y="3695765"/>
            <a:ext cx="62243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sq" cmpd="sng">
            <a:solidFill>
              <a:srgbClr val="7C3AE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28700" y="3390900"/>
            <a:ext cx="10414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2400"/>
              </a:lnSpc>
              <a:defRPr/>
            </a:pPr>
            <a:r>
              <a:rPr lang="en-US" sz="1500" b="0" i="0" u="none" strike="noStrike" spc="30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项目不仅具备高性能的技术内核与稳定的底层架构，更实现了产品级的功能界面与交互体验。同时严格遵循开源社区规范，提供完备的技术文档、标准的部署方案与活跃的社区支持，致力于打造可信赖、可扩展的开源协作生态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7625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FFF">
              <a:alpha val="0"/>
            </a:srgbClr>
          </a:solidFill>
          <a:ln w="12700" cap="flat" cmpd="sng">
            <a:solidFill>
              <a:srgbClr val="00D4A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01700" y="4864100"/>
            <a:ext cx="1905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1333500" y="4724400"/>
            <a:ext cx="3175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产品级交互体验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打磨精细化的功能界面，贴合用户操作习惯，兼顾专业性与易用性，大幅降低上手门槛。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635500" y="47625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FFF">
              <a:alpha val="0"/>
            </a:srgbClr>
          </a:solidFill>
          <a:ln w="12700" cap="flat" cmpd="sng">
            <a:solidFill>
              <a:srgbClr val="7C3AED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775200" y="4864100"/>
            <a:ext cx="1905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5207000" y="4724400"/>
            <a:ext cx="3175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A78BF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社区友好的开源生态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遵循Apache开源协议，文档详尽且结构清晰，支持开发者自由贡献、共建共享，快速融入社区。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122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  <a:effectLst>
            <a:outerShdw blurRad="292100" dist="50800" dir="16200000" algn="bl" rotWithShape="0">
              <a:srgbClr val="000000">
                <a:alpha val="5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81000" y="190500"/>
            <a:ext cx="116967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四大核心工具详解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736600"/>
            <a:ext cx="1219200" cy="12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381000" y="825500"/>
            <a:ext cx="116713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构建从感知、分析、存储到反馈的全链路学生心理健康智能监测预警体系，实现无感知、高精度与闭环干预。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" y="1143000"/>
            <a:ext cx="2717800" cy="5181600"/>
          </a:xfrm>
          <a:prstGeom prst="roundRect">
            <a:avLst>
              <a:gd name="adj" fmla="val 5607"/>
            </a:avLst>
          </a:prstGeom>
          <a:solidFill>
            <a:srgbClr val="0F1629">
              <a:alpha val="6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1358900"/>
            <a:ext cx="5207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584200" y="2032000"/>
            <a:ext cx="23876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1. 多模态情绪识别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84200" y="2336800"/>
            <a:ext cx="2311400" cy="279400"/>
          </a:xfrm>
          <a:prstGeom prst="roundRect">
            <a:avLst>
              <a:gd name="adj" fmla="val 68181"/>
            </a:avLst>
          </a:prstGeom>
          <a:solidFill>
            <a:srgbClr val="00D4A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84200" y="2336800"/>
            <a:ext cx="23749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14300" tIns="38100" rIns="1143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0D4AA"/>
                </a:solidFill>
                <a:latin typeface="Serif"/>
                <a:ea typeface="Serif"/>
                <a:cs typeface="Serif"/>
                <a:sym typeface="Serif"/>
              </a:rPr>
              <a:t>双模态融合感知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4200" y="2730500"/>
            <a:ext cx="2336800" cy="304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800"/>
              </a:lnSpc>
              <a:defRPr/>
            </a:pPr>
            <a:r>
              <a:rPr lang="en-US" sz="1200" b="0" i="0" u="none" strike="noStrike">
                <a:solidFill>
                  <a:srgbClr val="E2E8F0"/>
                </a:solidFill>
                <a:latin typeface="Serif"/>
                <a:ea typeface="Serif"/>
                <a:cs typeface="Serif"/>
                <a:sym typeface="Serif"/>
              </a:rPr>
              <a:t>融合面部微表情捕捉与前庭振动信号分析的双模态数据，引入双通道注意力机制进行特征加权融合，有效过滤环境干扰，实现对学生情绪状态的高精度、无感知实时识别与评估。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>
            <a:off x="584200" y="5842000"/>
            <a:ext cx="23114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7415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584200" y="5842000"/>
            <a:ext cx="23749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7620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Serif"/>
                <a:ea typeface="Serif"/>
                <a:cs typeface="Serif"/>
                <a:sym typeface="Serif"/>
              </a:rPr>
              <a:t>双通道注意力机制 + 多特征融合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289300" y="1054100"/>
            <a:ext cx="2717800" cy="5181600"/>
          </a:xfrm>
          <a:prstGeom prst="roundRect">
            <a:avLst>
              <a:gd name="adj" fmla="val 5607"/>
            </a:avLst>
          </a:prstGeom>
          <a:solidFill>
            <a:srgbClr val="0F1629">
              <a:alpha val="6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492500" y="1257300"/>
            <a:ext cx="5207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3492500" y="1930400"/>
            <a:ext cx="23876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2. 时序心理健康分析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492500" y="2235200"/>
            <a:ext cx="2311400" cy="279400"/>
          </a:xfrm>
          <a:prstGeom prst="roundRect">
            <a:avLst>
              <a:gd name="adj" fmla="val 68181"/>
            </a:avLst>
          </a:prstGeom>
          <a:solidFill>
            <a:srgbClr val="7C3AE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3492500" y="2235200"/>
            <a:ext cx="23749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14300" tIns="38100" rIns="1143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7C3AED"/>
                </a:solidFill>
                <a:latin typeface="Serif"/>
                <a:ea typeface="Serif"/>
                <a:cs typeface="Serif"/>
                <a:sym typeface="Serif"/>
              </a:rPr>
              <a:t>动态趋势与风险研判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492500" y="2628900"/>
            <a:ext cx="2336800" cy="304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800"/>
              </a:lnSpc>
              <a:defRPr/>
            </a:pPr>
            <a:r>
              <a:rPr lang="en-US" sz="1200" b="0" i="0" u="none" strike="noStrike">
                <a:solidFill>
                  <a:srgbClr val="E2E8F0"/>
                </a:solidFill>
                <a:latin typeface="Serif"/>
                <a:ea typeface="Serif"/>
                <a:cs typeface="Serif"/>
                <a:sym typeface="Serif"/>
              </a:rPr>
              <a:t>基于长期采集的时序情绪数据，量化计算情绪稳定性、负面累积度等12项关键指标。结合LSTM循环神经网络与注意力机制模型，深度挖掘心理状态的动态变化趋势，智能输出绿、黄、红三级风险评估结果。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>
            <a:off x="3492500" y="5753100"/>
            <a:ext cx="23114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7415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3492500" y="5740400"/>
            <a:ext cx="23749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7620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Serif"/>
                <a:ea typeface="Serif"/>
                <a:cs typeface="Serif"/>
                <a:sym typeface="Serif"/>
              </a:rPr>
              <a:t>LSTM时序模型 + 风险分级评估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197600" y="1143000"/>
            <a:ext cx="2717800" cy="5181600"/>
          </a:xfrm>
          <a:prstGeom prst="roundRect">
            <a:avLst>
              <a:gd name="adj" fmla="val 5607"/>
            </a:avLst>
          </a:prstGeom>
          <a:solidFill>
            <a:srgbClr val="0F1629">
              <a:alpha val="6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400800" y="1358900"/>
            <a:ext cx="5207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6388100" y="2032000"/>
            <a:ext cx="23876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3. 数据持久化工具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88100" y="2336800"/>
            <a:ext cx="2311400" cy="279400"/>
          </a:xfrm>
          <a:prstGeom prst="roundRect">
            <a:avLst>
              <a:gd name="adj" fmla="val 68181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388100" y="2336800"/>
            <a:ext cx="23749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14300" tIns="38100" rIns="1143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3B82F6"/>
                </a:solidFill>
                <a:latin typeface="Serif"/>
                <a:ea typeface="Serif"/>
                <a:cs typeface="Serif"/>
                <a:sym typeface="Serif"/>
              </a:rPr>
              <a:t>本地云端双重保障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88100" y="2730500"/>
            <a:ext cx="2336800" cy="304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800"/>
              </a:lnSpc>
              <a:defRPr/>
            </a:pPr>
            <a:r>
              <a:rPr lang="en-US" sz="1200" b="0" i="0" u="none" strike="noStrike">
                <a:solidFill>
                  <a:srgbClr val="E2E8F0"/>
                </a:solidFill>
                <a:latin typeface="Serif"/>
                <a:ea typeface="Serif"/>
                <a:cs typeface="Serif"/>
                <a:sym typeface="Serif"/>
              </a:rPr>
              <a:t>构建“本地+云端”双层存储架构：采用SQLite轻量级数据库实现本地数据实时落盘，同时通过华为云OBS进行加密同步备份。支持按“学校-班级-学生-时间”的层级化数据管理，保障数据安全、隐私合规与历史回溯。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>
            <a:off x="6388100" y="5842000"/>
            <a:ext cx="2324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7415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6388100" y="5842000"/>
            <a:ext cx="23749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7620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Serif"/>
                <a:ea typeface="Serif"/>
                <a:cs typeface="Serif"/>
                <a:sym typeface="Serif"/>
              </a:rPr>
              <a:t>SQLite本地存储 + 华为云OBS备份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093200" y="1054100"/>
            <a:ext cx="2717800" cy="5181600"/>
          </a:xfrm>
          <a:prstGeom prst="roundRect">
            <a:avLst>
              <a:gd name="adj" fmla="val 5607"/>
            </a:avLst>
          </a:prstGeom>
          <a:solidFill>
            <a:srgbClr val="0F1629">
              <a:alpha val="6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309100" y="1257300"/>
            <a:ext cx="520700" cy="52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4" name="AutoShape 34"/>
          <p:cNvSpPr/>
          <p:nvPr/>
        </p:nvSpPr>
        <p:spPr>
          <a:xfrm>
            <a:off x="9296400" y="1930400"/>
            <a:ext cx="23876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4. 多渠道反馈工具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296400" y="2235200"/>
            <a:ext cx="2311400" cy="279400"/>
          </a:xfrm>
          <a:prstGeom prst="roundRect">
            <a:avLst>
              <a:gd name="adj" fmla="val 68181"/>
            </a:avLst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296400" y="2235200"/>
            <a:ext cx="23749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14300" tIns="38100" rIns="1143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F59E0B"/>
                </a:solidFill>
                <a:latin typeface="Serif"/>
                <a:ea typeface="Serif"/>
                <a:cs typeface="Serif"/>
                <a:sym typeface="Serif"/>
              </a:rPr>
              <a:t>分级预警闭环干预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296400" y="2628900"/>
            <a:ext cx="2336800" cy="304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800"/>
              </a:lnSpc>
              <a:defRPr/>
            </a:pPr>
            <a:r>
              <a:rPr lang="en-US" sz="1200" b="0" i="0" u="none" strike="noStrike">
                <a:solidFill>
                  <a:srgbClr val="E2E8F0"/>
                </a:solidFill>
                <a:latin typeface="Serif"/>
                <a:ea typeface="Serif"/>
                <a:cs typeface="Serif"/>
                <a:sym typeface="Serif"/>
              </a:rPr>
              <a:t>基于风险等级实现差异化多端推送：绿色预警仅在管理看板可视化展示；黄色预警自动触达班主任进行重点关注与疏导；红色预警立即联动家长与心理教师，生成并派发紧急干预工单，形成家校医协同的闭环响应机制。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>
            <a:off x="9296400" y="5753100"/>
            <a:ext cx="23114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7415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9296400" y="5740400"/>
            <a:ext cx="23749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7620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Serif"/>
                <a:ea typeface="Serif"/>
                <a:cs typeface="Serif"/>
                <a:sym typeface="Serif"/>
              </a:rPr>
              <a:t>分级推送机制 + 家校医协同闭环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1B4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0" y="-1270000"/>
            <a:ext cx="5080000" cy="508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3810000"/>
            <a:ext cx="3810000" cy="3810000"/>
          </a:xfrm>
          <a:prstGeom prst="ellipse">
            <a:avLst/>
          </a:prstGeom>
          <a:solidFill>
            <a:srgbClr val="A855F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前端界面与交互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3556000" cy="3429000"/>
          </a:xfrm>
          <a:prstGeom prst="roundRect">
            <a:avLst>
              <a:gd name="adj" fmla="val 0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968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架构层：实时响应基座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762013" y="2597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62000" y="27940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Vue 3 与 FastAPI 构建前后端分离架构，结合 SSE 服务器推送技术，实现学生心理数据的毫秒级实时同步。无需手动刷新，即可动态更新状态，为教育工作者提供无延迟的决策支持。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18000" y="1651000"/>
            <a:ext cx="3556000" cy="3429000"/>
          </a:xfrm>
          <a:prstGeom prst="roundRect">
            <a:avLst>
              <a:gd name="adj" fmla="val 0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968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1968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可视化层：数据直观洞察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4572013" y="2597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72000" y="27940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通过情绪热力图直观呈现班级心理氛围，利用时序图追踪学生指标动态变化。将复杂的评估数据转化为可视化图表，让教师快速捕捉关键信息，实现从“看数据”到“懂状态”的高效转变。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556000" cy="3429000"/>
          </a:xfrm>
          <a:prstGeom prst="roundRect">
            <a:avLst>
              <a:gd name="adj" fmla="val 0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F43F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68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1968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43F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交互层：智能闭环干预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3">
            <a:off x="8382013" y="2597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382000" y="27940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建立绿/黄/红三级预警机制，触发分级响应流程。集成AIGC自动生成评估报告，支持一键调取干预方案，并提供家校沟通函智能生成功能，打通从预警发现到协同干预的全链路。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8000" y="5461000"/>
            <a:ext cx="11176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5651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设计愿景：</a:t>
            </a:r>
            <a:r>
              <a:rPr lang="en-US" sz="15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打造操作简便、决策透明的“AI心理助理”界面，打破信息壁垒，实现人机高效协同，让心理健康教育工作更智能、更精准。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5E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5E5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  <a:effectLst>
            <a:outerShdw blurRad="482600" dist="190500" dir="5400000" algn="b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81000" y="304800"/>
            <a:ext cx="7620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开源特性：社区友好，易于贡献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889000"/>
            <a:ext cx="762000" cy="38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381000" y="1320800"/>
            <a:ext cx="8458200" cy="1778000"/>
          </a:xfrm>
          <a:prstGeom prst="roundRect">
            <a:avLst>
              <a:gd name="adj" fmla="val 8571"/>
            </a:avLst>
          </a:prstGeom>
          <a:solidFill>
            <a:srgbClr val="0F162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8" name="Connector 8"/>
          <p:cNvCxnSpPr/>
          <p:nvPr/>
        </p:nvCxnSpPr>
        <p:spPr>
          <a:xfrm>
            <a:off x="381000" y="1320800"/>
            <a:ext cx="8458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FFFFFF">
                <a:alpha val="8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5350537">
            <a:off x="7962877" y="2197123"/>
            <a:ext cx="176534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FFFFFF">
                <a:alpha val="8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>
            <a:off x="381000" y="3086100"/>
            <a:ext cx="8458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FFFFFF">
                <a:alpha val="8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 rot="5350537">
            <a:off x="-495323" y="2197123"/>
            <a:ext cx="176534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sq" cmpd="sng">
            <a:solidFill>
              <a:srgbClr val="00D4AA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647700" y="1587500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00D4AA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701800"/>
            <a:ext cx="228600" cy="228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1257300" y="1549400"/>
            <a:ext cx="825500" cy="2667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D4AA">
                <a:alpha val="2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257300" y="1549400"/>
            <a:ext cx="8255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76200" tIns="38100" rIns="76200" bIns="38100" rtlCol="0" anchor="t" anchorCtr="0"/>
          <a:lstStyle/>
          <a:p>
            <a:pPr marL="0" indent="0" algn="l">
              <a:lnSpc>
                <a:spcPts val="1350"/>
              </a:lnSpc>
              <a:defRPr/>
            </a:pPr>
            <a:r>
              <a:rPr lang="en-US" sz="900" b="0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开源协议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57300" y="1892300"/>
            <a:ext cx="635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Apache 2.0 商业友好型开源许可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257300" y="2235200"/>
            <a:ext cx="2032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•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511300" y="2235200"/>
            <a:ext cx="6731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自由商用：</a:t>
            </a:r>
            <a:r>
              <a:rPr lang="en-US" sz="14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允许商业场景直接使用、修改及分发，无专利授权费用。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257300" y="2578100"/>
            <a:ext cx="2032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•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511300" y="2578100"/>
            <a:ext cx="6731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贡献友好：</a:t>
            </a:r>
            <a:r>
              <a:rPr lang="en-US" sz="14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明确版权归属，鼓励社区提交PR，共建开源技术生态。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81000" y="3314700"/>
            <a:ext cx="8458200" cy="1778000"/>
          </a:xfrm>
          <a:prstGeom prst="roundRect">
            <a:avLst>
              <a:gd name="adj" fmla="val 8571"/>
            </a:avLst>
          </a:prstGeom>
          <a:solidFill>
            <a:srgbClr val="0F162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2" name="Connector 22"/>
          <p:cNvCxnSpPr/>
          <p:nvPr/>
        </p:nvCxnSpPr>
        <p:spPr>
          <a:xfrm>
            <a:off x="381000" y="3327400"/>
            <a:ext cx="8458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FFFFFF">
                <a:alpha val="8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3" name="Connector 23"/>
          <p:cNvCxnSpPr/>
          <p:nvPr/>
        </p:nvCxnSpPr>
        <p:spPr>
          <a:xfrm rot="5350890">
            <a:off x="7956527" y="4197373"/>
            <a:ext cx="17780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FFFFFF">
                <a:alpha val="8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4" name="Connector 24"/>
          <p:cNvCxnSpPr/>
          <p:nvPr/>
        </p:nvCxnSpPr>
        <p:spPr>
          <a:xfrm>
            <a:off x="381000" y="5092700"/>
            <a:ext cx="8458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FFFFFF">
                <a:alpha val="8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5" name="Connector 25"/>
          <p:cNvCxnSpPr/>
          <p:nvPr/>
        </p:nvCxnSpPr>
        <p:spPr>
          <a:xfrm rot="5350890">
            <a:off x="-501673" y="4197373"/>
            <a:ext cx="17780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sq" cmpd="sng">
            <a:solidFill>
              <a:srgbClr val="7C3AED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id="26" name="AutoShape 26"/>
          <p:cNvSpPr/>
          <p:nvPr/>
        </p:nvSpPr>
        <p:spPr>
          <a:xfrm>
            <a:off x="647700" y="3594100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7C3AED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62000" y="3708400"/>
            <a:ext cx="228600" cy="228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8" name="AutoShape 28"/>
          <p:cNvSpPr/>
          <p:nvPr/>
        </p:nvSpPr>
        <p:spPr>
          <a:xfrm>
            <a:off x="1257300" y="3556000"/>
            <a:ext cx="825500" cy="2667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7C3AED">
                <a:alpha val="3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1257300" y="3556000"/>
            <a:ext cx="8255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76200" tIns="38100" rIns="76200" bIns="38100" rtlCol="0" anchor="t" anchorCtr="0"/>
          <a:lstStyle/>
          <a:p>
            <a:pPr marL="0" indent="0" algn="l">
              <a:lnSpc>
                <a:spcPts val="1350"/>
              </a:lnSpc>
              <a:defRPr/>
            </a:pPr>
            <a:r>
              <a:rPr lang="en-US" sz="900" b="0" i="0" u="none" strike="noStrike">
                <a:solidFill>
                  <a:srgbClr val="7C3AED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文档体系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257300" y="3898900"/>
            <a:ext cx="635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全链路文档覆盖与交互式API支持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257300" y="4241800"/>
            <a:ext cx="2032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C3AED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•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511300" y="4241800"/>
            <a:ext cx="6731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详尽指引：</a:t>
            </a:r>
            <a:r>
              <a:rPr lang="en-US" sz="14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提供README快速上手指南、架构设计文档及开发规范说明。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257300" y="4584700"/>
            <a:ext cx="2032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C3AED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•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511300" y="4584700"/>
            <a:ext cx="6731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在线调试：</a:t>
            </a:r>
            <a:r>
              <a:rPr lang="en-US" sz="14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集成中文Swagger UI，支持接口可视化查阅与实时调用测试。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381000" y="5321300"/>
            <a:ext cx="8458200" cy="1778000"/>
          </a:xfrm>
          <a:prstGeom prst="roundRect">
            <a:avLst>
              <a:gd name="adj" fmla="val 8571"/>
            </a:avLst>
          </a:prstGeom>
          <a:solidFill>
            <a:srgbClr val="0F162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6" name="Connector 36"/>
          <p:cNvCxnSpPr/>
          <p:nvPr/>
        </p:nvCxnSpPr>
        <p:spPr>
          <a:xfrm>
            <a:off x="381000" y="5334000"/>
            <a:ext cx="8458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FFFFFF">
                <a:alpha val="8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7" name="Connector 37"/>
          <p:cNvCxnSpPr/>
          <p:nvPr/>
        </p:nvCxnSpPr>
        <p:spPr>
          <a:xfrm rot="5350890">
            <a:off x="7956527" y="6203973"/>
            <a:ext cx="17780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FFFFFF">
                <a:alpha val="8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8" name="Connector 38"/>
          <p:cNvCxnSpPr/>
          <p:nvPr/>
        </p:nvCxnSpPr>
        <p:spPr>
          <a:xfrm>
            <a:off x="381000" y="7099300"/>
            <a:ext cx="8458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FFFFFF">
                <a:alpha val="8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9" name="Connector 39"/>
          <p:cNvCxnSpPr/>
          <p:nvPr/>
        </p:nvCxnSpPr>
        <p:spPr>
          <a:xfrm rot="5350890">
            <a:off x="-501673" y="6203973"/>
            <a:ext cx="17780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sq" cmpd="sng">
            <a:solidFill>
              <a:srgbClr val="3B82F6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id="40" name="AutoShape 40"/>
          <p:cNvSpPr/>
          <p:nvPr/>
        </p:nvSpPr>
        <p:spPr>
          <a:xfrm>
            <a:off x="647700" y="5600700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3B82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62000" y="5715000"/>
            <a:ext cx="228600" cy="228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2" name="AutoShape 42"/>
          <p:cNvSpPr/>
          <p:nvPr/>
        </p:nvSpPr>
        <p:spPr>
          <a:xfrm>
            <a:off x="1257300" y="5562600"/>
            <a:ext cx="825500" cy="2667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1257300" y="5562600"/>
            <a:ext cx="8255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76200" tIns="38100" rIns="76200" bIns="38100" rtlCol="0" anchor="t" anchorCtr="0"/>
          <a:lstStyle/>
          <a:p>
            <a:pPr marL="0" indent="0" algn="l">
              <a:lnSpc>
                <a:spcPts val="1350"/>
              </a:lnSpc>
              <a:defRPr/>
            </a:pPr>
            <a:r>
              <a:rPr lang="en-US" sz="900" b="0" i="0" u="none" strike="noStrike">
                <a:solidFill>
                  <a:srgbClr val="3B82F6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质量与部署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1257300" y="5905500"/>
            <a:ext cx="635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高保障代码质量与极速部署方案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1257300" y="6248400"/>
            <a:ext cx="673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采用模块化设计保证代码可维护性，配备56项单元测试覆盖核心逻辑；支持本地开发环境一键搭建，提供Docker容器化部署方案，大幅降低运维与环境配置成本。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9144000" y="1231900"/>
            <a:ext cx="2667000" cy="5930900"/>
          </a:xfrm>
          <a:prstGeom prst="roundRect">
            <a:avLst>
              <a:gd name="adj" fmla="val 7142"/>
            </a:avLst>
          </a:prstGeom>
          <a:solidFill>
            <a:srgbClr val="0F1629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miter lim="10000000"/>
          </a:ln>
          <a:effectLst>
            <a:outerShdw blurRad="292100" dist="101600" dir="5400000" algn="bl" rotWithShape="0">
              <a:srgbClr val="002B36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10248900" y="28067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363200" y="2921000"/>
            <a:ext cx="228600" cy="228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9" name="AutoShape 49"/>
          <p:cNvSpPr/>
          <p:nvPr/>
        </p:nvSpPr>
        <p:spPr>
          <a:xfrm>
            <a:off x="9525000" y="3492500"/>
            <a:ext cx="19050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900" b="0" i="0" u="none" strike="noStrike" spc="200">
                <a:solidFill>
                  <a:srgbClr val="FFFFFF">
                    <a:alpha val="60000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CORE VALUE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9525000" y="3683000"/>
            <a:ext cx="19050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开源优势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10325100" y="4254500"/>
            <a:ext cx="304800" cy="254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AutoShape 52"/>
          <p:cNvSpPr/>
          <p:nvPr/>
        </p:nvSpPr>
        <p:spPr>
          <a:xfrm>
            <a:off x="9525000" y="4495800"/>
            <a:ext cx="1905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 spc="30">
                <a:solidFill>
                  <a:srgbClr val="FFFFFF">
                    <a:alpha val="90196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协议开放灵活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9525000" y="4914900"/>
            <a:ext cx="1905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 spc="30">
                <a:solidFill>
                  <a:srgbClr val="FFFFFF">
                    <a:alpha val="90196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接入简单便捷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9525000" y="5334000"/>
            <a:ext cx="1905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 spc="30">
                <a:solidFill>
                  <a:srgbClr val="FFFFFF">
                    <a:alpha val="90196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持续迭代优化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9334500" y="6794500"/>
            <a:ext cx="22860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800" b="0" i="0" u="none" strike="noStrike" spc="200">
                <a:solidFill>
                  <a:srgbClr val="FFFFFF">
                    <a:alpha val="30196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OPEN SOURCE ECOSYSTEM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-1159"/>
          <a:stretch>
            <a:fillRect/>
          </a:stretch>
        </p:blipFill>
        <p:spPr>
          <a:xfrm>
            <a:off x="-304800" y="-16510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62000" y="4394200"/>
            <a:ext cx="457200" cy="457200"/>
          </a:xfrm>
          <a:prstGeom prst="roundRect">
            <a:avLst>
              <a:gd name="adj" fmla="val 100000"/>
            </a:avLst>
          </a:prstGeom>
          <a:noFill/>
          <a:ln w="12700" cap="flat" cmpd="sng">
            <a:solidFill>
              <a:srgbClr val="00D4AA">
                <a:alpha val="84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80000"/>
          </a:blip>
          <a:srcRect/>
          <a:stretch>
            <a:fillRect/>
          </a:stretch>
        </p:blipFill>
        <p:spPr>
          <a:xfrm>
            <a:off x="774700" y="4406900"/>
            <a:ext cx="444500" cy="444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01700" y="4495800"/>
            <a:ext cx="1905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524000" y="4394200"/>
            <a:ext cx="457200" cy="457200"/>
          </a:xfrm>
          <a:prstGeom prst="roundRect">
            <a:avLst>
              <a:gd name="adj" fmla="val 100000"/>
            </a:avLst>
          </a:prstGeom>
          <a:noFill/>
          <a:ln w="12700" cap="flat" cmpd="sng">
            <a:solidFill>
              <a:srgbClr val="7C3AED">
                <a:alpha val="84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80000"/>
          </a:blip>
          <a:srcRect/>
          <a:stretch>
            <a:fillRect/>
          </a:stretch>
        </p:blipFill>
        <p:spPr>
          <a:xfrm>
            <a:off x="1536700" y="4406900"/>
            <a:ext cx="444500" cy="444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638300" y="4495800"/>
            <a:ext cx="2413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2286000" y="4394200"/>
            <a:ext cx="457200" cy="457200"/>
          </a:xfrm>
          <a:prstGeom prst="roundRect">
            <a:avLst>
              <a:gd name="adj" fmla="val 100000"/>
            </a:avLst>
          </a:prstGeom>
          <a:noFill/>
          <a:ln w="12700" cap="flat" cmpd="sng">
            <a:solidFill>
              <a:srgbClr val="00D4AA">
                <a:alpha val="84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alphaModFix amt="80000"/>
          </a:blip>
          <a:srcRect/>
          <a:stretch>
            <a:fillRect/>
          </a:stretch>
        </p:blipFill>
        <p:spPr>
          <a:xfrm>
            <a:off x="2298700" y="4406900"/>
            <a:ext cx="444500" cy="444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425700" y="4495800"/>
            <a:ext cx="1905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62000" y="2095500"/>
            <a:ext cx="76200" cy="76200"/>
          </a:xfrm>
          <a:prstGeom prst="roundRect">
            <a:avLst>
              <a:gd name="adj" fmla="val 966666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14400" y="2133600"/>
            <a:ext cx="457200" cy="12700"/>
          </a:xfrm>
          <a:prstGeom prst="roundRect">
            <a:avLst>
              <a:gd name="adj" fmla="val 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524000" y="2006600"/>
            <a:ext cx="41656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spc="400">
                <a:solidFill>
                  <a:srgbClr val="00D4AA">
                    <a:alpha val="90196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PROJECT PROGRESS &amp; OUTLOOK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2578100"/>
            <a:ext cx="10934700" cy="673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项目进展与未来展望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259717">
            <a:off x="457137" y="3771965"/>
            <a:ext cx="62243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sq" cmpd="sng">
            <a:solidFill>
              <a:srgbClr val="00D4A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1028700" y="3467100"/>
            <a:ext cx="10414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 spc="30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项目已完成核心架构搭建与关键数据基础构建，为后续开发与模型训练奠定坚实基础。未来将聚焦算法优化与场景拓展，从技术融合、系统建设到规模化落地稳步推进，构建更智能的应用体系。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080000"/>
            <a:ext cx="3378200" cy="1270000"/>
          </a:xfrm>
          <a:prstGeom prst="roundRect">
            <a:avLst>
              <a:gd name="adj" fmla="val 0"/>
            </a:avLst>
          </a:prstGeom>
          <a:solidFill>
            <a:srgbClr val="00D4A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89000" y="5181600"/>
            <a:ext cx="3175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01 模型攻坚与融合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持续迭代多模态融合算法，优化模型架构与参数，提升核心指标精度，夯实技术壁垒，确保系统智能性与领先性。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394200" y="5080000"/>
            <a:ext cx="3378200" cy="1270000"/>
          </a:xfrm>
          <a:prstGeom prst="roundRect">
            <a:avLst>
              <a:gd name="adj" fmla="val 0"/>
            </a:avLst>
          </a:prstGeom>
          <a:solidFill>
            <a:srgbClr val="7C3AE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4521200" y="5181600"/>
            <a:ext cx="3175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7C3AED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02 系统开发与试点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推进功能模块开发与联调测试，在真实场景开展试点应用，收集反馈并快速迭代，保障系统稳定性与实用性。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026400" y="5080000"/>
            <a:ext cx="3378200" cy="1270000"/>
          </a:xfrm>
          <a:prstGeom prst="roundRect">
            <a:avLst>
              <a:gd name="adj" fmla="val 0"/>
            </a:avLst>
          </a:prstGeom>
          <a:solidFill>
            <a:srgbClr val="00D4A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153400" y="5181600"/>
            <a:ext cx="3175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03 成果推广与体系化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总结试点经验形成标准化成果，构建完整服务体系，面向多领域进行规模化推广，实现技术价值的落地转化。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16200000" algn="b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774700"/>
            <a:ext cx="1219200" cy="6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81000" y="190500"/>
            <a:ext cx="32639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 spc="60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已取得的阶段性成果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1054100"/>
            <a:ext cx="87376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7620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完成系统核心架构搭建与关键数据基础构建，为后续深度开发与模型训练奠定坚实基础。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1000" y="1600200"/>
            <a:ext cx="7315200" cy="2349500"/>
          </a:xfrm>
          <a:prstGeom prst="roundRect">
            <a:avLst>
              <a:gd name="adj" fmla="val 6486"/>
            </a:avLst>
          </a:prstGeom>
          <a:solidFill>
            <a:srgbClr val="0F1629">
              <a:alpha val="7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22300" y="1866900"/>
            <a:ext cx="76200" cy="228600"/>
          </a:xfrm>
          <a:prstGeom prst="roundRect">
            <a:avLst>
              <a:gd name="adj" fmla="val 10000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12800" y="1828800"/>
            <a:ext cx="14224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核心架构搭建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" y="2349500"/>
            <a:ext cx="63500" cy="63500"/>
          </a:xfrm>
          <a:prstGeom prst="roundRect">
            <a:avLst>
              <a:gd name="adj" fmla="val 10000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" y="2349500"/>
            <a:ext cx="76200" cy="63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87400" y="2286000"/>
            <a:ext cx="6604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智能体架构确立：</a:t>
            </a:r>
            <a:r>
              <a:rPr lang="en-US" sz="1400" b="0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构建了基于LangGraph的双环驱动Agent核心架构体系。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" y="2730500"/>
            <a:ext cx="63500" cy="63500"/>
          </a:xfrm>
          <a:prstGeom prst="roundRect">
            <a:avLst>
              <a:gd name="adj" fmla="val 10000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" y="2730500"/>
            <a:ext cx="76200" cy="63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87400" y="2667000"/>
            <a:ext cx="6604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闭环流程设计：</a:t>
            </a:r>
            <a:r>
              <a:rPr lang="en-US" sz="1400" b="0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完成内环实时感知与外环深度分析的双环状态机逻辑闭环。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" y="3111500"/>
            <a:ext cx="63500" cy="63500"/>
          </a:xfrm>
          <a:prstGeom prst="roundRect">
            <a:avLst>
              <a:gd name="adj" fmla="val 10000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2300" y="3111500"/>
            <a:ext cx="76200" cy="63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87400" y="3048000"/>
            <a:ext cx="6604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技术可行性验证：</a:t>
            </a:r>
            <a:r>
              <a:rPr lang="en-US" sz="1400" b="0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验证多模态数据在Agent工作流中高效流转与处理的可行性。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1000" y="4127500"/>
            <a:ext cx="7315200" cy="2349500"/>
          </a:xfrm>
          <a:prstGeom prst="roundRect">
            <a:avLst>
              <a:gd name="adj" fmla="val 6486"/>
            </a:avLst>
          </a:prstGeom>
          <a:solidFill>
            <a:srgbClr val="0F1629">
              <a:alpha val="7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2300" y="4406900"/>
            <a:ext cx="76200" cy="228600"/>
          </a:xfrm>
          <a:prstGeom prst="roundRect">
            <a:avLst>
              <a:gd name="adj" fmla="val 100000"/>
            </a:avLst>
          </a:prstGeom>
          <a:solidFill>
            <a:srgbClr val="7C3A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12800" y="4368800"/>
            <a:ext cx="14224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数据基础构建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" y="4889500"/>
            <a:ext cx="63500" cy="63500"/>
          </a:xfrm>
          <a:prstGeom prst="roundRect">
            <a:avLst>
              <a:gd name="adj" fmla="val 100000"/>
            </a:avLst>
          </a:prstGeom>
          <a:solidFill>
            <a:srgbClr val="7C3A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2300" y="4889500"/>
            <a:ext cx="76200" cy="63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87400" y="4826000"/>
            <a:ext cx="6604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7C3AED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特征数据预处理：</a:t>
            </a:r>
            <a:r>
              <a:rPr lang="en-US" sz="1400" b="0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从DFEW等权威数据集提取并完成前庭振动特征的清洗与标注。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" y="5270500"/>
            <a:ext cx="63500" cy="63500"/>
          </a:xfrm>
          <a:prstGeom prst="roundRect">
            <a:avLst>
              <a:gd name="adj" fmla="val 100000"/>
            </a:avLst>
          </a:prstGeom>
          <a:solidFill>
            <a:srgbClr val="7C3A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22300" y="5270500"/>
            <a:ext cx="76200" cy="63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87400" y="5207000"/>
            <a:ext cx="6604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7C3AED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心理参数映射：</a:t>
            </a:r>
            <a:r>
              <a:rPr lang="en-US" sz="1400" b="0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建立前庭振动特征与焦虑、抑郁等十二项核心心理参数的映射。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" y="5651500"/>
            <a:ext cx="63500" cy="63500"/>
          </a:xfrm>
          <a:prstGeom prst="roundRect">
            <a:avLst>
              <a:gd name="adj" fmla="val 100000"/>
            </a:avLst>
          </a:prstGeom>
          <a:solidFill>
            <a:srgbClr val="7C3A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22300" y="5651500"/>
            <a:ext cx="76200" cy="63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87400" y="5588000"/>
            <a:ext cx="6604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7C3AED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数据集初步形成：</a:t>
            </a:r>
            <a:r>
              <a:rPr lang="en-US" sz="1400" b="0" i="0" u="none" strike="noStrike">
                <a:solidFill>
                  <a:srgbClr val="E2E8F0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构建了用于双模态融合模型训练的初步心理状态特征数据集。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001000" y="1600200"/>
            <a:ext cx="3810000" cy="4876800"/>
          </a:xfrm>
          <a:prstGeom prst="roundRect">
            <a:avLst>
              <a:gd name="adj" fmla="val 4000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204200" y="2349500"/>
            <a:ext cx="34163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D4AA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成果总览</a:t>
            </a:r>
            <a:endParaRPr lang="en-US" sz="1100"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42300" y="2844800"/>
            <a:ext cx="3340100" cy="2044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34" name="Connector 34"/>
          <p:cNvCxnSpPr/>
          <p:nvPr/>
        </p:nvCxnSpPr>
        <p:spPr>
          <a:xfrm>
            <a:off x="8242300" y="5130800"/>
            <a:ext cx="332742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FFFFFF">
                <a:alpha val="1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8242300" y="5283200"/>
            <a:ext cx="3352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核心价值：</a:t>
            </a: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确立了无感知监测的智能核心框架，打通了生理特征到心理状态的映射路径，为模型训练和系统的实际应用提供了不可或缺的技术与数据基石。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298700" y="4762500"/>
            <a:ext cx="177800" cy="177800"/>
          </a:xfrm>
          <a:prstGeom prst="roundRect">
            <a:avLst>
              <a:gd name="adj" fmla="val 64285"/>
            </a:avLst>
          </a:prstGeom>
          <a:solidFill>
            <a:srgbClr val="00D4AA">
              <a:alpha val="100000"/>
            </a:srgbClr>
          </a:solidFill>
          <a:ln w="12700" cap="flat" cmpd="sng">
            <a:solidFill>
              <a:srgbClr val="0F162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07100" y="2679700"/>
            <a:ext cx="177800" cy="177800"/>
          </a:xfrm>
          <a:prstGeom prst="roundRect">
            <a:avLst>
              <a:gd name="adj" fmla="val 64285"/>
            </a:avLst>
          </a:prstGeom>
          <a:solidFill>
            <a:srgbClr val="7C3AED">
              <a:alpha val="100000"/>
            </a:srgbClr>
          </a:solidFill>
          <a:ln w="12700" cap="flat" cmpd="sng">
            <a:solidFill>
              <a:srgbClr val="0F162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715500" y="5092700"/>
            <a:ext cx="177800" cy="177800"/>
          </a:xfrm>
          <a:prstGeom prst="roundRect">
            <a:avLst>
              <a:gd name="adj" fmla="val 64285"/>
            </a:avLst>
          </a:prstGeom>
          <a:solidFill>
            <a:srgbClr val="00D4AA">
              <a:alpha val="100000"/>
            </a:srgbClr>
          </a:solidFill>
          <a:ln w="12700" cap="flat" cmpd="sng">
            <a:solidFill>
              <a:srgbClr val="0F162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381000" y="3797300"/>
            <a:ext cx="11430000" cy="25400"/>
          </a:xfrm>
          <a:prstGeom prst="roundRect">
            <a:avLst>
              <a:gd name="adj" fmla="val 100000"/>
            </a:avLst>
          </a:prstGeom>
          <a:solidFill>
            <a:srgbClr val="4B55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85800" y="1143000"/>
            <a:ext cx="3403600" cy="2717800"/>
          </a:xfrm>
          <a:prstGeom prst="roundRect">
            <a:avLst>
              <a:gd name="adj" fmla="val 4205"/>
            </a:avLst>
          </a:prstGeom>
          <a:solidFill>
            <a:srgbClr val="161E2E">
              <a:alpha val="7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50900" y="1346200"/>
            <a:ext cx="30861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模型攻坚与融合期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63600" y="1714500"/>
            <a:ext cx="3086100" cy="190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 spc="20">
                <a:solidFill>
                  <a:srgbClr val="00D4AA"/>
                </a:solidFill>
                <a:latin typeface="Monaco"/>
                <a:ea typeface="Monaco"/>
                <a:cs typeface="Monaco"/>
                <a:sym typeface="Monaco"/>
              </a:rPr>
              <a:t>2026.06 - 2026.08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2019300"/>
            <a:ext cx="3022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9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•</a:t>
            </a:r>
            <a:r>
              <a:rPr lang="en-US" sz="1200" b="0" i="0" u="none" strike="noStrike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核心任务：</a:t>
            </a: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深度优化微表情与前庭振动识别模型，提升特征提取精度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9000" y="2590800"/>
            <a:ext cx="3022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9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•</a:t>
            </a:r>
            <a:r>
              <a:rPr lang="en-US" sz="1200" b="0" i="0" u="none" strike="noStrike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关键产出：</a:t>
            </a: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构建双层注意力机制双模态融合模型，完成实验室效果验证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3162300"/>
            <a:ext cx="3022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9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• 完成模型参数调优与数据集扩充，实现基础功能闭环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>
            <a:fillRect/>
          </a:stretch>
        </p:blipFill>
        <p:spPr>
          <a:xfrm>
            <a:off x="2374900" y="3937000"/>
            <a:ext cx="254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1917700" y="5461000"/>
            <a:ext cx="9906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00" b="1" i="0" u="none" strike="noStrike" spc="200">
                <a:solidFill>
                  <a:srgbClr val="00D4AA">
                    <a:alpha val="90196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阶段一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626100" y="1816100"/>
            <a:ext cx="9906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00" b="1" i="0" u="none" strike="noStrike" spc="200">
                <a:solidFill>
                  <a:srgbClr val="7C3AED">
                    <a:alpha val="90196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阶段二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alphaModFix amt="40000"/>
          </a:blip>
          <a:srcRect/>
          <a:stretch>
            <a:fillRect/>
          </a:stretch>
        </p:blipFill>
        <p:spPr>
          <a:xfrm>
            <a:off x="6083300" y="3378200"/>
            <a:ext cx="254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4394200" y="3759200"/>
            <a:ext cx="3403600" cy="2717800"/>
          </a:xfrm>
          <a:prstGeom prst="roundRect">
            <a:avLst>
              <a:gd name="adj" fmla="val 4205"/>
            </a:avLst>
          </a:prstGeom>
          <a:solidFill>
            <a:srgbClr val="161E2E">
              <a:alpha val="7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559300" y="3949700"/>
            <a:ext cx="30861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系统开发与测试期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559300" y="4330700"/>
            <a:ext cx="3086100" cy="190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 spc="20">
                <a:solidFill>
                  <a:srgbClr val="7C3AED"/>
                </a:solidFill>
                <a:latin typeface="Monaco"/>
                <a:ea typeface="Monaco"/>
                <a:cs typeface="Monaco"/>
                <a:sym typeface="Monaco"/>
              </a:rPr>
              <a:t>2026.09 - 2026.12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97400" y="4635500"/>
            <a:ext cx="3022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9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•</a:t>
            </a:r>
            <a:r>
              <a:rPr lang="en-US" sz="1200" b="0" i="0" u="none" strike="noStrike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核心任务：</a:t>
            </a: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智能体全流程闭环集成，开展软硬件联调与性能专项优化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97400" y="5207000"/>
            <a:ext cx="3022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9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•</a:t>
            </a:r>
            <a:r>
              <a:rPr lang="en-US" sz="1200" b="0" i="0" u="none" strike="noStrike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关键产出：</a:t>
            </a: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完成1-2所学校真实课堂的小规模试点，采集场景化运行数据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97400" y="5778500"/>
            <a:ext cx="3022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9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• 验证系统在复杂课堂环境下的稳定性与人机协同效果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02600" y="1143000"/>
            <a:ext cx="3403600" cy="3048000"/>
          </a:xfrm>
          <a:prstGeom prst="roundRect">
            <a:avLst>
              <a:gd name="adj" fmla="val 3750"/>
            </a:avLst>
          </a:prstGeom>
          <a:solidFill>
            <a:srgbClr val="161E2E">
              <a:alpha val="7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267700" y="1346200"/>
            <a:ext cx="30861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成果完善与推广期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67700" y="1714500"/>
            <a:ext cx="3086100" cy="190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 spc="20">
                <a:solidFill>
                  <a:srgbClr val="00D4AA"/>
                </a:solidFill>
                <a:latin typeface="Monaco"/>
                <a:ea typeface="Monaco"/>
                <a:cs typeface="Monaco"/>
                <a:sym typeface="Monaco"/>
              </a:rPr>
              <a:t>2027.01 - 2027.06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05800" y="2019300"/>
            <a:ext cx="3022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9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•</a:t>
            </a:r>
            <a:r>
              <a:rPr lang="en-US" sz="1200" b="0" i="0" u="none" strike="noStrike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核心任务：</a:t>
            </a: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基于试点反馈迭代系统，梳理成果体系并推进规模化应用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305800" y="2590800"/>
            <a:ext cx="3022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9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•</a:t>
            </a:r>
            <a:r>
              <a:rPr lang="en-US" sz="1200" b="0" i="0" u="none" strike="noStrike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技术成果：</a:t>
            </a: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产出系统技术手册、部署指南与标准化应用实施方案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305800" y="3162300"/>
            <a:ext cx="3022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195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•</a:t>
            </a:r>
            <a:r>
              <a:rPr lang="en-US" sz="1200" b="0" i="0" u="none" strike="noStrike">
                <a:solidFill>
                  <a:srgbClr val="FFFFFF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学术成果：</a:t>
            </a: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发表轻量化心理监测Agent相关SCI/SSCI学术论文1-2篇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305800" y="3733800"/>
            <a:ext cx="30861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• 制定可复制的推广方案，完成项目验收与成果转化</a:t>
            </a:r>
            <a:endParaRPr lang="en-US" sz="11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>
            <a:fillRect/>
          </a:stretch>
        </p:blipFill>
        <p:spPr>
          <a:xfrm>
            <a:off x="9791700" y="4267200"/>
            <a:ext cx="254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2" name="AutoShape 32"/>
          <p:cNvSpPr/>
          <p:nvPr/>
        </p:nvSpPr>
        <p:spPr>
          <a:xfrm>
            <a:off x="9334500" y="5791200"/>
            <a:ext cx="9906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00" b="1" i="0" u="none" strike="noStrike" spc="200">
                <a:solidFill>
                  <a:srgbClr val="00D4AA">
                    <a:alpha val="90196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阶段三</a:t>
            </a:r>
            <a:endParaRPr lang="en-US" sz="1100"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5">
            <a:alphaModFix amt="40000"/>
          </a:blip>
          <a:srcRect/>
          <a:stretch>
            <a:fillRect/>
          </a:stretch>
        </p:blipFill>
        <p:spPr>
          <a:xfrm>
            <a:off x="0" y="6819900"/>
            <a:ext cx="12192000" cy="38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133600" y="4610100"/>
            <a:ext cx="495300" cy="495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842000" y="2514600"/>
            <a:ext cx="495300" cy="495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550400" y="4927600"/>
            <a:ext cx="495300" cy="495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7" name="AutoShape 37"/>
          <p:cNvSpPr/>
          <p:nvPr/>
        </p:nvSpPr>
        <p:spPr>
          <a:xfrm>
            <a:off x="381000" y="266700"/>
            <a:ext cx="44450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后续研究计划与预期成果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-946"/>
          <a:stretch>
            <a:fillRect/>
          </a:stretch>
        </p:blipFill>
        <p:spPr>
          <a:xfrm>
            <a:off x="-304800" y="-16510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3125" r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143000" y="2197100"/>
            <a:ext cx="76200" cy="76200"/>
          </a:xfrm>
          <a:prstGeom prst="roundRect">
            <a:avLst>
              <a:gd name="adj" fmla="val 966666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95400" y="2222500"/>
            <a:ext cx="457200" cy="12700"/>
          </a:xfrm>
          <a:prstGeom prst="roundRect">
            <a:avLst>
              <a:gd name="adj" fmla="val 0"/>
            </a:avLst>
          </a:prstGeom>
          <a:solidFill>
            <a:srgbClr val="00D4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905000" y="2095500"/>
            <a:ext cx="44958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spc="400">
                <a:solidFill>
                  <a:srgbClr val="00D4AA">
                    <a:alpha val="90196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AIGC INTELLIGENT AGENT PLATFORM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2667000"/>
            <a:ext cx="99568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ts val="5000"/>
              </a:lnSpc>
              <a:defRPr/>
            </a:pPr>
            <a:r>
              <a:rPr lang="en-US" sz="3800" b="1" i="0" u="none" strike="noStrike">
                <a:solidFill>
                  <a:srgbClr val="F8FAFC"/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感谢聆听</a:t>
            </a:r>
            <a:endParaRPr lang="en-US" sz="1100"/>
          </a:p>
          <a:p>
            <a:pPr marL="0" indent="0" algn="l">
              <a:lnSpc>
                <a:spcPts val="4000"/>
              </a:lnSpc>
            </a:pPr>
            <a:r>
              <a:rPr lang="en-US" sz="2600" b="1" i="0" u="none" strike="noStrike">
                <a:solidFill>
                  <a:srgbClr val="F8FAFC">
                    <a:alpha val="90196"/>
                  </a:srgbClr>
                </a:solidFill>
                <a:latin typeface="MiSans" charset="-122"/>
                <a:ea typeface="MiSans" charset="-122"/>
                <a:cs typeface="MiSans" charset="-122"/>
                <a:sym typeface="MiSans" charset="-122"/>
              </a:rPr>
              <a:t>心镜 · AIGC智能体平台</a:t>
            </a:r>
            <a:endParaRPr lang="en-US" sz="2600" b="1" i="0" u="none" strike="noStrike">
              <a:solidFill>
                <a:srgbClr val="F8FAFC">
                  <a:alpha val="90196"/>
                </a:srgbClr>
              </a:solidFill>
              <a:latin typeface="MiSans" charset="-122"/>
              <a:ea typeface="MiSans" charset="-122"/>
              <a:cs typeface="MiSans" charset="-122"/>
              <a:sym typeface="MiSans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143000" y="4445000"/>
            <a:ext cx="9956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守护每一个心灵的微光，让智能温暖人心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5753</Words>
  <Application>WPS 演示</Application>
  <PresentationFormat>宽屏</PresentationFormat>
  <Paragraphs>389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Arial</vt:lpstr>
      <vt:lpstr>MiSans</vt:lpstr>
      <vt:lpstr>Noto Sans SC</vt:lpstr>
      <vt:lpstr>Calibri</vt:lpstr>
      <vt:lpstr>Impact</vt:lpstr>
      <vt:lpstr>Serif</vt:lpstr>
      <vt:lpstr>Noto Serif SC</vt:lpstr>
      <vt:lpstr>Monaco</vt:lpstr>
      <vt:lpstr>Segoe Print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Build</dc:creator>
  <cp:lastModifiedBy>三天打鱼两天晒王同学</cp:lastModifiedBy>
  <cp:revision>3</cp:revision>
  <dcterms:created xsi:type="dcterms:W3CDTF">2026-07-17T15:01:48Z</dcterms:created>
  <dcterms:modified xsi:type="dcterms:W3CDTF">2026-07-17T15:01:59Z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{"Label":"1","ContentProducer":"001191110102MACQD9K64010000","ProduceID":"7660878483929877457","ReservedCode1":"","ContentPropagator":"","PropagateID":"","ReservedCode2":""}</vt:lpwstr>
  </property>
  <property fmtid="{D5CDD505-2E9C-101B-9397-08002B2CF9AE}" pid="3" name="ICV">
    <vt:lpwstr>725B731AF75D4F27B54E2C6274A8E693_12</vt:lpwstr>
  </property>
  <property fmtid="{D5CDD505-2E9C-101B-9397-08002B2CF9AE}" pid="4" name="KSOProductBuildVer">
    <vt:lpwstr>2052-12.1.0.26895</vt:lpwstr>
  </property>
</Properties>
</file>