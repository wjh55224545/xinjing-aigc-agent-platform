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5" r:id="rId18"/>
    <p:sldId id="271" r:id="rId19"/>
    <p:sldId id="272" r:id="rId20"/>
  </p:sldIdLst>
  <p:sldSz cx="12192000" cy="6858000"/>
  <p:notesSz cx="6858000" cy="9144000"/>
  <p:embeddedFontLst>
    <p:embeddedFont>
      <p:font typeface="Source Han Sans" panose="02010600030101010101" charset="-122"/>
      <p:regular r:id="rId22"/>
      <p:bold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各位评委好，我是华南师范大学码到成功队的成员。今天非常荣幸向大家汇报我们的参赛作品——心镜·AIGC智能体平台，这是一个基于国产GPU算力的校园心理健康多智能体系统。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首先我们来看第一部分——出发点与方案总览。传统校园心理监测存在哪些痛点？我们又是如何用AI技术实现范式转移的？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传统校园心理监测面临三大核心难题。第一是被动滞后，目前主要依赖学生主动填写量表，问题发现时往往已错过最佳干预期，这种被动响应模式无法实现常态化追踪。第二是精度不足，单一问卷极易受情绪伪装干扰，学生可以刻意表现积极来掩盖真实负面状态，缺乏多模态交叉验证机制。第三是链路断裂，即便发现了异常，前端预警和后续处置之间缺少智能衔接，教师负担重且响应效率低。所以我们需要的是无感、持续、客观的监测手段，而不是更多问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3</a:t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我们的核心思路是让AI成为心理教师的智能助手。整个链路分四步走：第一步情绪采集，利用情绪识别技术在日常课堂无感提取学生短时情绪状态；第二步数据积累，将一段时间的情绪数据持续存储，形成个人情绪时序档案；第三步AI分析，由专业心理AI大模型判断心理健康趋势、识别潜在风险；第四步智能体闭环，将全流程智能化，构建多智能体协作的自动化干预系统。一句话总结：从'学生填表、老师判断'升级为'系统无感采集、AI专业分析、智能体自动预警'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4</a:t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心镜平台采用四层解耦架构设计。采集层利用教室普通摄像头实现无穿戴、无感知采集，原始视频在本地即刻销毁以保障隐私。感知层创新采用双模态融合技术，结合面部微表情与前庭振动信号精准捕捉生理情绪。决策层构建5智能体双环驱动系统，依托Lingshu-32B医疗大模型进行深度心理推理。服务层自动生成心理评估日报、干预方案、家校沟通函和成长叙事四类AIGC文书，并触发三级预警。整个系统定位是智慧教室场景下的'情绪CT机'加'AI心理报告生成器'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接下来进入第二部分——核心亮点。我们将深入解析双模态白盒引擎与多智能体协作的技术细节，看看心镜平台的技术壁垒是如何构建的。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亮点二是VibraImage前庭振动白盒引擎。整个技术链路经过视频采集、逐像素帧差分、FFT频率分析、空间分布分析，最终输出12维情绪参数和K值量化结果。为什么强调'白盒'？因为全部12个参数——包括攻击性、压力、紧张、抑郁、幸福感等——都有明确的物理含义和计算公式，每一步都可审计、可追溯，不是黑盒神经网络给一个分数。科学性方面，我们基于Viktor Minkin教授的专著公式体系，依托10266人联合数据库统计常模来支撑K值计算，确保评估结果有坚实的科学依据。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亮点一是双模态融合感知，核心目标是破解学生情绪伪装。面部微表情分析基于眉眼嘴部肌肉运动，技术成熟、直观可解释，但容易被刻意控制——学生可以假装微笑。而VibraImage前庭振动分析捕捉的是0.1到10Hz的头部生理性微振动频率，这是完全不受主观意识控制的客观生理信号，可以说是情绪的'生理指纹'。我们采用加权融合策略，面部权重0.6、前庭权重0.4，当两种模态出现冲突时以前庭振动为准，确保锁定真实情绪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8</a:t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亮点三是5智能体双环驱动的AIGC协作系统。智能体流水线由感知、分析、报告、预警四大执行智能体加上一个协调智能体构成，形成完整的自动化处理闭环。双环驱动机制方面，内环每15分钟触发一次实现毫秒级实时采集，外环每日22点定时触发大模型驱动的深度分析与报告生成，兼顾时效性和深度。决策全透明是我们的重要特色，依托SSE流式可视化技术，智能体的思考、行动、观察和结论全过程实时展示，确保推理可追溯、决策可审计，所有智能体的推理都由灵枢Lingshu-32B医疗大模型驱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9</a:t>
            </a:fld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第三部分我们来聊聊技术底座——国产化适配与赛事对标。心镜平台实现了零CUDA依赖的全栈国产化，并且在曦云C500上完成了全流水线实测。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技术架构采用三层解耦设计。前端交互层使用Vue3加Vite加ECharts，构建了数据仪表盘、预警面板和智能体可视化的高交互界面。多智能体中枢层基于FastAPI和LangChain框架，实现5智能体的ReAct逻辑编排，通过SSE协议支持推理过程流式推送。国产化算力基座整合了曦云C500本地GPU加速和moark.com沐曦集群云端推理，配备DeepSeek容灾方案，实现了零NVIDIA依赖。一句话概括技术栈：前端Vue3、后端FastAPI、智能体LangChain、大模型Lingshu-32B、GPU沐曦MetaX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11</a:t>
            </a:fld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这是曦云C500 GPU的全流水线实测数据。测试环境是MetaX C500、15584MB显存、PyTorch MUSA后端。最关键的端到端测试中，GPU耗时仅6.49毫秒，相比CPU的91.26毫秒实现了14.06倍加速。FFT频率分析达到6.89倍加速，频率直方图6.14倍，帧差分4.79倍，YOLOv8推理2.90倍。GPU优势项加权平均加速比达到6.96倍。系统还支持MUSA到CUDA到CPU的自动Fallback，无需手动配置环境，极大降低了部署门槛。全链路零CUDA依赖、零OpenAI调用、零NVIDIA GPU。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12</a:t>
            </a:fld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这张对照表展示了赛道要求与作品实现的逐项对标。国产GPU算力方面我们用C500本地加速加沐曦集群推理，对应20分。开源智能体框架用LangChain加自研适配器，10分。任务理解和工具调用通过5智能体prompt-based ReAct加SSE流式实现，10分。AIGC生成覆盖4类专业心理文书，10分。可运行Demo包含Web UI、90多个API端点和CLI一键启动，10分。云部署用Docker加CloudBase，15分。GitLink开源加684行详尽文档，10分。全面覆盖赛道八大核心要求，满分200分全覆盖。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13</a:t>
            </a:fld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最后一部分，我们来看工程化保障和未来规划——心镜不只是一个比赛Demo，更是一个能跑、能部署、能复现的完整系统。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14</a:t>
            </a:fld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系统提供从数据总览到AIGC报告生成的完整交互界面。数据与视频分析模块提供情绪趋势折线图和预警分布面板，支持拖拽上传视频实时返回双模态分析结果。智能体与AIGC产出模块将5智能体推理过程全透明流式展示，一键生成心理评估日报和个性化干预方案。工程保障方面，26项单元测试100%通过，提供Docker一键部署方案和本地、Docker、云端三种部署模式。接口与合规方面，开放90多个端点的中文Swagger交互式文档，遵循Apache 2.0协议并在GitLink公开仓库，接口设计符合RESTful规范。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15</a:t>
            </a:fld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34066-B60B-FD41-EED1-B10021EC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6A30D6-3C8A-A1F8-24E5-A10443055A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ECCEAE-437C-622A-4B78-54FD41CF54A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268E1E-0E44-426D-905E-8AD9B19D2182}" type="datetimeFigureOut">
              <a:rPr kumimoji="0" lang="cs-CZ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04.08.2026</a:t>
            </a:fld>
            <a:endParaRPr kumimoji="0" lang="cs-CZ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9893D33-0B1E-56F0-9FC1-AB9CEB32C7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2F43FE8-C1E2-0552-B55C-6B0B7755FC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系统提供从数据总览到AIGC报告生成的完整交互界面。数据与视频分析模块提供情绪趋势折线图和预警分布面板，支持拖拽上传视频实时返回双模态分析结果。智能体与AIGC产出模块将5智能体推理过程全透明流式展示，一键生成心理评估日报和个性化干预方案。工程保障方面，26项单元测试100%通过，提供Docker一键部署方案和本地、Docker、云端三种部署模式。接口与合规方面，开放90多个端点的中文Swagger交互式文档，遵循Apache 2.0协议并在GitLink公开仓库，接口设计符合RESTful规范。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46936-4169-4C84-EFBB-EFBB960BC2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84B42-5EB4-6A41-7F91-8D583AA3C3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1B2431-D351-4C6E-A3CF-9DFAC0E3E050}" type="slidenum">
              <a:rPr kumimoji="0" lang="cs-CZ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cs-CZ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93073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96CEB-6BE4-E9AF-FF68-01666B462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8B594A-5A3B-36B7-1D15-B3FB1CDBC5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719893-C384-9679-4F55-7333811AD2F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04.08.2026</a:t>
            </a:fld>
            <a:endParaRPr lang="cs-CZ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BB8642C-167C-DD8A-1DAC-4CAEC3B84E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07F885A-31EF-49FE-565F-D87EA4E5F0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最后一部分，我们来看工程化保障和未来规划——心镜不只是一个比赛Demo，更是一个能跑、能部署、能复现的完整系统。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498A3-D944-EDC8-E856-7ECBF066CEC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F51EE-E473-70F3-C292-6DD3D28FD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667317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心镜项目实现了三个'首次'突破。第一，首次将VibraImage前庭振动分析引入校园心理监测场景，从问卷打分升级为生理信号量化。第二，首次在国产曦云C500上完成12维情绪参数的全流水线加速，端到端14倍加速比，零NVIDIA依赖。第三，首次构建无感采集到多智能体决策到AIGC服务的全链路心理监测闭环。未来规划方面，短期将在2026年下半年启动1到2所中小学真实课堂试点部署，通过一线反馈持续迭代。长期目标是2027年推进多城市推广，构建校园心理健康数据基座，沉淀千万级样本数据，支撑学术研究与行业标准制定。我们的愿景是让智能化心理健康服务惠及更多青少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18</a:t>
            </a:fld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以上就是心镜·AIGC智能体平台的全部汇报内容。我们的项目已在GitLink开源，欢迎各位评委查阅代码和文档。感谢大家的聆听，请评委批评指正！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19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5E5E5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88952" cy="962025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721809" y="352425"/>
            <a:ext cx="8745336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300" b="1" i="0" strike="noStrike">
                <a:ln/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AIGC HEALTH INTELLIGENCE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962025"/>
            <a:ext cx="12188952" cy="58959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7" name="AutoShape 7"/>
          <p:cNvSpPr/>
          <p:nvPr/>
        </p:nvSpPr>
        <p:spPr>
          <a:xfrm>
            <a:off x="0" y="962025"/>
            <a:ext cx="12188952" cy="5895975"/>
          </a:xfrm>
          <a:prstGeom prst="rect">
            <a:avLst/>
          </a:prstGeom>
          <a:solidFill>
            <a:srgbClr val="000000">
              <a:alpha val="90196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TextBox 8"/>
          <p:cNvSpPr txBox="1"/>
          <p:nvPr/>
        </p:nvSpPr>
        <p:spPr>
          <a:xfrm>
            <a:off x="846769" y="3001863"/>
            <a:ext cx="10495413" cy="93999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7000" b="1" i="0" strike="noStrike">
                <a:ln/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心镜·AIGC智能体平台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146434" y="4265712"/>
            <a:ext cx="9896084" cy="342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800" b="1" i="0" strike="noStrike">
                <a:ln/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基于国产GPU算力的校园心理健康多智能体系统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2198163" y="6162675"/>
            <a:ext cx="7792627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300" b="1" i="0" strike="noStrike" dirty="0">
                <a:ln/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汇 报  团 队</a:t>
            </a:r>
            <a:r>
              <a:rPr lang="zh-CN" altLang="en-US" sz="1300" b="1" i="0" strike="noStrike" dirty="0">
                <a:ln/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：码 到 成 功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4904148" y="6686550"/>
            <a:ext cx="2380654" cy="17145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742765" y="590550"/>
            <a:ext cx="7484778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ln/>
                <a:solidFill>
                  <a:srgbClr val="000000">
                    <a:alpha val="54901"/>
                  </a:srgbClr>
                </a:solidFill>
                <a:latin typeface="Poppins"/>
                <a:ea typeface="Poppins"/>
                <a:cs typeface="Poppins"/>
              </a:rPr>
              <a:t>CHAPTER 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42765" y="942975"/>
            <a:ext cx="1618845" cy="5715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742765" y="1266825"/>
            <a:ext cx="7484778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破局与重构：出发点与方案总览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742765" y="1790700"/>
            <a:ext cx="7237190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从传统量表困境到无感化智能监测的范式转移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227543" y="0"/>
            <a:ext cx="3961409" cy="2333625"/>
          </a:xfrm>
          <a:prstGeom prst="rect">
            <a:avLst/>
          </a:pr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AutoShape 8"/>
          <p:cNvSpPr/>
          <p:nvPr/>
        </p:nvSpPr>
        <p:spPr>
          <a:xfrm>
            <a:off x="0" y="2333625"/>
            <a:ext cx="12188952" cy="4524375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2371728" y="3739455"/>
            <a:ext cx="7445497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300" b="0" i="0" strike="noStrike">
                <a:ln/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MARKET INSIGHT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1904524" y="4491930"/>
            <a:ext cx="8379904" cy="96009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72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破局与重构</a:t>
            </a:r>
            <a:endParaRPr lang="en-US" sz="1100"/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609448" y="476250"/>
            <a:ext cx="3237690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ln/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MARKET INSIGHT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609448" y="847725"/>
            <a:ext cx="3237690" cy="812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传统校园心理监测面</a:t>
            </a:r>
            <a:endParaRPr lang="en-US" sz="1100"/>
          </a:p>
          <a:p>
            <a:pPr algn="l"/>
            <a:r>
              <a:rPr sz="27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临的三大难题</a:t>
            </a: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09448" y="1826716"/>
            <a:ext cx="1142714" cy="47625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609448" y="2112466"/>
            <a:ext cx="3237690" cy="1955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 dirty="0" err="1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传统校园心理监测高度依赖主观量表，存在严重的滞后性、伪装风险与处置脱节</a:t>
            </a:r>
            <a:endParaRPr lang="en-US" sz="1100" dirty="0"/>
          </a:p>
          <a:p>
            <a:pPr algn="l"/>
            <a:endParaRPr dirty="0"/>
          </a:p>
          <a:p>
            <a:pPr algn="l"/>
            <a:r>
              <a:rPr lang="zh-CN" altLang="en-US" sz="1600" dirty="0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急</a:t>
            </a:r>
            <a:r>
              <a:rPr sz="1600" b="0" i="0" strike="noStrike" dirty="0" err="1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需向无感化、客观化、全链路的智能化方向转型，构建从数据采集到智能干预的</a:t>
            </a:r>
            <a:endParaRPr dirty="0"/>
          </a:p>
          <a:p>
            <a:pPr algn="l"/>
            <a:r>
              <a:rPr sz="1600" b="0" i="0" strike="noStrike" dirty="0" err="1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完整闭环</a:t>
            </a:r>
            <a:r>
              <a:rPr sz="1600" b="0" i="0" strike="noStrike" dirty="0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</a:t>
            </a:r>
            <a:endParaRPr dirty="0"/>
          </a:p>
        </p:txBody>
      </p:sp>
      <p:sp>
        <p:nvSpPr>
          <p:cNvPr id="7" name="AutoShape 7"/>
          <p:cNvSpPr/>
          <p:nvPr/>
        </p:nvSpPr>
        <p:spPr>
          <a:xfrm>
            <a:off x="4189952" y="457200"/>
            <a:ext cx="7465733" cy="1892350"/>
          </a:xfrm>
          <a:prstGeom prst="rect">
            <a:avLst/>
          </a:prstGeom>
          <a:solidFill>
            <a:srgbClr val="F3F3F3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AutoShape 8"/>
          <p:cNvSpPr/>
          <p:nvPr/>
        </p:nvSpPr>
        <p:spPr>
          <a:xfrm>
            <a:off x="4418495" y="647700"/>
            <a:ext cx="399950" cy="40005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4523095" y="747712"/>
            <a:ext cx="295350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0"/>
          <a:lstStyle/>
          <a:p>
            <a:pPr algn="l">
              <a:defRPr/>
            </a:pPr>
            <a:r>
              <a:rPr lang="en-US" sz="13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01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4951762" y="747712"/>
            <a:ext cx="733242" cy="279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被动滞后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4418495" y="1181100"/>
            <a:ext cx="7008647" cy="215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依赖学生主动填写量表，存在严重滞后性，无法实现常态化追踪与早期危机干预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4418495" y="1449140"/>
            <a:ext cx="7008647" cy="215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问题发现时往往已错过最佳干预期，被动响应模式难以有效预防心理危机事件发生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189952" y="2501950"/>
            <a:ext cx="7465733" cy="189235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AutoShape 14"/>
          <p:cNvSpPr/>
          <p:nvPr/>
        </p:nvSpPr>
        <p:spPr>
          <a:xfrm>
            <a:off x="4418495" y="2692450"/>
            <a:ext cx="399950" cy="40005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4523095" y="2792462"/>
            <a:ext cx="295350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0"/>
          <a:lstStyle/>
          <a:p>
            <a:pPr algn="l">
              <a:defRPr/>
            </a:pPr>
            <a:r>
              <a:rPr lang="en-US" sz="13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02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4951762" y="2792462"/>
            <a:ext cx="733242" cy="279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精度不足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4418495" y="3225850"/>
            <a:ext cx="7008647" cy="215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单一问卷极易受学生情绪伪装干扰，单次主观填写结果难以客观反映真实心理状态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4418495" y="3493889"/>
            <a:ext cx="7008647" cy="215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缺乏多模态交叉验证机制，无法有效识别刻意伪装或隐瞒的负面心理倾向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189952" y="4546699"/>
            <a:ext cx="7465733" cy="1892350"/>
          </a:xfrm>
          <a:prstGeom prst="rect">
            <a:avLst/>
          </a:prstGeom>
          <a:solidFill>
            <a:srgbClr val="F3F3F3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AutoShape 20"/>
          <p:cNvSpPr/>
          <p:nvPr/>
        </p:nvSpPr>
        <p:spPr>
          <a:xfrm>
            <a:off x="4418495" y="4737199"/>
            <a:ext cx="399950" cy="40005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4523095" y="4837212"/>
            <a:ext cx="295350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0"/>
          <a:lstStyle/>
          <a:p>
            <a:pPr algn="l">
              <a:defRPr/>
            </a:pPr>
            <a:r>
              <a:rPr lang="en-US" sz="13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03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4951762" y="4837212"/>
            <a:ext cx="733242" cy="279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链路断裂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4418495" y="5270599"/>
            <a:ext cx="7008647" cy="215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发现异常后缺乏标准化自动干预机制，前端预警系统与后续处置流程严重脱节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4418495" y="5538639"/>
            <a:ext cx="7008647" cy="215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从监测到干预缺少智能衔接，教师负担重且响应效率低，难以实现及时有效帮扶</a:t>
            </a:r>
            <a:endParaRPr lang="en-US" sz="1100"/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37990" y="485775"/>
            <a:ext cx="10570107" cy="1809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ln/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AI-POWERED SOLUTION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837990" y="833438"/>
            <a:ext cx="10570107" cy="469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100" b="1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我们的出发点：让AI成为心理教师的智能助手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37990" y="1433810"/>
            <a:ext cx="1618845" cy="5715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AutoShape 6"/>
          <p:cNvSpPr/>
          <p:nvPr/>
        </p:nvSpPr>
        <p:spPr>
          <a:xfrm>
            <a:off x="837990" y="1681460"/>
            <a:ext cx="2485404" cy="3048000"/>
          </a:xfrm>
          <a:prstGeom prst="rect">
            <a:avLst/>
          </a:prstGeom>
          <a:solidFill>
            <a:srgbClr val="F3F4F4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AutoShape 7"/>
          <p:cNvSpPr/>
          <p:nvPr/>
        </p:nvSpPr>
        <p:spPr>
          <a:xfrm>
            <a:off x="1028442" y="1891010"/>
            <a:ext cx="399950" cy="400050"/>
          </a:xfrm>
          <a:prstGeom prst="rect">
            <a:avLst/>
          </a:pr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AutoShape 8"/>
          <p:cNvSpPr/>
          <p:nvPr/>
        </p:nvSpPr>
        <p:spPr>
          <a:xfrm>
            <a:off x="1114072" y="1976735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2999" y="5500"/>
                </a:moveTo>
                <a:lnTo>
                  <a:pt x="6999" y="5500"/>
                </a:lnTo>
                <a:cubicBezTo>
                  <a:pt x="6999" y="5860"/>
                  <a:pt x="6909" y="6193"/>
                  <a:pt x="6729" y="6500"/>
                </a:cubicBezTo>
                <a:cubicBezTo>
                  <a:pt x="6549" y="6806"/>
                  <a:pt x="6305" y="7050"/>
                  <a:pt x="5999" y="7230"/>
                </a:cubicBezTo>
                <a:cubicBezTo>
                  <a:pt x="5692" y="7410"/>
                  <a:pt x="5359" y="7500"/>
                  <a:pt x="4999" y="7500"/>
                </a:cubicBezTo>
                <a:cubicBezTo>
                  <a:pt x="4639" y="7500"/>
                  <a:pt x="4305" y="7410"/>
                  <a:pt x="3999" y="7230"/>
                </a:cubicBezTo>
                <a:cubicBezTo>
                  <a:pt x="3692" y="7050"/>
                  <a:pt x="3449" y="6806"/>
                  <a:pt x="3269" y="6500"/>
                </a:cubicBezTo>
                <a:cubicBezTo>
                  <a:pt x="3089" y="6193"/>
                  <a:pt x="2999" y="5860"/>
                  <a:pt x="2999" y="5500"/>
                </a:cubicBezTo>
                <a:moveTo>
                  <a:pt x="2999" y="4500"/>
                </a:moveTo>
                <a:cubicBezTo>
                  <a:pt x="2792" y="4500"/>
                  <a:pt x="2616" y="4426"/>
                  <a:pt x="2470" y="4280"/>
                </a:cubicBezTo>
                <a:cubicBezTo>
                  <a:pt x="2323" y="4133"/>
                  <a:pt x="2250" y="3956"/>
                  <a:pt x="2250" y="3750"/>
                </a:cubicBezTo>
                <a:cubicBezTo>
                  <a:pt x="2250" y="3543"/>
                  <a:pt x="2323" y="3366"/>
                  <a:pt x="2470" y="3220"/>
                </a:cubicBezTo>
                <a:cubicBezTo>
                  <a:pt x="2616" y="3073"/>
                  <a:pt x="2792" y="3000"/>
                  <a:pt x="2999" y="3000"/>
                </a:cubicBezTo>
                <a:cubicBezTo>
                  <a:pt x="3205" y="3000"/>
                  <a:pt x="3382" y="3073"/>
                  <a:pt x="3529" y="3220"/>
                </a:cubicBezTo>
                <a:cubicBezTo>
                  <a:pt x="3675" y="3366"/>
                  <a:pt x="3749" y="3543"/>
                  <a:pt x="3749" y="3750"/>
                </a:cubicBezTo>
                <a:cubicBezTo>
                  <a:pt x="3749" y="3956"/>
                  <a:pt x="3675" y="4133"/>
                  <a:pt x="3529" y="4280"/>
                </a:cubicBezTo>
                <a:cubicBezTo>
                  <a:pt x="3382" y="4426"/>
                  <a:pt x="3205" y="4500"/>
                  <a:pt x="2999" y="4500"/>
                </a:cubicBezTo>
                <a:moveTo>
                  <a:pt x="6999" y="4500"/>
                </a:moveTo>
                <a:cubicBezTo>
                  <a:pt x="6792" y="4500"/>
                  <a:pt x="6615" y="4426"/>
                  <a:pt x="6469" y="4280"/>
                </a:cubicBezTo>
                <a:cubicBezTo>
                  <a:pt x="6322" y="4133"/>
                  <a:pt x="6249" y="3956"/>
                  <a:pt x="6249" y="3750"/>
                </a:cubicBezTo>
                <a:cubicBezTo>
                  <a:pt x="6249" y="3543"/>
                  <a:pt x="6322" y="3366"/>
                  <a:pt x="6469" y="3220"/>
                </a:cubicBezTo>
                <a:cubicBezTo>
                  <a:pt x="6615" y="3073"/>
                  <a:pt x="6792" y="3000"/>
                  <a:pt x="6999" y="3000"/>
                </a:cubicBezTo>
                <a:cubicBezTo>
                  <a:pt x="7205" y="3000"/>
                  <a:pt x="7382" y="3073"/>
                  <a:pt x="7528" y="3220"/>
                </a:cubicBezTo>
                <a:cubicBezTo>
                  <a:pt x="7674" y="3366"/>
                  <a:pt x="7748" y="3543"/>
                  <a:pt x="7748" y="3750"/>
                </a:cubicBezTo>
                <a:cubicBezTo>
                  <a:pt x="7748" y="3956"/>
                  <a:pt x="7674" y="4133"/>
                  <a:pt x="7528" y="4280"/>
                </a:cubicBezTo>
                <a:cubicBezTo>
                  <a:pt x="7382" y="4426"/>
                  <a:pt x="7205" y="4500"/>
                  <a:pt x="6999" y="4500"/>
                </a:cubicBezTo>
              </a:path>
            </a:pathLst>
          </a:custGeom>
          <a:solidFill>
            <a:srgbClr val="F9DC2A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028442" y="2452985"/>
            <a:ext cx="2104499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STEP 01 · 情绪采集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1028442" y="2805410"/>
            <a:ext cx="2294951" cy="180181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利用情绪识别技术在日常课堂场景中无感提取学生短时情绪状态，避免主观干扰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32891" y="1681460"/>
            <a:ext cx="2485404" cy="3048000"/>
          </a:xfrm>
          <a:prstGeom prst="rect">
            <a:avLst/>
          </a:prstGeom>
          <a:solidFill>
            <a:srgbClr val="F3F3F3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AutoShape 12"/>
          <p:cNvSpPr/>
          <p:nvPr/>
        </p:nvSpPr>
        <p:spPr>
          <a:xfrm>
            <a:off x="3723344" y="1891010"/>
            <a:ext cx="399950" cy="40005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AutoShape 13"/>
          <p:cNvSpPr/>
          <p:nvPr/>
        </p:nvSpPr>
        <p:spPr>
          <a:xfrm>
            <a:off x="3808973" y="1976735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111" y="3853"/>
                </a:moveTo>
                <a:lnTo>
                  <a:pt x="1111" y="5000"/>
                </a:lnTo>
                <a:cubicBezTo>
                  <a:pt x="1111" y="5091"/>
                  <a:pt x="1177" y="5200"/>
                  <a:pt x="1311" y="5326"/>
                </a:cubicBezTo>
                <a:cubicBezTo>
                  <a:pt x="1466" y="5466"/>
                  <a:pt x="1684" y="5603"/>
                  <a:pt x="1966" y="5737"/>
                </a:cubicBezTo>
                <a:cubicBezTo>
                  <a:pt x="2351" y="5919"/>
                  <a:pt x="2807" y="6061"/>
                  <a:pt x="3333" y="6163"/>
                </a:cubicBezTo>
                <a:cubicBezTo>
                  <a:pt x="3858" y="6265"/>
                  <a:pt x="4413" y="6316"/>
                  <a:pt x="4999" y="6316"/>
                </a:cubicBezTo>
                <a:cubicBezTo>
                  <a:pt x="5584" y="6316"/>
                  <a:pt x="6139" y="6265"/>
                  <a:pt x="6665" y="6163"/>
                </a:cubicBezTo>
                <a:cubicBezTo>
                  <a:pt x="7191" y="6061"/>
                  <a:pt x="7646" y="5919"/>
                  <a:pt x="8032" y="5737"/>
                </a:cubicBezTo>
                <a:cubicBezTo>
                  <a:pt x="8313" y="5603"/>
                  <a:pt x="8531" y="5466"/>
                  <a:pt x="8687" y="5326"/>
                </a:cubicBezTo>
                <a:cubicBezTo>
                  <a:pt x="8820" y="5200"/>
                  <a:pt x="8887" y="5091"/>
                  <a:pt x="8887" y="5000"/>
                </a:cubicBezTo>
                <a:lnTo>
                  <a:pt x="8887" y="3853"/>
                </a:lnTo>
                <a:cubicBezTo>
                  <a:pt x="8420" y="4126"/>
                  <a:pt x="7853" y="4340"/>
                  <a:pt x="7187" y="4495"/>
                </a:cubicBezTo>
                <a:cubicBezTo>
                  <a:pt x="6498" y="4656"/>
                  <a:pt x="5769" y="4737"/>
                  <a:pt x="4999" y="4737"/>
                </a:cubicBezTo>
                <a:cubicBezTo>
                  <a:pt x="4229" y="4737"/>
                  <a:pt x="3499" y="4656"/>
                  <a:pt x="2811" y="4495"/>
                </a:cubicBezTo>
                <a:cubicBezTo>
                  <a:pt x="2144" y="4340"/>
                  <a:pt x="1577" y="4126"/>
                  <a:pt x="1111" y="3853"/>
                </a:cubicBezTo>
                <a:moveTo>
                  <a:pt x="8887" y="7632"/>
                </a:moveTo>
                <a:lnTo>
                  <a:pt x="8887" y="6484"/>
                </a:lnTo>
                <a:cubicBezTo>
                  <a:pt x="8420" y="6758"/>
                  <a:pt x="7853" y="6972"/>
                  <a:pt x="7187" y="7126"/>
                </a:cubicBezTo>
                <a:cubicBezTo>
                  <a:pt x="6498" y="7287"/>
                  <a:pt x="5769" y="7368"/>
                  <a:pt x="4999" y="7368"/>
                </a:cubicBezTo>
                <a:cubicBezTo>
                  <a:pt x="4229" y="7368"/>
                  <a:pt x="3499" y="7287"/>
                  <a:pt x="2811" y="7126"/>
                </a:cubicBezTo>
                <a:cubicBezTo>
                  <a:pt x="2144" y="6972"/>
                  <a:pt x="1577" y="6758"/>
                  <a:pt x="1111" y="6484"/>
                </a:cubicBezTo>
                <a:lnTo>
                  <a:pt x="1111" y="7632"/>
                </a:lnTo>
                <a:cubicBezTo>
                  <a:pt x="1111" y="7722"/>
                  <a:pt x="1177" y="7831"/>
                  <a:pt x="1311" y="7958"/>
                </a:cubicBezTo>
                <a:cubicBezTo>
                  <a:pt x="1466" y="8098"/>
                  <a:pt x="1684" y="8234"/>
                  <a:pt x="1966" y="8368"/>
                </a:cubicBezTo>
                <a:cubicBezTo>
                  <a:pt x="2351" y="8550"/>
                  <a:pt x="2807" y="8693"/>
                  <a:pt x="3333" y="8795"/>
                </a:cubicBezTo>
                <a:cubicBezTo>
                  <a:pt x="3858" y="8896"/>
                  <a:pt x="4413" y="8947"/>
                  <a:pt x="4999" y="8947"/>
                </a:cubicBezTo>
                <a:cubicBezTo>
                  <a:pt x="5584" y="8947"/>
                  <a:pt x="6139" y="8896"/>
                  <a:pt x="6665" y="8795"/>
                </a:cubicBezTo>
                <a:cubicBezTo>
                  <a:pt x="7191" y="8693"/>
                  <a:pt x="7646" y="8550"/>
                  <a:pt x="8032" y="8368"/>
                </a:cubicBezTo>
                <a:cubicBezTo>
                  <a:pt x="8313" y="8234"/>
                  <a:pt x="8531" y="8098"/>
                  <a:pt x="8687" y="7958"/>
                </a:cubicBezTo>
                <a:cubicBezTo>
                  <a:pt x="8820" y="7831"/>
                  <a:pt x="8887" y="7722"/>
                  <a:pt x="8887" y="7632"/>
                </a:cubicBezTo>
                <a:moveTo>
                  <a:pt x="0" y="7632"/>
                </a:moveTo>
                <a:lnTo>
                  <a:pt x="0" y="2368"/>
                </a:lnTo>
                <a:cubicBezTo>
                  <a:pt x="0" y="1940"/>
                  <a:pt x="226" y="1540"/>
                  <a:pt x="678" y="1168"/>
                </a:cubicBezTo>
                <a:cubicBezTo>
                  <a:pt x="1122" y="817"/>
                  <a:pt x="1721" y="536"/>
                  <a:pt x="2477" y="326"/>
                </a:cubicBezTo>
                <a:cubicBezTo>
                  <a:pt x="3255" y="108"/>
                  <a:pt x="4095" y="0"/>
                  <a:pt x="4999" y="0"/>
                </a:cubicBezTo>
                <a:cubicBezTo>
                  <a:pt x="5902" y="0"/>
                  <a:pt x="6743" y="108"/>
                  <a:pt x="7521" y="326"/>
                </a:cubicBezTo>
                <a:cubicBezTo>
                  <a:pt x="8276" y="536"/>
                  <a:pt x="8876" y="817"/>
                  <a:pt x="9320" y="1168"/>
                </a:cubicBezTo>
                <a:cubicBezTo>
                  <a:pt x="9772" y="1540"/>
                  <a:pt x="9998" y="1940"/>
                  <a:pt x="9998" y="2368"/>
                </a:cubicBezTo>
                <a:lnTo>
                  <a:pt x="9998" y="7632"/>
                </a:lnTo>
                <a:cubicBezTo>
                  <a:pt x="9998" y="8060"/>
                  <a:pt x="9772" y="8460"/>
                  <a:pt x="9320" y="8832"/>
                </a:cubicBezTo>
                <a:cubicBezTo>
                  <a:pt x="8876" y="9182"/>
                  <a:pt x="8276" y="9463"/>
                  <a:pt x="7521" y="9674"/>
                </a:cubicBezTo>
                <a:cubicBezTo>
                  <a:pt x="6743" y="9891"/>
                  <a:pt x="5902" y="10000"/>
                  <a:pt x="4999" y="10000"/>
                </a:cubicBezTo>
                <a:cubicBezTo>
                  <a:pt x="4095" y="10000"/>
                  <a:pt x="3255" y="9891"/>
                  <a:pt x="2477" y="9674"/>
                </a:cubicBezTo>
                <a:cubicBezTo>
                  <a:pt x="1721" y="9463"/>
                  <a:pt x="1122" y="9182"/>
                  <a:pt x="678" y="8832"/>
                </a:cubicBezTo>
                <a:cubicBezTo>
                  <a:pt x="226" y="8460"/>
                  <a:pt x="0" y="8060"/>
                  <a:pt x="0" y="7632"/>
                </a:cubicBezTo>
                <a:moveTo>
                  <a:pt x="4999" y="3684"/>
                </a:moveTo>
                <a:cubicBezTo>
                  <a:pt x="5584" y="3684"/>
                  <a:pt x="6139" y="3633"/>
                  <a:pt x="6665" y="3532"/>
                </a:cubicBezTo>
                <a:cubicBezTo>
                  <a:pt x="7191" y="3430"/>
                  <a:pt x="7646" y="3287"/>
                  <a:pt x="8032" y="3105"/>
                </a:cubicBezTo>
                <a:cubicBezTo>
                  <a:pt x="8313" y="2971"/>
                  <a:pt x="8531" y="2835"/>
                  <a:pt x="8687" y="2695"/>
                </a:cubicBezTo>
                <a:cubicBezTo>
                  <a:pt x="8820" y="2568"/>
                  <a:pt x="8887" y="2459"/>
                  <a:pt x="8887" y="2368"/>
                </a:cubicBezTo>
                <a:cubicBezTo>
                  <a:pt x="8887" y="2277"/>
                  <a:pt x="8820" y="2168"/>
                  <a:pt x="8687" y="2042"/>
                </a:cubicBezTo>
                <a:cubicBezTo>
                  <a:pt x="8531" y="1902"/>
                  <a:pt x="8313" y="1765"/>
                  <a:pt x="8032" y="1632"/>
                </a:cubicBezTo>
                <a:cubicBezTo>
                  <a:pt x="7646" y="1449"/>
                  <a:pt x="7191" y="1307"/>
                  <a:pt x="6665" y="1205"/>
                </a:cubicBezTo>
                <a:cubicBezTo>
                  <a:pt x="6139" y="1103"/>
                  <a:pt x="5584" y="1053"/>
                  <a:pt x="4999" y="1053"/>
                </a:cubicBezTo>
                <a:cubicBezTo>
                  <a:pt x="4413" y="1053"/>
                  <a:pt x="3858" y="1103"/>
                  <a:pt x="3333" y="1205"/>
                </a:cubicBezTo>
                <a:cubicBezTo>
                  <a:pt x="2807" y="1307"/>
                  <a:pt x="2351" y="1449"/>
                  <a:pt x="1966" y="1632"/>
                </a:cubicBezTo>
                <a:cubicBezTo>
                  <a:pt x="1684" y="1765"/>
                  <a:pt x="1466" y="1902"/>
                  <a:pt x="1311" y="2042"/>
                </a:cubicBezTo>
                <a:cubicBezTo>
                  <a:pt x="1177" y="2168"/>
                  <a:pt x="1111" y="2277"/>
                  <a:pt x="1111" y="2368"/>
                </a:cubicBezTo>
                <a:cubicBezTo>
                  <a:pt x="1111" y="2459"/>
                  <a:pt x="1177" y="2568"/>
                  <a:pt x="1311" y="2695"/>
                </a:cubicBezTo>
                <a:cubicBezTo>
                  <a:pt x="1466" y="2835"/>
                  <a:pt x="1684" y="2971"/>
                  <a:pt x="1966" y="3105"/>
                </a:cubicBezTo>
                <a:cubicBezTo>
                  <a:pt x="2351" y="3287"/>
                  <a:pt x="2807" y="3430"/>
                  <a:pt x="3333" y="3532"/>
                </a:cubicBezTo>
                <a:cubicBezTo>
                  <a:pt x="3858" y="3633"/>
                  <a:pt x="4413" y="3684"/>
                  <a:pt x="4999" y="3684"/>
                </a:cubicBezTo>
              </a:path>
            </a:pathLst>
          </a:cu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3723344" y="2452985"/>
            <a:ext cx="2104499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STEP 02 · 数据积累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3723344" y="2805410"/>
            <a:ext cx="2294951" cy="850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将一段时间内的情绪数据持续存储，形成高维度个人情绪时序档案，刻画长期心理轨迹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7793" y="1681460"/>
            <a:ext cx="2485404" cy="3048000"/>
          </a:xfrm>
          <a:prstGeom prst="rect">
            <a:avLst/>
          </a:prstGeom>
          <a:solidFill>
            <a:srgbClr val="F3F3F3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AutoShape 17"/>
          <p:cNvSpPr/>
          <p:nvPr/>
        </p:nvSpPr>
        <p:spPr>
          <a:xfrm>
            <a:off x="6418245" y="1891010"/>
            <a:ext cx="399950" cy="40005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AutoShape 18"/>
          <p:cNvSpPr/>
          <p:nvPr/>
        </p:nvSpPr>
        <p:spPr>
          <a:xfrm>
            <a:off x="6503874" y="1976735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2000" y="2000"/>
                </a:moveTo>
                <a:lnTo>
                  <a:pt x="2000" y="8000"/>
                </a:lnTo>
                <a:lnTo>
                  <a:pt x="7998" y="8000"/>
                </a:lnTo>
                <a:lnTo>
                  <a:pt x="7998" y="2000"/>
                </a:lnTo>
                <a:lnTo>
                  <a:pt x="2000" y="2000"/>
                </a:lnTo>
                <a:moveTo>
                  <a:pt x="5999" y="10000"/>
                </a:moveTo>
                <a:lnTo>
                  <a:pt x="5999" y="9000"/>
                </a:lnTo>
                <a:lnTo>
                  <a:pt x="3999" y="9000"/>
                </a:lnTo>
                <a:lnTo>
                  <a:pt x="3999" y="10000"/>
                </a:lnTo>
                <a:lnTo>
                  <a:pt x="2999" y="10000"/>
                </a:lnTo>
                <a:lnTo>
                  <a:pt x="2999" y="9000"/>
                </a:lnTo>
                <a:lnTo>
                  <a:pt x="1500" y="9000"/>
                </a:lnTo>
                <a:cubicBezTo>
                  <a:pt x="1360" y="9000"/>
                  <a:pt x="1241" y="8951"/>
                  <a:pt x="1145" y="8855"/>
                </a:cubicBezTo>
                <a:cubicBezTo>
                  <a:pt x="1048" y="8758"/>
                  <a:pt x="1000" y="8640"/>
                  <a:pt x="1000" y="8500"/>
                </a:cubicBezTo>
                <a:lnTo>
                  <a:pt x="1000" y="7000"/>
                </a:lnTo>
                <a:lnTo>
                  <a:pt x="0" y="7000"/>
                </a:lnTo>
                <a:lnTo>
                  <a:pt x="0" y="6000"/>
                </a:lnTo>
                <a:lnTo>
                  <a:pt x="1000" y="6000"/>
                </a:lnTo>
                <a:lnTo>
                  <a:pt x="1000" y="4000"/>
                </a:lnTo>
                <a:lnTo>
                  <a:pt x="0" y="4000"/>
                </a:lnTo>
                <a:lnTo>
                  <a:pt x="0" y="3000"/>
                </a:lnTo>
                <a:lnTo>
                  <a:pt x="1000" y="3000"/>
                </a:lnTo>
                <a:lnTo>
                  <a:pt x="1000" y="1500"/>
                </a:lnTo>
                <a:cubicBezTo>
                  <a:pt x="1000" y="1360"/>
                  <a:pt x="1048" y="1241"/>
                  <a:pt x="1145" y="1145"/>
                </a:cubicBezTo>
                <a:cubicBezTo>
                  <a:pt x="1241" y="1048"/>
                  <a:pt x="1360" y="1000"/>
                  <a:pt x="1500" y="1000"/>
                </a:cubicBezTo>
                <a:lnTo>
                  <a:pt x="2999" y="1000"/>
                </a:lnTo>
                <a:lnTo>
                  <a:pt x="2999" y="0"/>
                </a:lnTo>
                <a:lnTo>
                  <a:pt x="3999" y="0"/>
                </a:lnTo>
                <a:lnTo>
                  <a:pt x="3999" y="1000"/>
                </a:lnTo>
                <a:lnTo>
                  <a:pt x="5999" y="1000"/>
                </a:lnTo>
                <a:lnTo>
                  <a:pt x="5999" y="0"/>
                </a:lnTo>
                <a:lnTo>
                  <a:pt x="6999" y="0"/>
                </a:lnTo>
                <a:lnTo>
                  <a:pt x="6999" y="1000"/>
                </a:lnTo>
                <a:lnTo>
                  <a:pt x="8498" y="1000"/>
                </a:lnTo>
                <a:cubicBezTo>
                  <a:pt x="8638" y="1000"/>
                  <a:pt x="8756" y="1048"/>
                  <a:pt x="8853" y="1145"/>
                </a:cubicBezTo>
                <a:cubicBezTo>
                  <a:pt x="8949" y="1241"/>
                  <a:pt x="8998" y="1360"/>
                  <a:pt x="8998" y="1500"/>
                </a:cubicBezTo>
                <a:lnTo>
                  <a:pt x="8998" y="3000"/>
                </a:lnTo>
                <a:lnTo>
                  <a:pt x="9998" y="3000"/>
                </a:lnTo>
                <a:lnTo>
                  <a:pt x="9998" y="4000"/>
                </a:lnTo>
                <a:lnTo>
                  <a:pt x="8998" y="4000"/>
                </a:lnTo>
                <a:lnTo>
                  <a:pt x="8998" y="6000"/>
                </a:lnTo>
                <a:lnTo>
                  <a:pt x="9998" y="6000"/>
                </a:lnTo>
                <a:lnTo>
                  <a:pt x="9998" y="7000"/>
                </a:lnTo>
                <a:lnTo>
                  <a:pt x="8998" y="7000"/>
                </a:lnTo>
                <a:lnTo>
                  <a:pt x="8998" y="8500"/>
                </a:lnTo>
                <a:cubicBezTo>
                  <a:pt x="8998" y="8640"/>
                  <a:pt x="8949" y="8758"/>
                  <a:pt x="8853" y="8855"/>
                </a:cubicBezTo>
                <a:cubicBezTo>
                  <a:pt x="8756" y="8951"/>
                  <a:pt x="8638" y="9000"/>
                  <a:pt x="8498" y="9000"/>
                </a:cubicBezTo>
                <a:lnTo>
                  <a:pt x="6999" y="9000"/>
                </a:lnTo>
                <a:lnTo>
                  <a:pt x="6999" y="10000"/>
                </a:lnTo>
                <a:lnTo>
                  <a:pt x="5999" y="10000"/>
                </a:lnTo>
                <a:moveTo>
                  <a:pt x="2999" y="7000"/>
                </a:moveTo>
                <a:lnTo>
                  <a:pt x="2999" y="3000"/>
                </a:lnTo>
                <a:lnTo>
                  <a:pt x="6999" y="3000"/>
                </a:lnTo>
                <a:lnTo>
                  <a:pt x="6999" y="7000"/>
                </a:lnTo>
              </a:path>
            </a:pathLst>
          </a:cu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6418245" y="2452985"/>
            <a:ext cx="2104499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STEP 03 · AI分析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6418245" y="2805410"/>
            <a:ext cx="2294951" cy="850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将累积情绪数据交给大模型，由专业心理AI判断健康趋势，识别心理健康状态，潜在风险并提供预警建议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922694" y="1681460"/>
            <a:ext cx="2485404" cy="3048000"/>
          </a:xfrm>
          <a:prstGeom prst="rect">
            <a:avLst/>
          </a:prstGeom>
          <a:solidFill>
            <a:srgbClr val="ECAA0B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AutoShape 22"/>
          <p:cNvSpPr/>
          <p:nvPr/>
        </p:nvSpPr>
        <p:spPr>
          <a:xfrm>
            <a:off x="9113147" y="1891010"/>
            <a:ext cx="399950" cy="40005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AutoShape 23"/>
          <p:cNvSpPr/>
          <p:nvPr/>
        </p:nvSpPr>
        <p:spPr>
          <a:xfrm>
            <a:off x="9198775" y="1976735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1000"/>
                </a:moveTo>
                <a:cubicBezTo>
                  <a:pt x="4325" y="1000"/>
                  <a:pt x="3692" y="1160"/>
                  <a:pt x="3099" y="1480"/>
                </a:cubicBezTo>
                <a:cubicBezTo>
                  <a:pt x="2526" y="1786"/>
                  <a:pt x="2056" y="2210"/>
                  <a:pt x="1690" y="2750"/>
                </a:cubicBezTo>
                <a:lnTo>
                  <a:pt x="2999" y="2750"/>
                </a:lnTo>
                <a:lnTo>
                  <a:pt x="2999" y="3750"/>
                </a:lnTo>
                <a:lnTo>
                  <a:pt x="0" y="3750"/>
                </a:lnTo>
                <a:lnTo>
                  <a:pt x="0" y="750"/>
                </a:lnTo>
                <a:lnTo>
                  <a:pt x="1000" y="750"/>
                </a:lnTo>
                <a:lnTo>
                  <a:pt x="1000" y="2000"/>
                </a:lnTo>
                <a:cubicBezTo>
                  <a:pt x="1466" y="1380"/>
                  <a:pt x="2043" y="893"/>
                  <a:pt x="2729" y="540"/>
                </a:cubicBezTo>
                <a:cubicBezTo>
                  <a:pt x="3435" y="180"/>
                  <a:pt x="4192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lnTo>
                  <a:pt x="8998" y="5000"/>
                </a:ln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moveTo>
                  <a:pt x="0" y="5000"/>
                </a:moveTo>
                <a:lnTo>
                  <a:pt x="1000" y="5000"/>
                </a:ln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cubicBezTo>
                  <a:pt x="5672" y="9000"/>
                  <a:pt x="6305" y="8840"/>
                  <a:pt x="6899" y="8520"/>
                </a:cubicBezTo>
                <a:cubicBezTo>
                  <a:pt x="7471" y="8213"/>
                  <a:pt x="7941" y="7790"/>
                  <a:pt x="8308" y="7250"/>
                </a:cubicBezTo>
                <a:lnTo>
                  <a:pt x="6999" y="7250"/>
                </a:lnTo>
                <a:lnTo>
                  <a:pt x="6999" y="6250"/>
                </a:lnTo>
                <a:lnTo>
                  <a:pt x="9998" y="6250"/>
                </a:lnTo>
                <a:lnTo>
                  <a:pt x="9998" y="9250"/>
                </a:lnTo>
                <a:lnTo>
                  <a:pt x="8998" y="9250"/>
                </a:lnTo>
                <a:lnTo>
                  <a:pt x="8998" y="8000"/>
                </a:lnTo>
                <a:cubicBezTo>
                  <a:pt x="8531" y="8620"/>
                  <a:pt x="7955" y="9106"/>
                  <a:pt x="7269" y="9460"/>
                </a:cubicBezTo>
                <a:cubicBezTo>
                  <a:pt x="6562" y="9820"/>
                  <a:pt x="5805" y="10000"/>
                  <a:pt x="4999" y="10000"/>
                </a:cubicBez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</a:path>
            </a:pathLst>
          </a:cu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9113147" y="2452985"/>
            <a:ext cx="2104499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STEP 04 · 智能体赋格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9113147" y="2805410"/>
            <a:ext cx="2294951" cy="508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将上述所有的采集、存储、分析、报告与预警全流程智能化，构建多智能体协作的自动化干预系统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7990" y="4900910"/>
            <a:ext cx="10570107" cy="839093"/>
          </a:xfrm>
          <a:prstGeom prst="rect">
            <a:avLst/>
          </a:pr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1085578" y="5091410"/>
            <a:ext cx="11103374" cy="44812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ln/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摒弃"填表-判断"的传统模式，构建"无感采集-数据积累-AI分析-智能体闭环"的新型心理监测链路，实现从主观干预到客观智能预警的跨越，让</a:t>
            </a:r>
            <a:endParaRPr lang="en-US" sz="1100"/>
          </a:p>
          <a:p>
            <a:pPr algn="l"/>
            <a:r>
              <a:rPr sz="1200" b="0" i="0" strike="noStrike">
                <a:ln/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AI成为心理健康教育的可靠助手。</a:t>
            </a:r>
            <a:endParaRPr/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780854" y="457200"/>
            <a:ext cx="1062724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THEREFORE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0854" y="742950"/>
            <a:ext cx="10627243" cy="469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1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心镜：全链路智能化心理监测平台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80854" y="1306711"/>
            <a:ext cx="1333166" cy="5715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AutoShape 6"/>
          <p:cNvSpPr/>
          <p:nvPr/>
        </p:nvSpPr>
        <p:spPr>
          <a:xfrm>
            <a:off x="780854" y="1516261"/>
            <a:ext cx="2542539" cy="57150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AutoShape 7"/>
          <p:cNvSpPr/>
          <p:nvPr/>
        </p:nvSpPr>
        <p:spPr>
          <a:xfrm>
            <a:off x="1918807" y="1668661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6089" y="1111"/>
                </a:moveTo>
                <a:lnTo>
                  <a:pt x="3909" y="1111"/>
                </a:lnTo>
                <a:lnTo>
                  <a:pt x="2909" y="2222"/>
                </a:lnTo>
                <a:lnTo>
                  <a:pt x="1000" y="2222"/>
                </a:lnTo>
                <a:lnTo>
                  <a:pt x="1000" y="8889"/>
                </a:lnTo>
                <a:lnTo>
                  <a:pt x="8998" y="8889"/>
                </a:lnTo>
                <a:lnTo>
                  <a:pt x="8998" y="2222"/>
                </a:lnTo>
                <a:lnTo>
                  <a:pt x="7089" y="2222"/>
                </a:lnTo>
                <a:lnTo>
                  <a:pt x="6089" y="1111"/>
                </a:lnTo>
                <a:moveTo>
                  <a:pt x="2499" y="1111"/>
                </a:moveTo>
                <a:lnTo>
                  <a:pt x="3499" y="0"/>
                </a:lnTo>
                <a:lnTo>
                  <a:pt x="6499" y="0"/>
                </a:lnTo>
                <a:lnTo>
                  <a:pt x="7498" y="1111"/>
                </a:lnTo>
                <a:lnTo>
                  <a:pt x="9498" y="1111"/>
                </a:lnTo>
                <a:cubicBezTo>
                  <a:pt x="9638" y="1111"/>
                  <a:pt x="9756" y="1164"/>
                  <a:pt x="9853" y="1272"/>
                </a:cubicBezTo>
                <a:cubicBezTo>
                  <a:pt x="9949" y="1379"/>
                  <a:pt x="9998" y="1511"/>
                  <a:pt x="9998" y="1667"/>
                </a:cubicBezTo>
                <a:lnTo>
                  <a:pt x="9998" y="9444"/>
                </a:lnTo>
                <a:cubicBezTo>
                  <a:pt x="9998" y="9600"/>
                  <a:pt x="9949" y="9731"/>
                  <a:pt x="9853" y="9839"/>
                </a:cubicBezTo>
                <a:cubicBezTo>
                  <a:pt x="9756" y="9946"/>
                  <a:pt x="9638" y="10000"/>
                  <a:pt x="9498" y="10000"/>
                </a:cubicBezTo>
                <a:lnTo>
                  <a:pt x="500" y="10000"/>
                </a:lnTo>
                <a:cubicBezTo>
                  <a:pt x="360" y="10000"/>
                  <a:pt x="241" y="9946"/>
                  <a:pt x="145" y="9839"/>
                </a:cubicBezTo>
                <a:cubicBezTo>
                  <a:pt x="48" y="9731"/>
                  <a:pt x="0" y="9600"/>
                  <a:pt x="0" y="9444"/>
                </a:cubicBezTo>
                <a:lnTo>
                  <a:pt x="0" y="1667"/>
                </a:lnTo>
                <a:cubicBezTo>
                  <a:pt x="0" y="1511"/>
                  <a:pt x="48" y="1379"/>
                  <a:pt x="145" y="1272"/>
                </a:cubicBezTo>
                <a:cubicBezTo>
                  <a:pt x="241" y="1164"/>
                  <a:pt x="360" y="1111"/>
                  <a:pt x="500" y="1111"/>
                </a:cubicBezTo>
                <a:lnTo>
                  <a:pt x="2499" y="1111"/>
                </a:lnTo>
                <a:moveTo>
                  <a:pt x="4999" y="8333"/>
                </a:moveTo>
                <a:cubicBezTo>
                  <a:pt x="4499" y="8333"/>
                  <a:pt x="4039" y="8196"/>
                  <a:pt x="3619" y="7922"/>
                </a:cubicBezTo>
                <a:cubicBezTo>
                  <a:pt x="3199" y="7648"/>
                  <a:pt x="2865" y="7277"/>
                  <a:pt x="2619" y="6811"/>
                </a:cubicBezTo>
                <a:cubicBezTo>
                  <a:pt x="2373" y="6344"/>
                  <a:pt x="2250" y="5833"/>
                  <a:pt x="2250" y="5278"/>
                </a:cubicBezTo>
                <a:cubicBezTo>
                  <a:pt x="2250" y="4722"/>
                  <a:pt x="2373" y="4210"/>
                  <a:pt x="2619" y="3744"/>
                </a:cubicBezTo>
                <a:cubicBezTo>
                  <a:pt x="2865" y="3277"/>
                  <a:pt x="3199" y="2907"/>
                  <a:pt x="3619" y="2633"/>
                </a:cubicBezTo>
                <a:cubicBezTo>
                  <a:pt x="4039" y="2359"/>
                  <a:pt x="4499" y="2222"/>
                  <a:pt x="4999" y="2222"/>
                </a:cubicBezTo>
                <a:cubicBezTo>
                  <a:pt x="5499" y="2222"/>
                  <a:pt x="5959" y="2359"/>
                  <a:pt x="6379" y="2633"/>
                </a:cubicBezTo>
                <a:cubicBezTo>
                  <a:pt x="6799" y="2907"/>
                  <a:pt x="7132" y="3277"/>
                  <a:pt x="7379" y="3744"/>
                </a:cubicBezTo>
                <a:cubicBezTo>
                  <a:pt x="7625" y="4210"/>
                  <a:pt x="7748" y="4722"/>
                  <a:pt x="7748" y="5278"/>
                </a:cubicBezTo>
                <a:cubicBezTo>
                  <a:pt x="7748" y="5833"/>
                  <a:pt x="7625" y="6344"/>
                  <a:pt x="7379" y="6811"/>
                </a:cubicBezTo>
                <a:cubicBezTo>
                  <a:pt x="7132" y="7277"/>
                  <a:pt x="6799" y="7648"/>
                  <a:pt x="6379" y="7922"/>
                </a:cubicBezTo>
                <a:cubicBezTo>
                  <a:pt x="5959" y="8196"/>
                  <a:pt x="5499" y="8333"/>
                  <a:pt x="4999" y="8333"/>
                </a:cubicBezTo>
                <a:moveTo>
                  <a:pt x="4999" y="7222"/>
                </a:moveTo>
                <a:cubicBezTo>
                  <a:pt x="5319" y="7222"/>
                  <a:pt x="5612" y="7135"/>
                  <a:pt x="5879" y="6961"/>
                </a:cubicBezTo>
                <a:cubicBezTo>
                  <a:pt x="6145" y="6787"/>
                  <a:pt x="6357" y="6552"/>
                  <a:pt x="6514" y="6256"/>
                </a:cubicBezTo>
                <a:cubicBezTo>
                  <a:pt x="6670" y="5959"/>
                  <a:pt x="6749" y="5633"/>
                  <a:pt x="6749" y="5278"/>
                </a:cubicBezTo>
                <a:cubicBezTo>
                  <a:pt x="6749" y="4922"/>
                  <a:pt x="6670" y="4596"/>
                  <a:pt x="6514" y="4300"/>
                </a:cubicBezTo>
                <a:cubicBezTo>
                  <a:pt x="6357" y="4004"/>
                  <a:pt x="6145" y="3768"/>
                  <a:pt x="5879" y="3594"/>
                </a:cubicBezTo>
                <a:cubicBezTo>
                  <a:pt x="5612" y="3420"/>
                  <a:pt x="5319" y="3333"/>
                  <a:pt x="4999" y="3333"/>
                </a:cubicBezTo>
                <a:cubicBezTo>
                  <a:pt x="4679" y="3333"/>
                  <a:pt x="4385" y="3420"/>
                  <a:pt x="4119" y="3594"/>
                </a:cubicBezTo>
                <a:cubicBezTo>
                  <a:pt x="3852" y="3768"/>
                  <a:pt x="3640" y="4004"/>
                  <a:pt x="3484" y="4300"/>
                </a:cubicBezTo>
                <a:cubicBezTo>
                  <a:pt x="3327" y="4596"/>
                  <a:pt x="3249" y="4922"/>
                  <a:pt x="3249" y="5278"/>
                </a:cubicBezTo>
                <a:cubicBezTo>
                  <a:pt x="3249" y="5633"/>
                  <a:pt x="3327" y="5959"/>
                  <a:pt x="3484" y="6256"/>
                </a:cubicBezTo>
                <a:cubicBezTo>
                  <a:pt x="3640" y="6552"/>
                  <a:pt x="3852" y="6787"/>
                  <a:pt x="4119" y="6961"/>
                </a:cubicBezTo>
                <a:cubicBezTo>
                  <a:pt x="4385" y="7135"/>
                  <a:pt x="4679" y="7222"/>
                  <a:pt x="4999" y="7222"/>
                </a:cubicBezTo>
              </a:path>
            </a:pathLst>
          </a:cu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AutoShape 8"/>
          <p:cNvSpPr/>
          <p:nvPr/>
        </p:nvSpPr>
        <p:spPr>
          <a:xfrm>
            <a:off x="780854" y="2087761"/>
            <a:ext cx="2542539" cy="5715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914171" y="2287786"/>
            <a:ext cx="2275906" cy="279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采集层 · 无感采集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914171" y="2940050"/>
            <a:ext cx="2409223" cy="977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利用教室普通摄像头实现无穿戴、无感知采集，原始视频数据在本地即刻销毁以保障隐私安全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75756" y="1516261"/>
            <a:ext cx="2542539" cy="57150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AutoShape 12"/>
          <p:cNvSpPr/>
          <p:nvPr/>
        </p:nvSpPr>
        <p:spPr>
          <a:xfrm>
            <a:off x="4613709" y="1668661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0"/>
                </a:moveTo>
                <a:cubicBezTo>
                  <a:pt x="5812" y="0"/>
                  <a:pt x="6582" y="222"/>
                  <a:pt x="7309" y="667"/>
                </a:cubicBezTo>
                <a:cubicBezTo>
                  <a:pt x="8005" y="1096"/>
                  <a:pt x="8591" y="1690"/>
                  <a:pt x="9069" y="2450"/>
                </a:cubicBezTo>
                <a:cubicBezTo>
                  <a:pt x="9546" y="3209"/>
                  <a:pt x="9856" y="4059"/>
                  <a:pt x="9998" y="5000"/>
                </a:cubicBezTo>
                <a:cubicBezTo>
                  <a:pt x="9856" y="5940"/>
                  <a:pt x="9546" y="6790"/>
                  <a:pt x="9069" y="7550"/>
                </a:cubicBezTo>
                <a:cubicBezTo>
                  <a:pt x="8591" y="8309"/>
                  <a:pt x="8005" y="8903"/>
                  <a:pt x="7309" y="9333"/>
                </a:cubicBezTo>
                <a:cubicBezTo>
                  <a:pt x="6582" y="9777"/>
                  <a:pt x="5812" y="10000"/>
                  <a:pt x="4999" y="10000"/>
                </a:cubicBezTo>
                <a:cubicBezTo>
                  <a:pt x="4185" y="10000"/>
                  <a:pt x="3415" y="9777"/>
                  <a:pt x="2689" y="9333"/>
                </a:cubicBezTo>
                <a:cubicBezTo>
                  <a:pt x="1993" y="8903"/>
                  <a:pt x="1406" y="8309"/>
                  <a:pt x="929" y="7550"/>
                </a:cubicBezTo>
                <a:cubicBezTo>
                  <a:pt x="451" y="6790"/>
                  <a:pt x="142" y="5940"/>
                  <a:pt x="0" y="5000"/>
                </a:cubicBezTo>
                <a:cubicBezTo>
                  <a:pt x="142" y="4059"/>
                  <a:pt x="451" y="3209"/>
                  <a:pt x="929" y="2450"/>
                </a:cubicBezTo>
                <a:cubicBezTo>
                  <a:pt x="1406" y="1690"/>
                  <a:pt x="1993" y="1096"/>
                  <a:pt x="2689" y="667"/>
                </a:cubicBezTo>
                <a:cubicBezTo>
                  <a:pt x="3415" y="222"/>
                  <a:pt x="4185" y="0"/>
                  <a:pt x="4999" y="0"/>
                </a:cubicBezTo>
                <a:moveTo>
                  <a:pt x="4999" y="8889"/>
                </a:moveTo>
                <a:cubicBezTo>
                  <a:pt x="5639" y="8889"/>
                  <a:pt x="6249" y="8718"/>
                  <a:pt x="6829" y="8378"/>
                </a:cubicBezTo>
                <a:cubicBezTo>
                  <a:pt x="7389" y="8052"/>
                  <a:pt x="7864" y="7592"/>
                  <a:pt x="8256" y="7000"/>
                </a:cubicBezTo>
                <a:cubicBezTo>
                  <a:pt x="8647" y="6407"/>
                  <a:pt x="8913" y="5740"/>
                  <a:pt x="9055" y="5000"/>
                </a:cubicBezTo>
                <a:cubicBezTo>
                  <a:pt x="8913" y="4259"/>
                  <a:pt x="8647" y="3592"/>
                  <a:pt x="8256" y="3000"/>
                </a:cubicBezTo>
                <a:cubicBezTo>
                  <a:pt x="7864" y="2407"/>
                  <a:pt x="7389" y="1948"/>
                  <a:pt x="6829" y="1622"/>
                </a:cubicBezTo>
                <a:cubicBezTo>
                  <a:pt x="6249" y="1281"/>
                  <a:pt x="5639" y="1111"/>
                  <a:pt x="4999" y="1111"/>
                </a:cubicBezTo>
                <a:cubicBezTo>
                  <a:pt x="4358" y="1111"/>
                  <a:pt x="3748" y="1281"/>
                  <a:pt x="3169" y="1622"/>
                </a:cubicBezTo>
                <a:cubicBezTo>
                  <a:pt x="2609" y="1948"/>
                  <a:pt x="2133" y="2407"/>
                  <a:pt x="1742" y="3000"/>
                </a:cubicBezTo>
                <a:cubicBezTo>
                  <a:pt x="1350" y="3592"/>
                  <a:pt x="1084" y="4259"/>
                  <a:pt x="943" y="5000"/>
                </a:cubicBezTo>
                <a:cubicBezTo>
                  <a:pt x="1084" y="5740"/>
                  <a:pt x="1350" y="6407"/>
                  <a:pt x="1742" y="7000"/>
                </a:cubicBezTo>
                <a:cubicBezTo>
                  <a:pt x="2133" y="7592"/>
                  <a:pt x="2609" y="8052"/>
                  <a:pt x="3169" y="8378"/>
                </a:cubicBezTo>
                <a:cubicBezTo>
                  <a:pt x="3748" y="8718"/>
                  <a:pt x="4358" y="8889"/>
                  <a:pt x="4999" y="8889"/>
                </a:cubicBezTo>
                <a:moveTo>
                  <a:pt x="4999" y="7500"/>
                </a:moveTo>
                <a:cubicBezTo>
                  <a:pt x="4623" y="7500"/>
                  <a:pt x="4276" y="7387"/>
                  <a:pt x="3959" y="7161"/>
                </a:cubicBezTo>
                <a:cubicBezTo>
                  <a:pt x="3642" y="6935"/>
                  <a:pt x="3390" y="6631"/>
                  <a:pt x="3202" y="6250"/>
                </a:cubicBezTo>
                <a:cubicBezTo>
                  <a:pt x="3014" y="5868"/>
                  <a:pt x="2920" y="5452"/>
                  <a:pt x="2920" y="5000"/>
                </a:cubicBezTo>
                <a:cubicBezTo>
                  <a:pt x="2920" y="4548"/>
                  <a:pt x="3014" y="4131"/>
                  <a:pt x="3202" y="3750"/>
                </a:cubicBezTo>
                <a:cubicBezTo>
                  <a:pt x="3390" y="3368"/>
                  <a:pt x="3642" y="3065"/>
                  <a:pt x="3959" y="2839"/>
                </a:cubicBezTo>
                <a:cubicBezTo>
                  <a:pt x="4276" y="2613"/>
                  <a:pt x="4623" y="2500"/>
                  <a:pt x="4999" y="2500"/>
                </a:cubicBezTo>
                <a:cubicBezTo>
                  <a:pt x="5375" y="2500"/>
                  <a:pt x="5721" y="2613"/>
                  <a:pt x="6039" y="2839"/>
                </a:cubicBezTo>
                <a:cubicBezTo>
                  <a:pt x="6355" y="3065"/>
                  <a:pt x="6608" y="3368"/>
                  <a:pt x="6796" y="3750"/>
                </a:cubicBezTo>
                <a:cubicBezTo>
                  <a:pt x="6984" y="4131"/>
                  <a:pt x="7078" y="4548"/>
                  <a:pt x="7078" y="5000"/>
                </a:cubicBezTo>
                <a:cubicBezTo>
                  <a:pt x="7078" y="5452"/>
                  <a:pt x="6984" y="5868"/>
                  <a:pt x="6796" y="6250"/>
                </a:cubicBezTo>
                <a:cubicBezTo>
                  <a:pt x="6608" y="6631"/>
                  <a:pt x="6355" y="6935"/>
                  <a:pt x="6039" y="7161"/>
                </a:cubicBezTo>
                <a:cubicBezTo>
                  <a:pt x="5721" y="7387"/>
                  <a:pt x="5375" y="7500"/>
                  <a:pt x="4999" y="7500"/>
                </a:cubicBezTo>
                <a:moveTo>
                  <a:pt x="4999" y="6389"/>
                </a:moveTo>
                <a:cubicBezTo>
                  <a:pt x="5208" y="6389"/>
                  <a:pt x="5401" y="6326"/>
                  <a:pt x="5577" y="6200"/>
                </a:cubicBezTo>
                <a:cubicBezTo>
                  <a:pt x="5752" y="6074"/>
                  <a:pt x="5892" y="5905"/>
                  <a:pt x="5997" y="5694"/>
                </a:cubicBezTo>
                <a:cubicBezTo>
                  <a:pt x="6101" y="5483"/>
                  <a:pt x="6154" y="5252"/>
                  <a:pt x="6154" y="5000"/>
                </a:cubicBezTo>
                <a:cubicBezTo>
                  <a:pt x="6154" y="4748"/>
                  <a:pt x="6101" y="4516"/>
                  <a:pt x="5997" y="4306"/>
                </a:cubicBezTo>
                <a:cubicBezTo>
                  <a:pt x="5892" y="4094"/>
                  <a:pt x="5752" y="3926"/>
                  <a:pt x="5577" y="3800"/>
                </a:cubicBezTo>
                <a:cubicBezTo>
                  <a:pt x="5401" y="3674"/>
                  <a:pt x="5208" y="3611"/>
                  <a:pt x="4999" y="3611"/>
                </a:cubicBezTo>
                <a:cubicBezTo>
                  <a:pt x="4789" y="3611"/>
                  <a:pt x="4597" y="3674"/>
                  <a:pt x="4421" y="3800"/>
                </a:cubicBezTo>
                <a:cubicBezTo>
                  <a:pt x="4245" y="3926"/>
                  <a:pt x="4105" y="4094"/>
                  <a:pt x="4001" y="4306"/>
                </a:cubicBezTo>
                <a:cubicBezTo>
                  <a:pt x="3896" y="4516"/>
                  <a:pt x="3844" y="4748"/>
                  <a:pt x="3844" y="5000"/>
                </a:cubicBezTo>
                <a:cubicBezTo>
                  <a:pt x="3844" y="5252"/>
                  <a:pt x="3896" y="5483"/>
                  <a:pt x="4001" y="5694"/>
                </a:cubicBezTo>
                <a:cubicBezTo>
                  <a:pt x="4105" y="5905"/>
                  <a:pt x="4245" y="6074"/>
                  <a:pt x="4421" y="6200"/>
                </a:cubicBezTo>
                <a:cubicBezTo>
                  <a:pt x="4597" y="6326"/>
                  <a:pt x="4789" y="6389"/>
                  <a:pt x="4999" y="6389"/>
                </a:cubicBezTo>
              </a:path>
            </a:pathLst>
          </a:cu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AutoShape 13"/>
          <p:cNvSpPr/>
          <p:nvPr/>
        </p:nvSpPr>
        <p:spPr>
          <a:xfrm>
            <a:off x="3475756" y="2087761"/>
            <a:ext cx="2542539" cy="5715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3609072" y="2287786"/>
            <a:ext cx="2275906" cy="279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感知层 · 双模态融合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3609072" y="2978624"/>
            <a:ext cx="2409223" cy="977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创新结合面部微表情与VibraImage前庭振动信号，精准捕捉不可伪装的生理情绪特征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170657" y="1516261"/>
            <a:ext cx="2542539" cy="57150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AutoShape 17"/>
          <p:cNvSpPr/>
          <p:nvPr/>
        </p:nvSpPr>
        <p:spPr>
          <a:xfrm>
            <a:off x="7308610" y="1668661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2000" y="2000"/>
                </a:moveTo>
                <a:lnTo>
                  <a:pt x="2000" y="8000"/>
                </a:lnTo>
                <a:lnTo>
                  <a:pt x="7998" y="8000"/>
                </a:lnTo>
                <a:lnTo>
                  <a:pt x="7998" y="2000"/>
                </a:lnTo>
                <a:lnTo>
                  <a:pt x="2000" y="2000"/>
                </a:lnTo>
                <a:moveTo>
                  <a:pt x="5999" y="10000"/>
                </a:moveTo>
                <a:lnTo>
                  <a:pt x="5999" y="9000"/>
                </a:lnTo>
                <a:lnTo>
                  <a:pt x="3999" y="9000"/>
                </a:lnTo>
                <a:lnTo>
                  <a:pt x="3999" y="10000"/>
                </a:lnTo>
                <a:lnTo>
                  <a:pt x="2999" y="10000"/>
                </a:lnTo>
                <a:lnTo>
                  <a:pt x="2999" y="9000"/>
                </a:lnTo>
                <a:lnTo>
                  <a:pt x="1500" y="9000"/>
                </a:lnTo>
                <a:cubicBezTo>
                  <a:pt x="1360" y="9000"/>
                  <a:pt x="1241" y="8951"/>
                  <a:pt x="1145" y="8855"/>
                </a:cubicBezTo>
                <a:cubicBezTo>
                  <a:pt x="1048" y="8758"/>
                  <a:pt x="1000" y="8640"/>
                  <a:pt x="1000" y="8500"/>
                </a:cubicBezTo>
                <a:lnTo>
                  <a:pt x="1000" y="7000"/>
                </a:lnTo>
                <a:lnTo>
                  <a:pt x="0" y="7000"/>
                </a:lnTo>
                <a:lnTo>
                  <a:pt x="0" y="6000"/>
                </a:lnTo>
                <a:lnTo>
                  <a:pt x="1000" y="6000"/>
                </a:lnTo>
                <a:lnTo>
                  <a:pt x="1000" y="4000"/>
                </a:lnTo>
                <a:lnTo>
                  <a:pt x="0" y="4000"/>
                </a:lnTo>
                <a:lnTo>
                  <a:pt x="0" y="3000"/>
                </a:lnTo>
                <a:lnTo>
                  <a:pt x="1000" y="3000"/>
                </a:lnTo>
                <a:lnTo>
                  <a:pt x="1000" y="1500"/>
                </a:lnTo>
                <a:cubicBezTo>
                  <a:pt x="1000" y="1360"/>
                  <a:pt x="1048" y="1241"/>
                  <a:pt x="1145" y="1145"/>
                </a:cubicBezTo>
                <a:cubicBezTo>
                  <a:pt x="1241" y="1048"/>
                  <a:pt x="1360" y="1000"/>
                  <a:pt x="1500" y="1000"/>
                </a:cubicBezTo>
                <a:lnTo>
                  <a:pt x="2999" y="1000"/>
                </a:lnTo>
                <a:lnTo>
                  <a:pt x="2999" y="0"/>
                </a:lnTo>
                <a:lnTo>
                  <a:pt x="3999" y="0"/>
                </a:lnTo>
                <a:lnTo>
                  <a:pt x="3999" y="1000"/>
                </a:lnTo>
                <a:lnTo>
                  <a:pt x="5999" y="1000"/>
                </a:lnTo>
                <a:lnTo>
                  <a:pt x="5999" y="0"/>
                </a:lnTo>
                <a:lnTo>
                  <a:pt x="6999" y="0"/>
                </a:lnTo>
                <a:lnTo>
                  <a:pt x="6999" y="1000"/>
                </a:lnTo>
                <a:lnTo>
                  <a:pt x="8498" y="1000"/>
                </a:lnTo>
                <a:cubicBezTo>
                  <a:pt x="8638" y="1000"/>
                  <a:pt x="8756" y="1048"/>
                  <a:pt x="8853" y="1145"/>
                </a:cubicBezTo>
                <a:cubicBezTo>
                  <a:pt x="8949" y="1241"/>
                  <a:pt x="8998" y="1360"/>
                  <a:pt x="8998" y="1500"/>
                </a:cubicBezTo>
                <a:lnTo>
                  <a:pt x="8998" y="3000"/>
                </a:lnTo>
                <a:lnTo>
                  <a:pt x="9998" y="3000"/>
                </a:lnTo>
                <a:lnTo>
                  <a:pt x="9998" y="4000"/>
                </a:lnTo>
                <a:lnTo>
                  <a:pt x="8998" y="4000"/>
                </a:lnTo>
                <a:lnTo>
                  <a:pt x="8998" y="6000"/>
                </a:lnTo>
                <a:lnTo>
                  <a:pt x="9998" y="6000"/>
                </a:lnTo>
                <a:lnTo>
                  <a:pt x="9998" y="7000"/>
                </a:lnTo>
                <a:lnTo>
                  <a:pt x="8998" y="7000"/>
                </a:lnTo>
                <a:lnTo>
                  <a:pt x="8998" y="8500"/>
                </a:lnTo>
                <a:cubicBezTo>
                  <a:pt x="8998" y="8640"/>
                  <a:pt x="8949" y="8758"/>
                  <a:pt x="8853" y="8855"/>
                </a:cubicBezTo>
                <a:cubicBezTo>
                  <a:pt x="8756" y="8951"/>
                  <a:pt x="8638" y="9000"/>
                  <a:pt x="8498" y="9000"/>
                </a:cubicBezTo>
                <a:lnTo>
                  <a:pt x="6999" y="9000"/>
                </a:lnTo>
                <a:lnTo>
                  <a:pt x="6999" y="10000"/>
                </a:lnTo>
                <a:lnTo>
                  <a:pt x="5999" y="10000"/>
                </a:lnTo>
                <a:moveTo>
                  <a:pt x="2999" y="7000"/>
                </a:moveTo>
                <a:lnTo>
                  <a:pt x="2999" y="3000"/>
                </a:lnTo>
                <a:lnTo>
                  <a:pt x="6999" y="3000"/>
                </a:lnTo>
                <a:lnTo>
                  <a:pt x="6999" y="7000"/>
                </a:lnTo>
              </a:path>
            </a:pathLst>
          </a:cu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AutoShape 18"/>
          <p:cNvSpPr/>
          <p:nvPr/>
        </p:nvSpPr>
        <p:spPr>
          <a:xfrm>
            <a:off x="6170657" y="2087761"/>
            <a:ext cx="2542539" cy="5715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6303974" y="2287786"/>
            <a:ext cx="2275906" cy="279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决策层 · 智能推理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6303974" y="2940050"/>
            <a:ext cx="2409223" cy="977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构建5智能体双环驱动系统，依托Lingshu-32B医疗大模型进行深度心理</a:t>
            </a:r>
            <a:endParaRPr lang="en-US" sz="1100"/>
          </a:p>
          <a:p>
            <a:pPr algn="l"/>
            <a:r>
              <a:rPr sz="16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推理与状态研判</a:t>
            </a: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865558" y="1516261"/>
            <a:ext cx="2542539" cy="57150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AutoShape 22"/>
          <p:cNvSpPr/>
          <p:nvPr/>
        </p:nvSpPr>
        <p:spPr>
          <a:xfrm>
            <a:off x="10003511" y="1668661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6665" y="0"/>
                </a:moveTo>
                <a:lnTo>
                  <a:pt x="9998" y="3000"/>
                </a:lnTo>
                <a:lnTo>
                  <a:pt x="9998" y="9500"/>
                </a:lnTo>
                <a:cubicBezTo>
                  <a:pt x="9998" y="9640"/>
                  <a:pt x="9944" y="9758"/>
                  <a:pt x="9837" y="9855"/>
                </a:cubicBezTo>
                <a:cubicBezTo>
                  <a:pt x="9729" y="9951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51"/>
                  <a:pt x="161" y="9855"/>
                </a:cubicBezTo>
                <a:cubicBezTo>
                  <a:pt x="53" y="9758"/>
                  <a:pt x="0" y="9640"/>
                  <a:pt x="0" y="9500"/>
                </a:cubicBezTo>
                <a:lnTo>
                  <a:pt x="0" y="500"/>
                </a:lnTo>
                <a:cubicBezTo>
                  <a:pt x="0" y="360"/>
                  <a:pt x="53" y="241"/>
                  <a:pt x="161" y="145"/>
                </a:cubicBezTo>
                <a:cubicBezTo>
                  <a:pt x="268" y="48"/>
                  <a:pt x="399" y="0"/>
                  <a:pt x="555" y="0"/>
                </a:cubicBezTo>
                <a:lnTo>
                  <a:pt x="6665" y="0"/>
                </a:lnTo>
                <a:moveTo>
                  <a:pt x="8887" y="9000"/>
                </a:moveTo>
                <a:lnTo>
                  <a:pt x="8887" y="3500"/>
                </a:lnTo>
                <a:lnTo>
                  <a:pt x="6110" y="3500"/>
                </a:lnTo>
                <a:lnTo>
                  <a:pt x="6110" y="1000"/>
                </a:lnTo>
                <a:lnTo>
                  <a:pt x="1111" y="1000"/>
                </a:lnTo>
                <a:lnTo>
                  <a:pt x="1111" y="9000"/>
                </a:lnTo>
                <a:lnTo>
                  <a:pt x="8887" y="9000"/>
                </a:lnTo>
                <a:moveTo>
                  <a:pt x="2777" y="3500"/>
                </a:moveTo>
                <a:lnTo>
                  <a:pt x="2777" y="2500"/>
                </a:lnTo>
                <a:lnTo>
                  <a:pt x="4444" y="2500"/>
                </a:lnTo>
                <a:lnTo>
                  <a:pt x="4444" y="3500"/>
                </a:lnTo>
                <a:lnTo>
                  <a:pt x="2777" y="3500"/>
                </a:lnTo>
                <a:moveTo>
                  <a:pt x="2777" y="5500"/>
                </a:moveTo>
                <a:lnTo>
                  <a:pt x="2777" y="4500"/>
                </a:lnTo>
                <a:lnTo>
                  <a:pt x="7221" y="4500"/>
                </a:lnTo>
                <a:lnTo>
                  <a:pt x="7221" y="5500"/>
                </a:lnTo>
                <a:lnTo>
                  <a:pt x="2777" y="5500"/>
                </a:lnTo>
                <a:moveTo>
                  <a:pt x="2777" y="7500"/>
                </a:moveTo>
                <a:lnTo>
                  <a:pt x="2777" y="6500"/>
                </a:lnTo>
                <a:lnTo>
                  <a:pt x="7221" y="6500"/>
                </a:lnTo>
                <a:lnTo>
                  <a:pt x="7221" y="7500"/>
                </a:lnTo>
              </a:path>
            </a:pathLst>
          </a:cu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AutoShape 23"/>
          <p:cNvSpPr/>
          <p:nvPr/>
        </p:nvSpPr>
        <p:spPr>
          <a:xfrm>
            <a:off x="8865558" y="2087761"/>
            <a:ext cx="2542539" cy="5715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8998875" y="2287786"/>
            <a:ext cx="2275906" cy="279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服务层 · AIGC产出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9065532" y="2978624"/>
            <a:ext cx="2409223" cy="977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自动生成心理评估日报、干预方案、家校沟通函及成长叙事四类文书，并触发三级预警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82378" y="4602063"/>
            <a:ext cx="10627243" cy="1030486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915695" y="4790237"/>
            <a:ext cx="10360609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心镜平台采用四层解耦架构设计，从底层无感采集到顶层AIGC服务，打造智慧教室场景下的"情绪CT机"与"AI</a:t>
            </a:r>
            <a:endParaRPr lang="en-US" sz="1100"/>
          </a:p>
          <a:p>
            <a:pPr algn="l"/>
            <a:r>
              <a:rPr sz="16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心理报告生成器"，实现从数据采集到智能服务的完整闭环。</a:t>
            </a:r>
            <a:endParaRPr/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AutoShape 3"/>
          <p:cNvSpPr/>
          <p:nvPr/>
        </p:nvSpPr>
        <p:spPr>
          <a:xfrm>
            <a:off x="742765" y="571500"/>
            <a:ext cx="1618845" cy="5715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742765" y="895350"/>
            <a:ext cx="7484778" cy="279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CHAPTER 02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742765" y="1419225"/>
            <a:ext cx="7237190" cy="279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双模态白盒引擎</a:t>
            </a:r>
            <a:r>
              <a:rPr sz="1600" b="1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 </a:t>
            </a:r>
            <a:r>
              <a:rPr sz="16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与 </a:t>
            </a:r>
            <a:r>
              <a:rPr sz="1800" b="1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多智能体协作</a:t>
            </a:r>
            <a:r>
              <a:rPr sz="16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 的深度技术解析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27543" y="0"/>
            <a:ext cx="3961409" cy="2333625"/>
          </a:xfrm>
          <a:prstGeom prst="rect">
            <a:avLst/>
          </a:pr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AutoShape 7"/>
          <p:cNvSpPr/>
          <p:nvPr/>
        </p:nvSpPr>
        <p:spPr>
          <a:xfrm>
            <a:off x="0" y="2333625"/>
            <a:ext cx="12188952" cy="4524375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2315336" y="3259484"/>
            <a:ext cx="7558281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300" b="0" i="0" strike="noStrike">
                <a:ln/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CORE HIGHLIGHTS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76181" y="4011959"/>
            <a:ext cx="12036590" cy="825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5400" b="1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核心亮点</a:t>
            </a:r>
            <a:endParaRPr lang="en-US" sz="1100"/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837990" y="619125"/>
            <a:ext cx="4879746" cy="1809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ln/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VIBRAIMAGE ENGINE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837990" y="1119188"/>
            <a:ext cx="4879746" cy="812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300" b="1" i="0" strike="noStrike" dirty="0" err="1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亮点一</a:t>
            </a:r>
            <a:r>
              <a:rPr lang="en-US" sz="3300" b="1" i="0" strike="noStrike" dirty="0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前引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——</a:t>
            </a:r>
            <a:r>
              <a:rPr sz="2000" b="1" i="0" strike="noStrike" dirty="0" err="1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VibraImage</a:t>
            </a:r>
            <a:endParaRPr lang="en-US" sz="1100" dirty="0"/>
          </a:p>
          <a:p>
            <a:pPr algn="l"/>
            <a:r>
              <a:rPr sz="2000" b="1" i="0" strike="noStrike" dirty="0" err="1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前庭振动白盒引擎</a:t>
            </a:r>
            <a:endParaRPr dirty="0"/>
          </a:p>
        </p:txBody>
      </p:sp>
      <p:sp>
        <p:nvSpPr>
          <p:cNvPr id="5" name="AutoShape 5"/>
          <p:cNvSpPr/>
          <p:nvPr/>
        </p:nvSpPr>
        <p:spPr>
          <a:xfrm>
            <a:off x="837990" y="2349698"/>
            <a:ext cx="1618845" cy="5715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AutoShape 6"/>
          <p:cNvSpPr/>
          <p:nvPr/>
        </p:nvSpPr>
        <p:spPr>
          <a:xfrm>
            <a:off x="837990" y="2730698"/>
            <a:ext cx="533267" cy="53340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982764" y="2871192"/>
            <a:ext cx="388493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0"/>
          <a:lstStyle/>
          <a:p>
            <a:pPr algn="l">
              <a:defRPr/>
            </a:pPr>
            <a:r>
              <a:rPr lang="en-US" sz="17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01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1600701" y="5036393"/>
            <a:ext cx="4098892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 dirty="0" err="1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技术链路</a:t>
            </a:r>
            <a:endParaRPr lang="en-US" sz="1100" dirty="0"/>
          </a:p>
        </p:txBody>
      </p:sp>
      <p:sp>
        <p:nvSpPr>
          <p:cNvPr id="9" name="TextBox 9"/>
          <p:cNvSpPr txBox="1"/>
          <p:nvPr/>
        </p:nvSpPr>
        <p:spPr>
          <a:xfrm>
            <a:off x="1600701" y="5447478"/>
            <a:ext cx="4098892" cy="4318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 dirty="0" err="1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历经视频采集、逐像素帧差分、FFT频率分析至空间分布</a:t>
            </a:r>
            <a:endParaRPr lang="en-US" sz="1100" dirty="0"/>
          </a:p>
          <a:p>
            <a:pPr algn="l"/>
            <a:r>
              <a:rPr sz="1200" b="0" i="0" strike="noStrike" dirty="0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分析，最终输出12维情绪参数与K值量化结果</a:t>
            </a:r>
            <a:endParaRPr dirty="0"/>
          </a:p>
        </p:txBody>
      </p:sp>
      <p:sp>
        <p:nvSpPr>
          <p:cNvPr id="10" name="AutoShape 10"/>
          <p:cNvSpPr/>
          <p:nvPr/>
        </p:nvSpPr>
        <p:spPr>
          <a:xfrm>
            <a:off x="837990" y="3902273"/>
            <a:ext cx="533267" cy="53340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982764" y="4042767"/>
            <a:ext cx="388493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0"/>
          <a:lstStyle/>
          <a:p>
            <a:pPr algn="l">
              <a:defRPr/>
            </a:pPr>
            <a:r>
              <a:rPr lang="en-US" sz="17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02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618845" y="3940373"/>
            <a:ext cx="4098892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白盒优势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618845" y="4321373"/>
            <a:ext cx="4103505" cy="4318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 dirty="0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全部12个参数（攻击性、压力、紧张、抑郁、幸福感等）</a:t>
            </a:r>
            <a:endParaRPr lang="en-US" sz="1100" dirty="0"/>
          </a:p>
          <a:p>
            <a:pPr algn="l"/>
            <a:r>
              <a:rPr sz="1200" b="0" i="0" strike="noStrike" dirty="0" err="1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具备明确</a:t>
            </a:r>
            <a:r>
              <a:rPr lang="zh-CN" altLang="en-US" sz="1200" b="0" i="0" strike="noStrike" dirty="0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现实心理统计</a:t>
            </a:r>
            <a:r>
              <a:rPr sz="1200" b="0" i="0" strike="noStrike" dirty="0" err="1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含义与计算公式，每一步皆可审计追溯</a:t>
            </a:r>
            <a:endParaRPr dirty="0"/>
          </a:p>
        </p:txBody>
      </p:sp>
      <p:sp>
        <p:nvSpPr>
          <p:cNvPr id="14" name="AutoShape 14"/>
          <p:cNvSpPr/>
          <p:nvPr/>
        </p:nvSpPr>
        <p:spPr>
          <a:xfrm>
            <a:off x="837990" y="5073848"/>
            <a:ext cx="533267" cy="53340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982764" y="5214342"/>
            <a:ext cx="388493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0"/>
          <a:lstStyle/>
          <a:p>
            <a:pPr algn="l">
              <a:defRPr/>
            </a:pPr>
            <a:r>
              <a:rPr lang="en-US" sz="17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03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600701" y="2723625"/>
            <a:ext cx="4098892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zh-CN" altLang="en-US" sz="1600" b="1" i="0" strike="noStrike" dirty="0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理论</a:t>
            </a:r>
            <a:r>
              <a:rPr lang="en-US" sz="1600" b="1" i="0" strike="noStrike" dirty="0" err="1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支撑</a:t>
            </a:r>
            <a:endParaRPr lang="en-US" sz="1100" dirty="0"/>
          </a:p>
        </p:txBody>
      </p:sp>
      <p:sp>
        <p:nvSpPr>
          <p:cNvPr id="17" name="TextBox 17"/>
          <p:cNvSpPr txBox="1"/>
          <p:nvPr/>
        </p:nvSpPr>
        <p:spPr>
          <a:xfrm>
            <a:off x="1600701" y="3136999"/>
            <a:ext cx="4098892" cy="4318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 dirty="0" err="1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基于Viktor</a:t>
            </a:r>
            <a:r>
              <a:rPr lang="en-US" sz="1200" b="0" i="0" strike="noStrike" dirty="0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lang="en-US" sz="1200" b="0" i="0" strike="noStrike" dirty="0" err="1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Minkin教授专著公式体系</a:t>
            </a:r>
            <a:r>
              <a:rPr lang="en-US" sz="1200" b="0" i="0" strike="noStrike" dirty="0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，</a:t>
            </a:r>
            <a:r>
              <a:rPr lang="zh-CN" altLang="en-US" sz="1200" b="0" i="0" strike="noStrike" dirty="0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论文支撑，</a:t>
            </a:r>
            <a:r>
              <a:rPr lang="en-US" sz="1200" b="0" i="0" strike="noStrike" dirty="0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依托10,266人联合</a:t>
            </a:r>
            <a:r>
              <a:rPr lang="zh-CN" altLang="en-US" sz="1200" b="0" i="0" strike="noStrike" dirty="0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数据库统计常模，确保评估科学性</a:t>
            </a:r>
          </a:p>
          <a:p>
            <a:pPr algn="l"/>
            <a:endParaRPr lang="en-US" sz="1200" dirty="0">
              <a:ln/>
              <a:solidFill>
                <a:srgbClr val="000000">
                  <a:alpha val="100000"/>
                </a:srgbClr>
              </a:solidFill>
              <a:latin typeface="Source Han Sans"/>
              <a:ea typeface="Source Han Sans"/>
            </a:endParaRPr>
          </a:p>
          <a:p>
            <a:pPr algn="l"/>
            <a:endParaRPr dirty="0"/>
          </a:p>
        </p:txBody>
      </p:sp>
      <p:sp>
        <p:nvSpPr>
          <p:cNvPr id="18" name="AutoShape 18"/>
          <p:cNvSpPr/>
          <p:nvPr/>
        </p:nvSpPr>
        <p:spPr>
          <a:xfrm>
            <a:off x="6251003" y="5214342"/>
            <a:ext cx="5728302" cy="1267718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6593818" y="5463580"/>
            <a:ext cx="5385487" cy="75604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1" i="0" strike="noStrike" dirty="0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基于12维情绪参数与10266人常模数据库，构建全链路可解释的白</a:t>
            </a:r>
            <a:endParaRPr lang="en-US" sz="1100" dirty="0"/>
          </a:p>
          <a:p>
            <a:pPr algn="l"/>
            <a:r>
              <a:rPr sz="1400" b="1" i="0" strike="noStrike" dirty="0" err="1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盒情绪引擎，彻底告别黑盒神经网络的不可知性</a:t>
            </a:r>
            <a:r>
              <a:rPr sz="1400" b="1" i="0" strike="noStrike" dirty="0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——</a:t>
            </a:r>
            <a:r>
              <a:rPr sz="1400" b="1" i="0" strike="noStrike" dirty="0" err="1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每一个参数都</a:t>
            </a:r>
            <a:endParaRPr dirty="0"/>
          </a:p>
          <a:p>
            <a:pPr algn="l"/>
            <a:r>
              <a:rPr sz="1400" b="1" i="0" strike="noStrike" dirty="0" err="1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有明确物理含义和计算公式，每一步推理都可审计、可追溯</a:t>
            </a:r>
            <a:r>
              <a:rPr sz="1400" b="1" i="0" strike="noStrike" dirty="0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</a:t>
            </a:r>
            <a:endParaRPr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FB1C804-FE47-F1C0-FFB9-4FB68B48E0A0}"/>
              </a:ext>
            </a:extLst>
          </p:cNvPr>
          <p:cNvSpPr txBox="1"/>
          <p:nvPr/>
        </p:nvSpPr>
        <p:spPr>
          <a:xfrm>
            <a:off x="6474266" y="791255"/>
            <a:ext cx="51409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核心生理根基</a:t>
            </a:r>
            <a:r>
              <a:rPr lang="zh-CN" altLang="zh-CN" dirty="0"/>
              <a:t>：前庭 - 情绪反射（VER）</a:t>
            </a:r>
          </a:p>
          <a:p>
            <a:r>
              <a:rPr lang="zh-CN" altLang="zh-CN" dirty="0"/>
              <a:t>人体内耳</a:t>
            </a:r>
            <a:r>
              <a:rPr lang="zh-CN" altLang="zh-CN" u="sng" dirty="0"/>
              <a:t>前庭系统</a:t>
            </a:r>
            <a:r>
              <a:rPr lang="zh-CN" altLang="zh-CN" dirty="0"/>
              <a:t>负责头部平衡，通过颈椎肌肉持续维持头部直立；前庭与全身所有生理系统深度联动，</a:t>
            </a:r>
            <a:r>
              <a:rPr lang="zh-CN" altLang="zh-CN" u="sng" dirty="0"/>
              <a:t>所有情绪、心理波动都会自发产生肉眼不可见的头部微米级微动</a:t>
            </a:r>
            <a:r>
              <a:rPr lang="zh-CN" altLang="zh-CN" dirty="0"/>
              <a:t>（无意识、难以主观伪装），这套联动机制称为前庭 - 情绪反射，是该技术的底层生理学基础。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476C9B4F-E30E-E4E3-F743-20FCDA486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493" y="2723625"/>
            <a:ext cx="4578307" cy="2345524"/>
          </a:xfrm>
          <a:prstGeom prst="rect">
            <a:avLst/>
          </a:prstGeom>
        </p:spPr>
      </p:pic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811A5344-5838-7E00-7A26-1C9D0F368220}"/>
              </a:ext>
            </a:extLst>
          </p:cNvPr>
          <p:cNvSpPr/>
          <p:nvPr/>
        </p:nvSpPr>
        <p:spPr>
          <a:xfrm>
            <a:off x="6324600" y="619125"/>
            <a:ext cx="5290648" cy="4582023"/>
          </a:xfrm>
          <a:prstGeom prst="roundRect">
            <a:avLst/>
          </a:prstGeom>
          <a:noFill/>
          <a:ln w="25400" cap="flat" cmpd="sng" algn="ctr">
            <a:solidFill>
              <a:schemeClr val="accent1">
                <a:shade val="15000"/>
              </a:schemeClr>
            </a:solidFill>
            <a:prstDash val="solid"/>
          </a:ln>
          <a:effectLst>
            <a:glow rad="101600">
              <a:srgbClr val="FFC000">
                <a:alpha val="4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37990" y="514350"/>
            <a:ext cx="10589152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ln/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DUAL-MODAL FUSION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837990" y="900112"/>
            <a:ext cx="10589152" cy="5207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4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亮点一：双模态融合感知，对抗情绪伪装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37990" y="1613446"/>
            <a:ext cx="1333166" cy="47625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AutoShape 6"/>
          <p:cNvSpPr/>
          <p:nvPr/>
        </p:nvSpPr>
        <p:spPr>
          <a:xfrm>
            <a:off x="837990" y="1965871"/>
            <a:ext cx="5294577" cy="87630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961785" y="2086521"/>
            <a:ext cx="5046988" cy="635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创新引入VibraImage前庭振动分析，与面部微表情加权融合——面部表情可以装，但前庭微振动装不了，前庭振动是情绪的</a:t>
            </a:r>
            <a:r>
              <a:rPr sz="1400" b="1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生理指纹</a:t>
            </a:r>
            <a:r>
              <a:rPr sz="14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37990" y="3032671"/>
            <a:ext cx="457086" cy="45720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960594" y="3156496"/>
            <a:ext cx="334482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ln/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01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1485529" y="3061246"/>
            <a:ext cx="4647038" cy="2413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面部微表情分析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485529" y="3394621"/>
            <a:ext cx="4647038" cy="177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基于眉、眼、嘴部肌肉运动分析，技术成熟且具备极高的直观性与可解释性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485529" y="3665041"/>
            <a:ext cx="4647038" cy="3683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局限：易受主观意识控制，学生可通过刻意伪装面部表情掩盖真实负面心理状态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37990" y="4253508"/>
            <a:ext cx="457086" cy="45720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960594" y="4377333"/>
            <a:ext cx="334482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ln/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02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485529" y="4282083"/>
            <a:ext cx="4647038" cy="2413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VibraImage前庭振动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485529" y="4615458"/>
            <a:ext cx="4647038" cy="3683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捕捉0.1-10Hz头部生理性微振动频率，作为客观生理信号完全不受主观伪装干扰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448962" y="5509072"/>
            <a:ext cx="4647038" cy="546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融合策略：加权融合（面部0.5+前庭0.5），双模态冲突时以前庭振动为准锁定真实情绪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89652" y="1965871"/>
            <a:ext cx="5294577" cy="1200150"/>
          </a:xfrm>
          <a:prstGeom prst="rect">
            <a:avLst/>
          </a:prstGeom>
          <a:solidFill>
            <a:srgbClr val="F3F3F3">
              <a:alpha val="100000"/>
            </a:srgbClr>
          </a:solidFill>
          <a:ln w="9525">
            <a:solidFill>
              <a:srgbClr val="D8D8D8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6827718" y="2184946"/>
            <a:ext cx="481844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双模态融合权重配置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6827718" y="2518321"/>
            <a:ext cx="761810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面部微表情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84753" y="2506415"/>
            <a:ext cx="3523369" cy="171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solidFill>
              <a:srgbClr val="D8D8D8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AutoShape 22"/>
          <p:cNvSpPr/>
          <p:nvPr/>
        </p:nvSpPr>
        <p:spPr>
          <a:xfrm>
            <a:off x="9464186" y="2509625"/>
            <a:ext cx="1746965" cy="15240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11303348" y="2518321"/>
            <a:ext cx="342814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50%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6827718" y="2799309"/>
            <a:ext cx="761810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前庭振动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84753" y="2787402"/>
            <a:ext cx="3523369" cy="171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solidFill>
              <a:srgbClr val="D8D8D8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AutoShape 26"/>
          <p:cNvSpPr/>
          <p:nvPr/>
        </p:nvSpPr>
        <p:spPr>
          <a:xfrm>
            <a:off x="7694276" y="2796927"/>
            <a:ext cx="1769910" cy="152400"/>
          </a:xfrm>
          <a:prstGeom prst="rect">
            <a:avLst/>
          </a:pr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11303348" y="2799309"/>
            <a:ext cx="342814" cy="1397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50%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589652" y="3318421"/>
            <a:ext cx="2571107" cy="2463701"/>
          </a:xfrm>
          <a:prstGeom prst="rect">
            <a:avLst/>
          </a:prstGeom>
          <a:solidFill>
            <a:srgbClr val="F3F3F3">
              <a:alpha val="100000"/>
            </a:srgbClr>
          </a:solidFill>
          <a:ln w="9525">
            <a:solidFill>
              <a:srgbClr val="D8D8D8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AutoShape 29"/>
          <p:cNvSpPr/>
          <p:nvPr/>
        </p:nvSpPr>
        <p:spPr>
          <a:xfrm>
            <a:off x="6789627" y="3499396"/>
            <a:ext cx="304724" cy="30480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AutoShape 30"/>
          <p:cNvSpPr/>
          <p:nvPr/>
        </p:nvSpPr>
        <p:spPr>
          <a:xfrm>
            <a:off x="6776908" y="3489871"/>
            <a:ext cx="330162" cy="3302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2500" y="5500"/>
                </a:moveTo>
                <a:lnTo>
                  <a:pt x="3499" y="5500"/>
                </a:lnTo>
                <a:cubicBezTo>
                  <a:pt x="3499" y="5773"/>
                  <a:pt x="3565" y="6025"/>
                  <a:pt x="3699" y="6255"/>
                </a:cubicBezTo>
                <a:cubicBezTo>
                  <a:pt x="3832" y="6485"/>
                  <a:pt x="4014" y="6666"/>
                  <a:pt x="4244" y="6800"/>
                </a:cubicBezTo>
                <a:cubicBezTo>
                  <a:pt x="4474" y="6933"/>
                  <a:pt x="4725" y="7000"/>
                  <a:pt x="4999" y="7000"/>
                </a:cubicBezTo>
                <a:cubicBezTo>
                  <a:pt x="5272" y="7000"/>
                  <a:pt x="5524" y="6933"/>
                  <a:pt x="5754" y="6800"/>
                </a:cubicBezTo>
                <a:cubicBezTo>
                  <a:pt x="5984" y="6666"/>
                  <a:pt x="6165" y="6485"/>
                  <a:pt x="6299" y="6255"/>
                </a:cubicBezTo>
                <a:cubicBezTo>
                  <a:pt x="6432" y="6025"/>
                  <a:pt x="6499" y="5773"/>
                  <a:pt x="6499" y="5500"/>
                </a:cubicBezTo>
                <a:lnTo>
                  <a:pt x="7499" y="5500"/>
                </a:lnTo>
                <a:cubicBezTo>
                  <a:pt x="7499" y="5953"/>
                  <a:pt x="7387" y="6371"/>
                  <a:pt x="7164" y="6755"/>
                </a:cubicBezTo>
                <a:cubicBezTo>
                  <a:pt x="6940" y="7138"/>
                  <a:pt x="6637" y="7441"/>
                  <a:pt x="6254" y="7665"/>
                </a:cubicBezTo>
                <a:cubicBezTo>
                  <a:pt x="5870" y="7888"/>
                  <a:pt x="5452" y="8000"/>
                  <a:pt x="4999" y="8000"/>
                </a:cubicBezTo>
                <a:cubicBezTo>
                  <a:pt x="4545" y="8000"/>
                  <a:pt x="4127" y="7888"/>
                  <a:pt x="3744" y="7665"/>
                </a:cubicBezTo>
                <a:cubicBezTo>
                  <a:pt x="3360" y="7441"/>
                  <a:pt x="3057" y="7138"/>
                  <a:pt x="2834" y="6755"/>
                </a:cubicBezTo>
                <a:cubicBezTo>
                  <a:pt x="2611" y="6371"/>
                  <a:pt x="2500" y="5953"/>
                  <a:pt x="2500" y="5500"/>
                </a:cubicBezTo>
                <a:moveTo>
                  <a:pt x="2999" y="4500"/>
                </a:moveTo>
                <a:cubicBezTo>
                  <a:pt x="2792" y="4500"/>
                  <a:pt x="2616" y="4426"/>
                  <a:pt x="2470" y="4280"/>
                </a:cubicBezTo>
                <a:cubicBezTo>
                  <a:pt x="2323" y="4133"/>
                  <a:pt x="2250" y="3956"/>
                  <a:pt x="2250" y="3750"/>
                </a:cubicBezTo>
                <a:cubicBezTo>
                  <a:pt x="2250" y="3543"/>
                  <a:pt x="2323" y="3366"/>
                  <a:pt x="2470" y="3220"/>
                </a:cubicBezTo>
                <a:cubicBezTo>
                  <a:pt x="2616" y="3073"/>
                  <a:pt x="2792" y="3000"/>
                  <a:pt x="2999" y="3000"/>
                </a:cubicBezTo>
                <a:cubicBezTo>
                  <a:pt x="3205" y="3000"/>
                  <a:pt x="3382" y="3073"/>
                  <a:pt x="3529" y="3220"/>
                </a:cubicBezTo>
                <a:cubicBezTo>
                  <a:pt x="3675" y="3366"/>
                  <a:pt x="3749" y="3543"/>
                  <a:pt x="3749" y="3750"/>
                </a:cubicBezTo>
                <a:cubicBezTo>
                  <a:pt x="3749" y="3956"/>
                  <a:pt x="3675" y="4133"/>
                  <a:pt x="3529" y="4280"/>
                </a:cubicBezTo>
                <a:cubicBezTo>
                  <a:pt x="3382" y="4426"/>
                  <a:pt x="3205" y="4500"/>
                  <a:pt x="2999" y="4500"/>
                </a:cubicBezTo>
                <a:moveTo>
                  <a:pt x="6999" y="4500"/>
                </a:moveTo>
                <a:cubicBezTo>
                  <a:pt x="6792" y="4500"/>
                  <a:pt x="6615" y="4426"/>
                  <a:pt x="6469" y="4280"/>
                </a:cubicBezTo>
                <a:cubicBezTo>
                  <a:pt x="6322" y="4133"/>
                  <a:pt x="6249" y="3956"/>
                  <a:pt x="6249" y="3750"/>
                </a:cubicBezTo>
                <a:cubicBezTo>
                  <a:pt x="6249" y="3543"/>
                  <a:pt x="6322" y="3366"/>
                  <a:pt x="6469" y="3220"/>
                </a:cubicBezTo>
                <a:cubicBezTo>
                  <a:pt x="6615" y="3073"/>
                  <a:pt x="6792" y="3000"/>
                  <a:pt x="6999" y="3000"/>
                </a:cubicBezTo>
                <a:cubicBezTo>
                  <a:pt x="7205" y="3000"/>
                  <a:pt x="7382" y="3073"/>
                  <a:pt x="7528" y="3220"/>
                </a:cubicBezTo>
                <a:cubicBezTo>
                  <a:pt x="7674" y="3366"/>
                  <a:pt x="7748" y="3543"/>
                  <a:pt x="7748" y="3750"/>
                </a:cubicBezTo>
                <a:cubicBezTo>
                  <a:pt x="7748" y="3956"/>
                  <a:pt x="7674" y="4133"/>
                  <a:pt x="7528" y="4280"/>
                </a:cubicBezTo>
                <a:cubicBezTo>
                  <a:pt x="7382" y="4426"/>
                  <a:pt x="7205" y="4500"/>
                  <a:pt x="6999" y="4500"/>
                </a:cubicBezTo>
              </a:path>
            </a:pathLst>
          </a:cu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7189577" y="3577977"/>
            <a:ext cx="523744" cy="215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4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面部模态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6732938" y="4056658"/>
            <a:ext cx="95374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000" b="1" i="0" strike="noStrike">
                <a:ln/>
                <a:solidFill>
                  <a:srgbClr val="FBC43E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+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7003887" y="4164608"/>
            <a:ext cx="1171282" cy="177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直观可解释，技术成熟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6732938" y="4453533"/>
            <a:ext cx="95374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000" b="1" i="0" strike="noStrike">
                <a:ln/>
                <a:solidFill>
                  <a:srgbClr val="FBC43E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−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7003887" y="4532908"/>
            <a:ext cx="1171282" cy="177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可被主观意识控制伪装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313121" y="3318421"/>
            <a:ext cx="2571107" cy="2463701"/>
          </a:xfrm>
          <a:prstGeom prst="rect">
            <a:avLst/>
          </a:prstGeom>
          <a:solidFill>
            <a:srgbClr val="F3F3F3">
              <a:alpha val="100000"/>
            </a:srgbClr>
          </a:solidFill>
          <a:ln w="9525">
            <a:solidFill>
              <a:srgbClr val="D8D8D8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AutoShape 37"/>
          <p:cNvSpPr/>
          <p:nvPr/>
        </p:nvSpPr>
        <p:spPr>
          <a:xfrm>
            <a:off x="9513096" y="3499396"/>
            <a:ext cx="304724" cy="304800"/>
          </a:xfrm>
          <a:prstGeom prst="rect">
            <a:avLst/>
          </a:pr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Box 38"/>
          <p:cNvSpPr txBox="1"/>
          <p:nvPr/>
        </p:nvSpPr>
        <p:spPr>
          <a:xfrm>
            <a:off x="9913046" y="3577977"/>
            <a:ext cx="523744" cy="215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4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前庭模态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 flipH="1">
            <a:off x="9403250" y="4101108"/>
            <a:ext cx="133226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000" b="1" i="0" strike="noStrike">
                <a:ln/>
                <a:solidFill>
                  <a:srgbClr val="FBC43E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+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9665458" y="4126508"/>
            <a:ext cx="1057011" cy="215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生理信号，无法伪装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9427434" y="4494808"/>
            <a:ext cx="362074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000" b="1" i="0" strike="noStrike">
                <a:ln/>
                <a:solidFill>
                  <a:srgbClr val="FBC43E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+</a:t>
            </a:r>
            <a:endParaRPr lang="en-US" sz="1100"/>
          </a:p>
        </p:txBody>
      </p:sp>
      <p:sp>
        <p:nvSpPr>
          <p:cNvPr id="42" name="TextBox 42"/>
          <p:cNvSpPr txBox="1"/>
          <p:nvPr/>
        </p:nvSpPr>
        <p:spPr>
          <a:xfrm>
            <a:off x="9665458" y="4523383"/>
            <a:ext cx="1285554" cy="215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冲突时作为真实情绪仲裁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6589652" y="5934522"/>
            <a:ext cx="5294577" cy="466278"/>
          </a:xfrm>
          <a:prstGeom prst="rect">
            <a:avLst/>
          </a:pr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AutoShape 44"/>
          <p:cNvSpPr/>
          <p:nvPr/>
        </p:nvSpPr>
        <p:spPr>
          <a:xfrm>
            <a:off x="6766415" y="6097934"/>
            <a:ext cx="123795" cy="123825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33" y="827"/>
                </a:moveTo>
                <a:lnTo>
                  <a:pt x="4999" y="0"/>
                </a:lnTo>
                <a:lnTo>
                  <a:pt x="9565" y="827"/>
                </a:lnTo>
                <a:cubicBezTo>
                  <a:pt x="9691" y="851"/>
                  <a:pt x="9794" y="906"/>
                  <a:pt x="9876" y="991"/>
                </a:cubicBezTo>
                <a:cubicBezTo>
                  <a:pt x="9957" y="1075"/>
                  <a:pt x="9998" y="1169"/>
                  <a:pt x="9998" y="1273"/>
                </a:cubicBezTo>
                <a:lnTo>
                  <a:pt x="9998" y="5809"/>
                </a:lnTo>
                <a:cubicBezTo>
                  <a:pt x="9998" y="6269"/>
                  <a:pt x="9866" y="6700"/>
                  <a:pt x="9604" y="7100"/>
                </a:cubicBezTo>
                <a:cubicBezTo>
                  <a:pt x="9340" y="7500"/>
                  <a:pt x="8975" y="7827"/>
                  <a:pt x="8509" y="8082"/>
                </a:cubicBezTo>
                <a:lnTo>
                  <a:pt x="4999" y="10000"/>
                </a:lnTo>
                <a:lnTo>
                  <a:pt x="1489" y="8082"/>
                </a:lnTo>
                <a:cubicBezTo>
                  <a:pt x="1022" y="7827"/>
                  <a:pt x="657" y="7500"/>
                  <a:pt x="394" y="7100"/>
                </a:cubicBezTo>
                <a:cubicBezTo>
                  <a:pt x="131" y="6700"/>
                  <a:pt x="0" y="6269"/>
                  <a:pt x="0" y="5809"/>
                </a:cubicBezTo>
                <a:lnTo>
                  <a:pt x="0" y="1273"/>
                </a:lnTo>
                <a:cubicBezTo>
                  <a:pt x="0" y="1169"/>
                  <a:pt x="40" y="1075"/>
                  <a:pt x="122" y="991"/>
                </a:cubicBezTo>
                <a:cubicBezTo>
                  <a:pt x="203" y="906"/>
                  <a:pt x="307" y="851"/>
                  <a:pt x="433" y="827"/>
                </a:cubicBezTo>
                <a:moveTo>
                  <a:pt x="8887" y="1636"/>
                </a:moveTo>
                <a:lnTo>
                  <a:pt x="4999" y="927"/>
                </a:lnTo>
                <a:lnTo>
                  <a:pt x="1111" y="1636"/>
                </a:lnTo>
                <a:lnTo>
                  <a:pt x="1111" y="5809"/>
                </a:lnTo>
                <a:cubicBezTo>
                  <a:pt x="1111" y="6118"/>
                  <a:pt x="1198" y="6406"/>
                  <a:pt x="1372" y="6673"/>
                </a:cubicBezTo>
                <a:cubicBezTo>
                  <a:pt x="1546" y="6939"/>
                  <a:pt x="1788" y="7157"/>
                  <a:pt x="2100" y="7327"/>
                </a:cubicBezTo>
                <a:lnTo>
                  <a:pt x="4999" y="8909"/>
                </a:lnTo>
                <a:lnTo>
                  <a:pt x="7898" y="7327"/>
                </a:lnTo>
                <a:cubicBezTo>
                  <a:pt x="8209" y="7157"/>
                  <a:pt x="8452" y="6939"/>
                  <a:pt x="8626" y="6673"/>
                </a:cubicBezTo>
                <a:cubicBezTo>
                  <a:pt x="8800" y="6406"/>
                  <a:pt x="8887" y="6118"/>
                  <a:pt x="8887" y="5809"/>
                </a:cubicBezTo>
                <a:lnTo>
                  <a:pt x="8887" y="1636"/>
                </a:lnTo>
                <a:moveTo>
                  <a:pt x="4721" y="5536"/>
                </a:moveTo>
                <a:lnTo>
                  <a:pt x="7476" y="3282"/>
                </a:lnTo>
                <a:lnTo>
                  <a:pt x="8254" y="3927"/>
                </a:lnTo>
                <a:lnTo>
                  <a:pt x="4721" y="6818"/>
                </a:lnTo>
                <a:lnTo>
                  <a:pt x="2366" y="4891"/>
                </a:lnTo>
                <a:lnTo>
                  <a:pt x="3155" y="4245"/>
                </a:lnTo>
              </a:path>
            </a:pathLst>
          </a:cu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Box 45"/>
          <p:cNvSpPr txBox="1"/>
          <p:nvPr/>
        </p:nvSpPr>
        <p:spPr>
          <a:xfrm>
            <a:off x="6933656" y="6086922"/>
            <a:ext cx="4760119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ln/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双模态融合机制有效对抗情绪伪装，确保心理状态评估的真实性与可靠性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837990" y="5548206"/>
            <a:ext cx="509111" cy="467832"/>
          </a:xfrm>
          <a:prstGeom prst="triangle">
            <a:avLst/>
          </a:prstGeom>
          <a:solidFill>
            <a:srgbClr val="F9E559">
              <a:alpha val="100000"/>
            </a:srgbClr>
          </a:solidFill>
          <a:ln w="25400">
            <a:noFill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37990" y="381000"/>
            <a:ext cx="10570107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ln/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CORE HIGHLIGHT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837990" y="704850"/>
            <a:ext cx="10570107" cy="406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亮点二：五大智能体+双环驱动的AIGC协作系统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37990" y="1262955"/>
            <a:ext cx="1618845" cy="47625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AutoShape 6"/>
          <p:cNvSpPr/>
          <p:nvPr/>
        </p:nvSpPr>
        <p:spPr>
          <a:xfrm>
            <a:off x="837990" y="1520130"/>
            <a:ext cx="10570107" cy="874216"/>
          </a:xfrm>
          <a:prstGeom prst="rect">
            <a:avLst/>
          </a:prstGeom>
          <a:solidFill>
            <a:srgbClr val="F3F3F3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104623" y="1720155"/>
            <a:ext cx="10303473" cy="482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构建5智能体双环驱动系统，结合SSE流式可视化技术，实现从毫秒级感知到深度心理分析的全自动、全透明协作，全部推理由灵枢Lingshu-32B医疗大模型驱动，推理过程可追溯、决策可审计。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37990" y="2622946"/>
            <a:ext cx="3345564" cy="4006454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AutoShape 9"/>
          <p:cNvSpPr/>
          <p:nvPr/>
        </p:nvSpPr>
        <p:spPr>
          <a:xfrm>
            <a:off x="1085578" y="2851546"/>
            <a:ext cx="418996" cy="419100"/>
          </a:xfrm>
          <a:prstGeom prst="rect">
            <a:avLst/>
          </a:pr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085578" y="3451623"/>
            <a:ext cx="2850388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0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智能体流水线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085578" y="3965971"/>
            <a:ext cx="2907476" cy="1803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感知、分析、报告、预警四大执行智能体与协调智能体构成完整自动化闭环</a:t>
            </a:r>
            <a:endParaRPr lang="en-US" sz="1100"/>
          </a:p>
          <a:p>
            <a:pPr algn="l"/>
            <a:endParaRPr/>
          </a:p>
          <a:p>
            <a:pPr algn="l"/>
            <a:r>
              <a:rPr sz="16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各模块职责清晰、协同高效。各智能体通过标准化接口协同工作，支持弹性扩展与动态负载均衡，确保任务处理顺序性与可靠性。</a:t>
            </a: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450188" y="2622946"/>
            <a:ext cx="3345564" cy="3981054"/>
          </a:xfrm>
          <a:prstGeom prst="rect">
            <a:avLst/>
          </a:prstGeom>
          <a:solidFill>
            <a:srgbClr val="F3F3F3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AutoShape 13"/>
          <p:cNvSpPr/>
          <p:nvPr/>
        </p:nvSpPr>
        <p:spPr>
          <a:xfrm>
            <a:off x="4697776" y="2851546"/>
            <a:ext cx="418996" cy="41910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4697776" y="3451623"/>
            <a:ext cx="2850388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000" b="1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双环驱动分工机制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4697776" y="3813571"/>
            <a:ext cx="2970976" cy="2374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内环由感知智能体组成，每15分钟触发毫秒级实时采集</a:t>
            </a:r>
            <a:endParaRPr lang="en-US" sz="1100"/>
          </a:p>
          <a:p>
            <a:pPr algn="l"/>
            <a:endParaRPr/>
          </a:p>
          <a:p>
            <a:pPr algn="l"/>
            <a:r>
              <a:rPr sz="16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外环由分析，报告，预警智能体组成，每日定时触发大模型深度分析与报告生成，互补时间维度覆盖</a:t>
            </a:r>
            <a:endParaRPr/>
          </a:p>
          <a:p>
            <a:pPr algn="l"/>
            <a:endParaRPr/>
          </a:p>
          <a:p>
            <a:pPr algn="l"/>
            <a:r>
              <a:rPr sz="16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协调智能体掌管双环分工，全流程由灵枢Lingshu-32B医疗大模型驱动</a:t>
            </a:r>
            <a:endParaRPr/>
          </a:p>
          <a:p>
            <a:pPr algn="l"/>
            <a:endParaRPr/>
          </a:p>
          <a:p>
            <a:pPr algn="l"/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062384" y="2622946"/>
            <a:ext cx="3345712" cy="3968354"/>
          </a:xfrm>
          <a:prstGeom prst="rect">
            <a:avLst/>
          </a:prstGeom>
          <a:solidFill>
            <a:srgbClr val="F3F3F3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AutoShape 17"/>
          <p:cNvSpPr/>
          <p:nvPr/>
        </p:nvSpPr>
        <p:spPr>
          <a:xfrm>
            <a:off x="8309973" y="2851546"/>
            <a:ext cx="418996" cy="41910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8309973" y="3451623"/>
            <a:ext cx="2850537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0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决策全透明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309972" y="3902471"/>
            <a:ext cx="2894924" cy="1943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依托SSE流式可视化技术将</a:t>
            </a:r>
            <a:endParaRPr lang="en-US" sz="1100"/>
          </a:p>
          <a:p>
            <a:pPr algn="l"/>
            <a:endParaRPr/>
          </a:p>
          <a:p>
            <a:pPr algn="l"/>
            <a:r>
              <a:rPr sz="16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思考→行动→观察→结论</a:t>
            </a:r>
            <a:endParaRPr/>
          </a:p>
          <a:p>
            <a:pPr algn="l"/>
            <a:endParaRPr/>
          </a:p>
          <a:p>
            <a:pPr algn="l"/>
            <a:r>
              <a:rPr sz="16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全过程实时展示，用户可直观理解AI决策逻辑。完整日志记录与版本管理支持历史决策回溯与效果对比分析，满足合规与教学双重需求。</a:t>
            </a:r>
            <a:endParaRPr/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AutoShape 3"/>
          <p:cNvSpPr/>
          <p:nvPr/>
        </p:nvSpPr>
        <p:spPr>
          <a:xfrm>
            <a:off x="742765" y="571500"/>
            <a:ext cx="1618845" cy="5715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742765" y="895350"/>
            <a:ext cx="7484778" cy="279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全栈国产化实践与C500算力实测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742765" y="1419225"/>
            <a:ext cx="7484778" cy="4819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基于国产芯片与算力平台，验证全栈适配方案的可行性，对标赛事级性能要求，为AIGC智能体</a:t>
            </a:r>
            <a:endParaRPr lang="en-US" sz="1100"/>
          </a:p>
          <a:p>
            <a:pPr algn="l"/>
            <a:r>
              <a:rPr sz="13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平台构建坚实可靠的技术底座。</a:t>
            </a: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227543" y="0"/>
            <a:ext cx="3961409" cy="2333625"/>
          </a:xfrm>
          <a:prstGeom prst="rect">
            <a:avLst/>
          </a:pr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AutoShape 7"/>
          <p:cNvSpPr/>
          <p:nvPr/>
        </p:nvSpPr>
        <p:spPr>
          <a:xfrm>
            <a:off x="0" y="2333625"/>
            <a:ext cx="12188952" cy="4524375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987996" y="3839468"/>
            <a:ext cx="8212960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300" b="0" i="0" strike="noStrike">
                <a:ln/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TECHNOLOGY FOUNDATION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333291" y="4591943"/>
            <a:ext cx="11522368" cy="863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7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技术底座：国产化适配与赛事对标</a:t>
            </a:r>
            <a:endParaRPr lang="en-US" sz="1100"/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37990" y="581025"/>
            <a:ext cx="10570107" cy="1809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ln/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TECHNICAL ARCHITECTURE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837990" y="1052512"/>
            <a:ext cx="10570107" cy="558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7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技术架构：三层解耦的国产化系统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37990" y="1795462"/>
            <a:ext cx="1618845" cy="5715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837990" y="2062162"/>
            <a:ext cx="1135096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 dirty="0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采用三层解耦的国产化技术栈，前端Vue3结合后端FastAPI，深度适配国产GPU算力基座，实现全链路自主可</a:t>
            </a:r>
            <a:endParaRPr lang="en-US" sz="1100" dirty="0"/>
          </a:p>
          <a:p>
            <a:pPr algn="l"/>
            <a:r>
              <a:rPr sz="1600" b="0" i="0" strike="noStrike" dirty="0" err="1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控，零NVIDIA硬件依赖</a:t>
            </a:r>
            <a:r>
              <a:rPr sz="1600" b="0" i="0" strike="noStrike" dirty="0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</a:t>
            </a:r>
            <a:endParaRPr dirty="0"/>
          </a:p>
        </p:txBody>
      </p:sp>
      <p:sp>
        <p:nvSpPr>
          <p:cNvPr id="7" name="AutoShape 7"/>
          <p:cNvSpPr/>
          <p:nvPr/>
        </p:nvSpPr>
        <p:spPr>
          <a:xfrm>
            <a:off x="837990" y="2883098"/>
            <a:ext cx="3294826" cy="333375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AutoShape 8"/>
          <p:cNvSpPr/>
          <p:nvPr/>
        </p:nvSpPr>
        <p:spPr>
          <a:xfrm>
            <a:off x="1161759" y="3187898"/>
            <a:ext cx="495177" cy="4953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AutoShape 9"/>
          <p:cNvSpPr/>
          <p:nvPr/>
        </p:nvSpPr>
        <p:spPr>
          <a:xfrm>
            <a:off x="1276031" y="3302198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0"/>
                </a:move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moveTo>
                  <a:pt x="4999" y="1000"/>
                </a:move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moveTo>
                  <a:pt x="6919" y="2670"/>
                </a:moveTo>
                <a:cubicBezTo>
                  <a:pt x="6979" y="2630"/>
                  <a:pt x="7044" y="2613"/>
                  <a:pt x="7114" y="2620"/>
                </a:cubicBezTo>
                <a:cubicBezTo>
                  <a:pt x="7184" y="2626"/>
                  <a:pt x="7244" y="2655"/>
                  <a:pt x="7294" y="2705"/>
                </a:cubicBezTo>
                <a:cubicBezTo>
                  <a:pt x="7344" y="2755"/>
                  <a:pt x="7372" y="2815"/>
                  <a:pt x="7379" y="2885"/>
                </a:cubicBezTo>
                <a:cubicBezTo>
                  <a:pt x="7385" y="2955"/>
                  <a:pt x="7369" y="3020"/>
                  <a:pt x="7329" y="3080"/>
                </a:cubicBezTo>
                <a:cubicBezTo>
                  <a:pt x="6235" y="4606"/>
                  <a:pt x="5635" y="5423"/>
                  <a:pt x="5529" y="5530"/>
                </a:cubicBezTo>
                <a:cubicBezTo>
                  <a:pt x="5382" y="5676"/>
                  <a:pt x="5205" y="5750"/>
                  <a:pt x="4999" y="5750"/>
                </a:cubicBezTo>
                <a:cubicBezTo>
                  <a:pt x="4792" y="5750"/>
                  <a:pt x="4615" y="5676"/>
                  <a:pt x="4469" y="5530"/>
                </a:cubicBezTo>
                <a:cubicBezTo>
                  <a:pt x="4322" y="5383"/>
                  <a:pt x="4249" y="5206"/>
                  <a:pt x="4249" y="5000"/>
                </a:cubicBezTo>
                <a:cubicBezTo>
                  <a:pt x="4249" y="4793"/>
                  <a:pt x="4322" y="4616"/>
                  <a:pt x="4469" y="4470"/>
                </a:cubicBezTo>
                <a:cubicBezTo>
                  <a:pt x="4655" y="4283"/>
                  <a:pt x="5472" y="3683"/>
                  <a:pt x="6919" y="2670"/>
                </a:cubicBezTo>
                <a:moveTo>
                  <a:pt x="7748" y="4500"/>
                </a:moveTo>
                <a:cubicBezTo>
                  <a:pt x="7888" y="4500"/>
                  <a:pt x="8006" y="4548"/>
                  <a:pt x="8103" y="4645"/>
                </a:cubicBezTo>
                <a:cubicBezTo>
                  <a:pt x="8199" y="4741"/>
                  <a:pt x="8248" y="4860"/>
                  <a:pt x="8248" y="5000"/>
                </a:cubicBezTo>
                <a:cubicBezTo>
                  <a:pt x="8248" y="5140"/>
                  <a:pt x="8199" y="5258"/>
                  <a:pt x="8103" y="5355"/>
                </a:cubicBezTo>
                <a:cubicBezTo>
                  <a:pt x="8006" y="5451"/>
                  <a:pt x="7888" y="5500"/>
                  <a:pt x="7748" y="5500"/>
                </a:cubicBezTo>
                <a:cubicBezTo>
                  <a:pt x="7608" y="5500"/>
                  <a:pt x="7490" y="5451"/>
                  <a:pt x="7394" y="5355"/>
                </a:cubicBezTo>
                <a:cubicBezTo>
                  <a:pt x="7297" y="5258"/>
                  <a:pt x="7249" y="5140"/>
                  <a:pt x="7249" y="5000"/>
                </a:cubicBezTo>
                <a:cubicBezTo>
                  <a:pt x="7249" y="4860"/>
                  <a:pt x="7297" y="4741"/>
                  <a:pt x="7394" y="4645"/>
                </a:cubicBezTo>
                <a:cubicBezTo>
                  <a:pt x="7490" y="4548"/>
                  <a:pt x="7608" y="4500"/>
                  <a:pt x="7748" y="4500"/>
                </a:cubicBezTo>
                <a:moveTo>
                  <a:pt x="2250" y="4500"/>
                </a:moveTo>
                <a:cubicBezTo>
                  <a:pt x="2390" y="4500"/>
                  <a:pt x="2508" y="4548"/>
                  <a:pt x="2604" y="4645"/>
                </a:cubicBezTo>
                <a:cubicBezTo>
                  <a:pt x="2700" y="4741"/>
                  <a:pt x="2749" y="4860"/>
                  <a:pt x="2749" y="5000"/>
                </a:cubicBezTo>
                <a:cubicBezTo>
                  <a:pt x="2749" y="5140"/>
                  <a:pt x="2700" y="5258"/>
                  <a:pt x="2604" y="5355"/>
                </a:cubicBezTo>
                <a:cubicBezTo>
                  <a:pt x="2508" y="5451"/>
                  <a:pt x="2390" y="5500"/>
                  <a:pt x="2250" y="5500"/>
                </a:cubicBezTo>
                <a:cubicBezTo>
                  <a:pt x="2110" y="5500"/>
                  <a:pt x="1991" y="5451"/>
                  <a:pt x="1895" y="5355"/>
                </a:cubicBezTo>
                <a:cubicBezTo>
                  <a:pt x="1798" y="5258"/>
                  <a:pt x="1750" y="5140"/>
                  <a:pt x="1750" y="5000"/>
                </a:cubicBezTo>
                <a:cubicBezTo>
                  <a:pt x="1750" y="4860"/>
                  <a:pt x="1798" y="4741"/>
                  <a:pt x="1895" y="4645"/>
                </a:cubicBezTo>
                <a:cubicBezTo>
                  <a:pt x="1991" y="4548"/>
                  <a:pt x="2110" y="4500"/>
                  <a:pt x="2250" y="4500"/>
                </a:cubicBezTo>
                <a:moveTo>
                  <a:pt x="3409" y="2700"/>
                </a:moveTo>
                <a:cubicBezTo>
                  <a:pt x="3509" y="2800"/>
                  <a:pt x="3559" y="2918"/>
                  <a:pt x="3559" y="3055"/>
                </a:cubicBezTo>
                <a:cubicBezTo>
                  <a:pt x="3559" y="3191"/>
                  <a:pt x="3509" y="3310"/>
                  <a:pt x="3409" y="3410"/>
                </a:cubicBezTo>
                <a:cubicBezTo>
                  <a:pt x="3309" y="3510"/>
                  <a:pt x="3190" y="3560"/>
                  <a:pt x="3054" y="3560"/>
                </a:cubicBezTo>
                <a:cubicBezTo>
                  <a:pt x="2917" y="3560"/>
                  <a:pt x="2800" y="3510"/>
                  <a:pt x="2704" y="3410"/>
                </a:cubicBezTo>
                <a:cubicBezTo>
                  <a:pt x="2607" y="3310"/>
                  <a:pt x="2559" y="3191"/>
                  <a:pt x="2559" y="3055"/>
                </a:cubicBezTo>
                <a:cubicBezTo>
                  <a:pt x="2559" y="2918"/>
                  <a:pt x="2607" y="2801"/>
                  <a:pt x="2704" y="2705"/>
                </a:cubicBezTo>
                <a:cubicBezTo>
                  <a:pt x="2800" y="2608"/>
                  <a:pt x="2917" y="2560"/>
                  <a:pt x="3054" y="2560"/>
                </a:cubicBezTo>
                <a:cubicBezTo>
                  <a:pt x="3190" y="2560"/>
                  <a:pt x="3309" y="2606"/>
                  <a:pt x="3409" y="2700"/>
                </a:cubicBezTo>
                <a:moveTo>
                  <a:pt x="4999" y="1750"/>
                </a:moveTo>
                <a:cubicBezTo>
                  <a:pt x="5139" y="1750"/>
                  <a:pt x="5257" y="1798"/>
                  <a:pt x="5354" y="1895"/>
                </a:cubicBezTo>
                <a:cubicBezTo>
                  <a:pt x="5450" y="1991"/>
                  <a:pt x="5499" y="2110"/>
                  <a:pt x="5499" y="2250"/>
                </a:cubicBezTo>
                <a:cubicBezTo>
                  <a:pt x="5499" y="2390"/>
                  <a:pt x="5450" y="2508"/>
                  <a:pt x="5354" y="2605"/>
                </a:cubicBezTo>
                <a:cubicBezTo>
                  <a:pt x="5257" y="2701"/>
                  <a:pt x="5139" y="2750"/>
                  <a:pt x="4999" y="2750"/>
                </a:cubicBezTo>
                <a:cubicBezTo>
                  <a:pt x="4859" y="2750"/>
                  <a:pt x="4740" y="2701"/>
                  <a:pt x="4644" y="2605"/>
                </a:cubicBezTo>
                <a:cubicBezTo>
                  <a:pt x="4547" y="2508"/>
                  <a:pt x="4499" y="2390"/>
                  <a:pt x="4499" y="2250"/>
                </a:cubicBezTo>
                <a:cubicBezTo>
                  <a:pt x="4499" y="2110"/>
                  <a:pt x="4547" y="1991"/>
                  <a:pt x="4644" y="1895"/>
                </a:cubicBezTo>
                <a:cubicBezTo>
                  <a:pt x="4740" y="1798"/>
                  <a:pt x="4859" y="1750"/>
                  <a:pt x="4999" y="1750"/>
                </a:cubicBezTo>
              </a:path>
            </a:pathLst>
          </a:cu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161759" y="3930848"/>
            <a:ext cx="2647288" cy="279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前端交互层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161759" y="4403919"/>
            <a:ext cx="2755157" cy="14137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采用Vue 3 + Vite</a:t>
            </a:r>
            <a:r>
              <a:rPr sz="16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+ ECharts技术栈，构建数据仪表盘、预警面板与智能体可视化的高交互前端界面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75631" y="2883098"/>
            <a:ext cx="3294826" cy="3333750"/>
          </a:xfrm>
          <a:prstGeom prst="rect">
            <a:avLst/>
          </a:prstGeom>
          <a:solidFill>
            <a:srgbClr val="F3F3F3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AutoShape 13"/>
          <p:cNvSpPr/>
          <p:nvPr/>
        </p:nvSpPr>
        <p:spPr>
          <a:xfrm>
            <a:off x="4799400" y="3187898"/>
            <a:ext cx="495177" cy="49530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AutoShape 14"/>
          <p:cNvSpPr/>
          <p:nvPr/>
        </p:nvSpPr>
        <p:spPr>
          <a:xfrm>
            <a:off x="4913671" y="3302198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812" y="3708"/>
                </a:moveTo>
                <a:lnTo>
                  <a:pt x="5551" y="2979"/>
                </a:lnTo>
                <a:lnTo>
                  <a:pt x="6290" y="3708"/>
                </a:lnTo>
                <a:cubicBezTo>
                  <a:pt x="6755" y="4173"/>
                  <a:pt x="7071" y="4725"/>
                  <a:pt x="7238" y="5365"/>
                </a:cubicBezTo>
                <a:cubicBezTo>
                  <a:pt x="7398" y="5983"/>
                  <a:pt x="7398" y="6601"/>
                  <a:pt x="7238" y="7219"/>
                </a:cubicBezTo>
                <a:cubicBezTo>
                  <a:pt x="7071" y="7851"/>
                  <a:pt x="6755" y="8399"/>
                  <a:pt x="6290" y="8865"/>
                </a:cubicBezTo>
                <a:lnTo>
                  <a:pt x="6103" y="9052"/>
                </a:lnTo>
                <a:cubicBezTo>
                  <a:pt x="5637" y="9517"/>
                  <a:pt x="5085" y="9833"/>
                  <a:pt x="4447" y="10000"/>
                </a:cubicBezTo>
                <a:cubicBezTo>
                  <a:pt x="3836" y="10160"/>
                  <a:pt x="3222" y="10160"/>
                  <a:pt x="2604" y="10000"/>
                </a:cubicBezTo>
                <a:cubicBezTo>
                  <a:pt x="1965" y="9833"/>
                  <a:pt x="1413" y="9517"/>
                  <a:pt x="948" y="9052"/>
                </a:cubicBezTo>
                <a:cubicBezTo>
                  <a:pt x="482" y="8586"/>
                  <a:pt x="166" y="8034"/>
                  <a:pt x="0" y="7396"/>
                </a:cubicBezTo>
                <a:cubicBezTo>
                  <a:pt x="-160" y="6778"/>
                  <a:pt x="-160" y="6163"/>
                  <a:pt x="0" y="5552"/>
                </a:cubicBezTo>
                <a:cubicBezTo>
                  <a:pt x="166" y="4913"/>
                  <a:pt x="482" y="4361"/>
                  <a:pt x="948" y="3896"/>
                </a:cubicBezTo>
                <a:lnTo>
                  <a:pt x="1687" y="4635"/>
                </a:lnTo>
                <a:cubicBezTo>
                  <a:pt x="1353" y="4968"/>
                  <a:pt x="1128" y="5357"/>
                  <a:pt x="1010" y="5802"/>
                </a:cubicBezTo>
                <a:cubicBezTo>
                  <a:pt x="892" y="6246"/>
                  <a:pt x="892" y="6693"/>
                  <a:pt x="1010" y="7141"/>
                </a:cubicBezTo>
                <a:cubicBezTo>
                  <a:pt x="1128" y="7589"/>
                  <a:pt x="1353" y="7979"/>
                  <a:pt x="1687" y="8313"/>
                </a:cubicBezTo>
                <a:cubicBezTo>
                  <a:pt x="2020" y="8646"/>
                  <a:pt x="2411" y="8872"/>
                  <a:pt x="2859" y="8990"/>
                </a:cubicBezTo>
                <a:cubicBezTo>
                  <a:pt x="3307" y="9108"/>
                  <a:pt x="3753" y="9108"/>
                  <a:pt x="4197" y="8990"/>
                </a:cubicBezTo>
                <a:cubicBezTo>
                  <a:pt x="4641" y="8872"/>
                  <a:pt x="5030" y="8646"/>
                  <a:pt x="5364" y="8313"/>
                </a:cubicBezTo>
                <a:lnTo>
                  <a:pt x="5551" y="8135"/>
                </a:lnTo>
                <a:cubicBezTo>
                  <a:pt x="5884" y="7795"/>
                  <a:pt x="6110" y="7402"/>
                  <a:pt x="6228" y="6958"/>
                </a:cubicBezTo>
                <a:cubicBezTo>
                  <a:pt x="6346" y="6514"/>
                  <a:pt x="6346" y="6068"/>
                  <a:pt x="6228" y="5620"/>
                </a:cubicBezTo>
                <a:cubicBezTo>
                  <a:pt x="6110" y="5172"/>
                  <a:pt x="5884" y="4781"/>
                  <a:pt x="5551" y="4448"/>
                </a:cubicBezTo>
                <a:lnTo>
                  <a:pt x="4812" y="3708"/>
                </a:lnTo>
                <a:moveTo>
                  <a:pt x="9050" y="6104"/>
                </a:moveTo>
                <a:lnTo>
                  <a:pt x="8311" y="5365"/>
                </a:lnTo>
                <a:cubicBezTo>
                  <a:pt x="8644" y="5031"/>
                  <a:pt x="8870" y="4642"/>
                  <a:pt x="8988" y="4198"/>
                </a:cubicBezTo>
                <a:cubicBezTo>
                  <a:pt x="9106" y="3753"/>
                  <a:pt x="9106" y="3307"/>
                  <a:pt x="8988" y="2859"/>
                </a:cubicBezTo>
                <a:cubicBezTo>
                  <a:pt x="8870" y="2411"/>
                  <a:pt x="8644" y="2021"/>
                  <a:pt x="8311" y="1688"/>
                </a:cubicBezTo>
                <a:cubicBezTo>
                  <a:pt x="7977" y="1354"/>
                  <a:pt x="7587" y="1128"/>
                  <a:pt x="7139" y="1010"/>
                </a:cubicBezTo>
                <a:cubicBezTo>
                  <a:pt x="6691" y="892"/>
                  <a:pt x="6245" y="892"/>
                  <a:pt x="5801" y="1010"/>
                </a:cubicBezTo>
                <a:cubicBezTo>
                  <a:pt x="5356" y="1128"/>
                  <a:pt x="4967" y="1354"/>
                  <a:pt x="4634" y="1688"/>
                </a:cubicBezTo>
                <a:lnTo>
                  <a:pt x="4447" y="1865"/>
                </a:lnTo>
                <a:cubicBezTo>
                  <a:pt x="4113" y="2205"/>
                  <a:pt x="3888" y="2597"/>
                  <a:pt x="3770" y="3042"/>
                </a:cubicBezTo>
                <a:cubicBezTo>
                  <a:pt x="3652" y="3486"/>
                  <a:pt x="3652" y="3932"/>
                  <a:pt x="3770" y="4380"/>
                </a:cubicBezTo>
                <a:cubicBezTo>
                  <a:pt x="3888" y="4828"/>
                  <a:pt x="4113" y="5218"/>
                  <a:pt x="4447" y="5552"/>
                </a:cubicBezTo>
                <a:lnTo>
                  <a:pt x="5186" y="6292"/>
                </a:lnTo>
                <a:lnTo>
                  <a:pt x="4447" y="7021"/>
                </a:lnTo>
                <a:lnTo>
                  <a:pt x="3708" y="6292"/>
                </a:lnTo>
                <a:cubicBezTo>
                  <a:pt x="3242" y="5826"/>
                  <a:pt x="2926" y="5274"/>
                  <a:pt x="2760" y="4635"/>
                </a:cubicBezTo>
                <a:cubicBezTo>
                  <a:pt x="2600" y="4017"/>
                  <a:pt x="2600" y="3399"/>
                  <a:pt x="2760" y="2781"/>
                </a:cubicBezTo>
                <a:cubicBezTo>
                  <a:pt x="2926" y="2149"/>
                  <a:pt x="3242" y="1600"/>
                  <a:pt x="3708" y="1135"/>
                </a:cubicBezTo>
                <a:lnTo>
                  <a:pt x="3895" y="948"/>
                </a:lnTo>
                <a:cubicBezTo>
                  <a:pt x="4360" y="482"/>
                  <a:pt x="4912" y="166"/>
                  <a:pt x="5551" y="0"/>
                </a:cubicBezTo>
                <a:cubicBezTo>
                  <a:pt x="6161" y="-160"/>
                  <a:pt x="6776" y="-160"/>
                  <a:pt x="7394" y="0"/>
                </a:cubicBezTo>
                <a:cubicBezTo>
                  <a:pt x="8032" y="166"/>
                  <a:pt x="8584" y="482"/>
                  <a:pt x="9050" y="948"/>
                </a:cubicBezTo>
                <a:cubicBezTo>
                  <a:pt x="9515" y="1413"/>
                  <a:pt x="9831" y="1965"/>
                  <a:pt x="9998" y="2604"/>
                </a:cubicBezTo>
                <a:cubicBezTo>
                  <a:pt x="10158" y="3222"/>
                  <a:pt x="10158" y="3836"/>
                  <a:pt x="9998" y="4448"/>
                </a:cubicBezTo>
                <a:cubicBezTo>
                  <a:pt x="9831" y="5086"/>
                  <a:pt x="9515" y="5638"/>
                  <a:pt x="9050" y="6104"/>
                </a:cubicBezTo>
              </a:path>
            </a:pathLst>
          </a:cu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4799400" y="3930848"/>
            <a:ext cx="2647288" cy="279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多智能体中枢层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4799400" y="4445198"/>
            <a:ext cx="2882157" cy="977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基于FastAPI与LangChain框架实现五大智能体ReAct逻辑编排，通过SSE协议支持推理过程流式推送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13271" y="2883098"/>
            <a:ext cx="3294826" cy="3333750"/>
          </a:xfrm>
          <a:prstGeom prst="rect">
            <a:avLst/>
          </a:prstGeom>
          <a:solidFill>
            <a:srgbClr val="F3F3F3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AutoShape 18"/>
          <p:cNvSpPr/>
          <p:nvPr/>
        </p:nvSpPr>
        <p:spPr>
          <a:xfrm>
            <a:off x="8437041" y="3187898"/>
            <a:ext cx="495177" cy="49530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AutoShape 19"/>
          <p:cNvSpPr/>
          <p:nvPr/>
        </p:nvSpPr>
        <p:spPr>
          <a:xfrm>
            <a:off x="8551311" y="3302198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2000" y="2000"/>
                </a:moveTo>
                <a:lnTo>
                  <a:pt x="2000" y="8000"/>
                </a:lnTo>
                <a:lnTo>
                  <a:pt x="7998" y="8000"/>
                </a:lnTo>
                <a:lnTo>
                  <a:pt x="7998" y="2000"/>
                </a:lnTo>
                <a:lnTo>
                  <a:pt x="2000" y="2000"/>
                </a:lnTo>
                <a:moveTo>
                  <a:pt x="5999" y="10000"/>
                </a:moveTo>
                <a:lnTo>
                  <a:pt x="5999" y="9000"/>
                </a:lnTo>
                <a:lnTo>
                  <a:pt x="3999" y="9000"/>
                </a:lnTo>
                <a:lnTo>
                  <a:pt x="3999" y="10000"/>
                </a:lnTo>
                <a:lnTo>
                  <a:pt x="2999" y="10000"/>
                </a:lnTo>
                <a:lnTo>
                  <a:pt x="2999" y="9000"/>
                </a:lnTo>
                <a:lnTo>
                  <a:pt x="1500" y="9000"/>
                </a:lnTo>
                <a:cubicBezTo>
                  <a:pt x="1360" y="9000"/>
                  <a:pt x="1241" y="8951"/>
                  <a:pt x="1145" y="8855"/>
                </a:cubicBezTo>
                <a:cubicBezTo>
                  <a:pt x="1048" y="8758"/>
                  <a:pt x="1000" y="8640"/>
                  <a:pt x="1000" y="8500"/>
                </a:cubicBezTo>
                <a:lnTo>
                  <a:pt x="1000" y="7000"/>
                </a:lnTo>
                <a:lnTo>
                  <a:pt x="0" y="7000"/>
                </a:lnTo>
                <a:lnTo>
                  <a:pt x="0" y="6000"/>
                </a:lnTo>
                <a:lnTo>
                  <a:pt x="1000" y="6000"/>
                </a:lnTo>
                <a:lnTo>
                  <a:pt x="1000" y="4000"/>
                </a:lnTo>
                <a:lnTo>
                  <a:pt x="0" y="4000"/>
                </a:lnTo>
                <a:lnTo>
                  <a:pt x="0" y="3000"/>
                </a:lnTo>
                <a:lnTo>
                  <a:pt x="1000" y="3000"/>
                </a:lnTo>
                <a:lnTo>
                  <a:pt x="1000" y="1500"/>
                </a:lnTo>
                <a:cubicBezTo>
                  <a:pt x="1000" y="1360"/>
                  <a:pt x="1048" y="1241"/>
                  <a:pt x="1145" y="1145"/>
                </a:cubicBezTo>
                <a:cubicBezTo>
                  <a:pt x="1241" y="1048"/>
                  <a:pt x="1360" y="1000"/>
                  <a:pt x="1500" y="1000"/>
                </a:cubicBezTo>
                <a:lnTo>
                  <a:pt x="2999" y="1000"/>
                </a:lnTo>
                <a:lnTo>
                  <a:pt x="2999" y="0"/>
                </a:lnTo>
                <a:lnTo>
                  <a:pt x="3999" y="0"/>
                </a:lnTo>
                <a:lnTo>
                  <a:pt x="3999" y="1000"/>
                </a:lnTo>
                <a:lnTo>
                  <a:pt x="5999" y="1000"/>
                </a:lnTo>
                <a:lnTo>
                  <a:pt x="5999" y="0"/>
                </a:lnTo>
                <a:lnTo>
                  <a:pt x="6999" y="0"/>
                </a:lnTo>
                <a:lnTo>
                  <a:pt x="6999" y="1000"/>
                </a:lnTo>
                <a:lnTo>
                  <a:pt x="8498" y="1000"/>
                </a:lnTo>
                <a:cubicBezTo>
                  <a:pt x="8638" y="1000"/>
                  <a:pt x="8756" y="1048"/>
                  <a:pt x="8853" y="1145"/>
                </a:cubicBezTo>
                <a:cubicBezTo>
                  <a:pt x="8949" y="1241"/>
                  <a:pt x="8998" y="1360"/>
                  <a:pt x="8998" y="1500"/>
                </a:cubicBezTo>
                <a:lnTo>
                  <a:pt x="8998" y="3000"/>
                </a:lnTo>
                <a:lnTo>
                  <a:pt x="9998" y="3000"/>
                </a:lnTo>
                <a:lnTo>
                  <a:pt x="9998" y="4000"/>
                </a:lnTo>
                <a:lnTo>
                  <a:pt x="8998" y="4000"/>
                </a:lnTo>
                <a:lnTo>
                  <a:pt x="8998" y="6000"/>
                </a:lnTo>
                <a:lnTo>
                  <a:pt x="9998" y="6000"/>
                </a:lnTo>
                <a:lnTo>
                  <a:pt x="9998" y="7000"/>
                </a:lnTo>
                <a:lnTo>
                  <a:pt x="8998" y="7000"/>
                </a:lnTo>
                <a:lnTo>
                  <a:pt x="8998" y="8500"/>
                </a:lnTo>
                <a:cubicBezTo>
                  <a:pt x="8998" y="8640"/>
                  <a:pt x="8949" y="8758"/>
                  <a:pt x="8853" y="8855"/>
                </a:cubicBezTo>
                <a:cubicBezTo>
                  <a:pt x="8756" y="8951"/>
                  <a:pt x="8638" y="9000"/>
                  <a:pt x="8498" y="9000"/>
                </a:cubicBezTo>
                <a:lnTo>
                  <a:pt x="6999" y="9000"/>
                </a:lnTo>
                <a:lnTo>
                  <a:pt x="6999" y="10000"/>
                </a:lnTo>
                <a:lnTo>
                  <a:pt x="5999" y="10000"/>
                </a:lnTo>
                <a:moveTo>
                  <a:pt x="2999" y="7000"/>
                </a:moveTo>
                <a:lnTo>
                  <a:pt x="2999" y="3000"/>
                </a:lnTo>
                <a:lnTo>
                  <a:pt x="6999" y="3000"/>
                </a:lnTo>
                <a:lnTo>
                  <a:pt x="6999" y="7000"/>
                </a:lnTo>
              </a:path>
            </a:pathLst>
          </a:cu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8437041" y="3930848"/>
            <a:ext cx="2647288" cy="279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国产化算力基座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437041" y="4445198"/>
            <a:ext cx="2805957" cy="977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 dirty="0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整合曦云C500</a:t>
            </a:r>
            <a:r>
              <a:rPr lang="zh-CN" altLang="en-US" sz="1600" dirty="0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云端</a:t>
            </a:r>
            <a:r>
              <a:rPr lang="en-US" sz="1600" b="0" i="0" strike="noStrike" dirty="0" err="1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GPU加速情绪提取过程与沐曦集群云端推理，配备DeepSeek容灾，实现零NVIDIA依赖</a:t>
            </a:r>
            <a:endParaRPr lang="en-US" sz="1100" dirty="0"/>
          </a:p>
        </p:txBody>
      </p:sp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5E5E5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780854" y="400050"/>
            <a:ext cx="10684378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ln/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GPU BENCHMARK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780854" y="714375"/>
            <a:ext cx="10684378" cy="4572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比赛适配：曦云C500 GPU上的全流水线实测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80854" y="1266825"/>
            <a:ext cx="1333166" cy="47625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780854" y="1485900"/>
            <a:ext cx="10684378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MetaX C500 GPU 基准测试数据（16GB显存）</a:t>
            </a:r>
            <a:endParaRPr lang="en-US" sz="1100"/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780854" y="1767780"/>
          <a:ext cx="10668000" cy="2311400"/>
        </p:xfrm>
        <a:graphic>
          <a:graphicData uri="http://schemas.openxmlformats.org/drawingml/2006/table">
            <a:tbl>
              <a:tblPr/>
              <a:tblGrid>
                <a:gridCol w="311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algn="l">
                        <a:defRPr sz="1100" b="1" i="0" strike="noStrike">
                          <a:ln/>
                          <a:solidFill>
                            <a:srgbClr val="FFFFFF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1" i="0" strike="noStrike" dirty="0" err="1">
                          <a:ln/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测试项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  <a:solidFill>
                      <a:srgbClr val="000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 i="0" strike="noStrike">
                          <a:ln/>
                          <a:solidFill>
                            <a:srgbClr val="FFFFFF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1" i="0" strike="noStrike" dirty="0" err="1">
                          <a:ln/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CPU耗时</a:t>
                      </a:r>
                      <a:r>
                        <a:rPr sz="1100" b="1" i="0" strike="noStrike" dirty="0">
                          <a:ln/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(</a:t>
                      </a:r>
                      <a:r>
                        <a:rPr sz="1100" b="1" i="0" strike="noStrike" dirty="0" err="1">
                          <a:ln/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ms</a:t>
                      </a:r>
                      <a:r>
                        <a:rPr sz="1100" b="1" i="0" strike="noStrike" dirty="0">
                          <a:ln/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)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  <a:solidFill>
                      <a:srgbClr val="000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 i="0" strike="noStrike">
                          <a:ln/>
                          <a:solidFill>
                            <a:srgbClr val="FFFFFF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1" i="0" strike="noStrike" dirty="0" err="1">
                          <a:ln/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GPU耗时</a:t>
                      </a:r>
                      <a:r>
                        <a:rPr sz="1100" b="1" i="0" strike="noStrike" dirty="0">
                          <a:ln/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(</a:t>
                      </a:r>
                      <a:r>
                        <a:rPr sz="1100" b="1" i="0" strike="noStrike" dirty="0" err="1">
                          <a:ln/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ms</a:t>
                      </a:r>
                      <a:r>
                        <a:rPr sz="1100" b="1" i="0" strike="noStrike" dirty="0">
                          <a:ln/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)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  <a:solidFill>
                      <a:srgbClr val="000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 i="0" strike="noStrike">
                          <a:ln/>
                          <a:solidFill>
                            <a:srgbClr val="FFFFFF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1" i="0" strike="noStrike" dirty="0" err="1">
                          <a:ln/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加速比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  <a:solidFill>
                      <a:srgbClr val="00000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>
                        <a:defRPr sz="1100" b="1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1" i="0" strike="noStrike" dirty="0" err="1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全流水线端到端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  <a:solidFill>
                      <a:srgbClr val="FBC43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1" i="0" strike="noStrike" dirty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91.26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  <a:solidFill>
                      <a:srgbClr val="FBC43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1" i="0" strike="noStrike" dirty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6.49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  <a:solidFill>
                      <a:srgbClr val="FBC43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200" b="1" i="0" strike="noStrike" dirty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14.06x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  <a:solidFill>
                      <a:srgbClr val="FBC43E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 err="1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FFT频率分析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45.56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6.61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1" i="0" strike="noStrike" dirty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6.89x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 err="1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频率直方图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  <a:solidFill>
                      <a:srgbClr val="F3F3F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0.79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  <a:solidFill>
                      <a:srgbClr val="F3F3F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0.13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  <a:solidFill>
                      <a:srgbClr val="F3F3F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1" i="0" strike="noStrike" dirty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6.14x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  <a:solidFill>
                      <a:srgbClr val="F3F3F3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 err="1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帧差分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7.32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1.53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1" i="0" strike="noStrike" dirty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4.79x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YOLOv8推理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  <a:solidFill>
                      <a:srgbClr val="F3F3F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849.83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  <a:solidFill>
                      <a:srgbClr val="F3F3F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293.32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  <a:solidFill>
                      <a:srgbClr val="F3F3F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1" i="0" strike="noStrike" dirty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2.90x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  <a:solidFill>
                      <a:srgbClr val="F3F3F3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AutoShape 9"/>
          <p:cNvSpPr/>
          <p:nvPr/>
        </p:nvSpPr>
        <p:spPr>
          <a:xfrm>
            <a:off x="780854" y="4291310"/>
            <a:ext cx="304724" cy="30480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858970" y="4362747"/>
            <a:ext cx="226609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01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180804" y="4310360"/>
            <a:ext cx="2856685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端到端加速比14.06x（GPU 6.49ms vs CPU91.26ms），FFT频率分析达6.89x，全场景加速覆盖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93052" y="4291310"/>
            <a:ext cx="304724" cy="30480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4471167" y="4362747"/>
            <a:ext cx="226609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02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5010558" y="4362747"/>
            <a:ext cx="2170885" cy="863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GPU自动探测机制支持MUSA→CUDA→CPU</a:t>
            </a:r>
            <a:endParaRPr lang="en-US" sz="1100"/>
          </a:p>
          <a:p>
            <a:pPr algn="l"/>
            <a:r>
              <a:rPr sz="14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Fallback，无需手动配置环境，极大降低部署门槛</a:t>
            </a: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005249" y="4291310"/>
            <a:ext cx="304724" cy="30480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8083365" y="4362747"/>
            <a:ext cx="226609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03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405199" y="4310360"/>
            <a:ext cx="2767935" cy="635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模型依托沐曦GPU集群推理，视觉算法依托曦云C500本地加速，实现零NVIDIA硬件依赖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53811" y="5560517"/>
            <a:ext cx="10684378" cy="76200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976123" y="5763717"/>
            <a:ext cx="10239755" cy="355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核心洞察：曦云C500 GPU在全流水线实测中展现卓越性能，端到端加速比达14.06倍，GPU优势项加权平均6.96倍，系统具备MUSA→CUDA→CPU自动探测能力，实现全链路零CUDA依赖，完美适配国产算力要求。</a:t>
            </a:r>
            <a:endParaRPr lang="en-US" sz="1100"/>
          </a:p>
        </p:txBody>
      </p:sp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761810" y="438150"/>
            <a:ext cx="106653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ln/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SCORE BENCHMARK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61810" y="742950"/>
            <a:ext cx="10665333" cy="546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6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赛道要求 vs 作品实现对照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1810" y="1407766"/>
            <a:ext cx="1618845" cy="5715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526710"/>
              </p:ext>
            </p:extLst>
          </p:nvPr>
        </p:nvGraphicFramePr>
        <p:xfrm>
          <a:off x="761810" y="1655416"/>
          <a:ext cx="10642600" cy="3479800"/>
        </p:xfrm>
        <a:graphic>
          <a:graphicData uri="http://schemas.openxmlformats.org/drawingml/2006/table">
            <a:tbl>
              <a:tblPr/>
              <a:tblGrid>
                <a:gridCol w="191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l">
                        <a:defRPr sz="1100" b="1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1" i="0" strike="noStrike" dirty="0" err="1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赛道要求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38100">
                      <a:solidFill>
                        <a:srgbClr val="FBC43E">
                          <a:alpha val="100000"/>
                        </a:srgbClr>
                      </a:solidFill>
                    </a:lnL>
                    <a:lnR w="38100">
                      <a:solidFill>
                        <a:srgbClr val="FBC43E">
                          <a:alpha val="100000"/>
                        </a:srgbClr>
                      </a:solidFill>
                    </a:lnR>
                    <a:lnT w="38100">
                      <a:solidFill>
                        <a:srgbClr val="FBC43E">
                          <a:alpha val="100000"/>
                        </a:srgbClr>
                      </a:solidFill>
                    </a:lnT>
                    <a:lnB w="38100">
                      <a:solidFill>
                        <a:srgbClr val="FBC43E">
                          <a:alpha val="100000"/>
                        </a:srgbClr>
                      </a:solidFill>
                    </a:lnB>
                    <a:solidFill>
                      <a:srgbClr val="F3F3F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1" i="0" strike="noStrike" dirty="0" err="1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作品核心实现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38100">
                      <a:solidFill>
                        <a:srgbClr val="FBC43E">
                          <a:alpha val="100000"/>
                        </a:srgbClr>
                      </a:solidFill>
                    </a:lnL>
                    <a:lnR w="38100">
                      <a:solidFill>
                        <a:srgbClr val="FBC43E">
                          <a:alpha val="100000"/>
                        </a:srgbClr>
                      </a:solidFill>
                    </a:lnR>
                    <a:lnT w="38100">
                      <a:solidFill>
                        <a:srgbClr val="FBC43E">
                          <a:alpha val="100000"/>
                        </a:srgbClr>
                      </a:solidFill>
                    </a:lnT>
                    <a:lnB w="38100">
                      <a:solidFill>
                        <a:srgbClr val="FBC43E">
                          <a:alpha val="100000"/>
                        </a:srgbClr>
                      </a:solidFill>
                    </a:lnB>
                    <a:solidFill>
                      <a:srgbClr val="F3F3F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1" i="0" strike="noStrike" dirty="0" err="1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对应评分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38100">
                      <a:solidFill>
                        <a:srgbClr val="FBC43E">
                          <a:alpha val="100000"/>
                        </a:srgbClr>
                      </a:solidFill>
                    </a:lnL>
                    <a:lnR w="38100">
                      <a:solidFill>
                        <a:srgbClr val="FBC43E">
                          <a:alpha val="100000"/>
                        </a:srgbClr>
                      </a:solidFill>
                    </a:lnR>
                    <a:lnT w="38100">
                      <a:solidFill>
                        <a:srgbClr val="FBC43E">
                          <a:alpha val="100000"/>
                        </a:srgbClr>
                      </a:solidFill>
                    </a:lnT>
                    <a:lnB w="38100">
                      <a:solidFill>
                        <a:srgbClr val="FBC43E">
                          <a:alpha val="100000"/>
                        </a:srgbClr>
                      </a:solidFill>
                    </a:lnB>
                    <a:solidFill>
                      <a:srgbClr val="F3F3F3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 err="1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国产GPU算力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38100">
                      <a:solidFill>
                        <a:srgbClr val="FBC43E">
                          <a:alpha val="100000"/>
                        </a:srgbClr>
                      </a:solidFill>
                    </a:lnL>
                    <a:lnR w="38100">
                      <a:solidFill>
                        <a:srgbClr val="FBC43E">
                          <a:alpha val="100000"/>
                        </a:srgbClr>
                      </a:solidFill>
                    </a:lnR>
                    <a:lnT w="38100">
                      <a:solidFill>
                        <a:srgbClr val="FBC43E">
                          <a:alpha val="100000"/>
                        </a:srgbClr>
                      </a:solidFill>
                    </a:lnT>
                    <a:lnB w="38100">
                      <a:solidFill>
                        <a:srgbClr val="FBC43E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C500本地加速(14.06x) + </a:t>
                      </a:r>
                      <a:r>
                        <a:rPr sz="1100" b="0" i="0" strike="noStrike" dirty="0" err="1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沐曦集群推理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38100">
                      <a:solidFill>
                        <a:srgbClr val="FBC43E">
                          <a:alpha val="100000"/>
                        </a:srgbClr>
                      </a:solidFill>
                    </a:lnL>
                    <a:lnR w="38100">
                      <a:solidFill>
                        <a:srgbClr val="FBC43E">
                          <a:alpha val="100000"/>
                        </a:srgbClr>
                      </a:solidFill>
                    </a:lnR>
                    <a:lnT w="38100">
                      <a:solidFill>
                        <a:srgbClr val="FBC43E">
                          <a:alpha val="100000"/>
                        </a:srgbClr>
                      </a:solidFill>
                    </a:lnT>
                    <a:lnB w="38100">
                      <a:solidFill>
                        <a:srgbClr val="FBC43E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 i="0" strike="noStrike">
                          <a:ln/>
                          <a:solidFill>
                            <a:srgbClr val="FBC43E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1" i="0" strike="noStrike" dirty="0">
                          <a:ln/>
                          <a:solidFill>
                            <a:srgbClr val="FBC43E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20分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38100">
                      <a:solidFill>
                        <a:srgbClr val="FBC43E">
                          <a:alpha val="100000"/>
                        </a:srgbClr>
                      </a:solidFill>
                    </a:lnL>
                    <a:lnR w="38100">
                      <a:solidFill>
                        <a:srgbClr val="FBC43E">
                          <a:alpha val="100000"/>
                        </a:srgbClr>
                      </a:solidFill>
                    </a:lnR>
                    <a:lnT w="38100">
                      <a:solidFill>
                        <a:srgbClr val="FBC43E">
                          <a:alpha val="100000"/>
                        </a:srgbClr>
                      </a:solidFill>
                    </a:lnT>
                    <a:lnB w="38100">
                      <a:solidFill>
                        <a:srgbClr val="FBC43E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 err="1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开源智能体框架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38100">
                      <a:solidFill>
                        <a:srgbClr val="FBC43E">
                          <a:alpha val="100000"/>
                        </a:srgbClr>
                      </a:solidFill>
                    </a:lnL>
                    <a:lnR w="38100">
                      <a:solidFill>
                        <a:srgbClr val="FBC43E">
                          <a:alpha val="100000"/>
                        </a:srgbClr>
                      </a:solidFill>
                    </a:lnR>
                    <a:lnT w="38100">
                      <a:solidFill>
                        <a:srgbClr val="FBC43E">
                          <a:alpha val="100000"/>
                        </a:srgbClr>
                      </a:solidFill>
                    </a:lnT>
                    <a:lnB w="38100">
                      <a:solidFill>
                        <a:srgbClr val="FBC43E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 err="1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LangChain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38100">
                      <a:solidFill>
                        <a:srgbClr val="FBC43E">
                          <a:alpha val="100000"/>
                        </a:srgbClr>
                      </a:solidFill>
                    </a:lnL>
                    <a:lnR w="38100">
                      <a:solidFill>
                        <a:srgbClr val="FBC43E">
                          <a:alpha val="100000"/>
                        </a:srgbClr>
                      </a:solidFill>
                    </a:lnR>
                    <a:lnT w="38100">
                      <a:solidFill>
                        <a:srgbClr val="FBC43E">
                          <a:alpha val="100000"/>
                        </a:srgbClr>
                      </a:solidFill>
                    </a:lnT>
                    <a:lnB w="38100">
                      <a:solidFill>
                        <a:srgbClr val="FBC43E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 i="0" strike="noStrike">
                          <a:ln/>
                          <a:solidFill>
                            <a:srgbClr val="FBC43E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1" i="0" strike="noStrike" dirty="0">
                          <a:ln/>
                          <a:solidFill>
                            <a:srgbClr val="FBC43E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10分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38100">
                      <a:solidFill>
                        <a:srgbClr val="FBC43E">
                          <a:alpha val="100000"/>
                        </a:srgbClr>
                      </a:solidFill>
                    </a:lnL>
                    <a:lnR w="38100">
                      <a:solidFill>
                        <a:srgbClr val="FBC43E">
                          <a:alpha val="100000"/>
                        </a:srgbClr>
                      </a:solidFill>
                    </a:lnR>
                    <a:lnT w="38100">
                      <a:solidFill>
                        <a:srgbClr val="FBC43E">
                          <a:alpha val="100000"/>
                        </a:srgbClr>
                      </a:solidFill>
                    </a:lnT>
                    <a:lnB w="38100">
                      <a:solidFill>
                        <a:srgbClr val="FBC43E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 err="1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任务理解</a:t>
                      </a:r>
                      <a:r>
                        <a:rPr sz="1100" b="0" i="0" strike="noStrike" dirty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/</a:t>
                      </a:r>
                      <a:r>
                        <a:rPr sz="1100" b="0" i="0" strike="noStrike" dirty="0" err="1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工具调用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38100">
                      <a:solidFill>
                        <a:srgbClr val="FBC43E">
                          <a:alpha val="100000"/>
                        </a:srgbClr>
                      </a:solidFill>
                    </a:lnL>
                    <a:lnR w="38100">
                      <a:solidFill>
                        <a:srgbClr val="FBC43E">
                          <a:alpha val="100000"/>
                        </a:srgbClr>
                      </a:solidFill>
                    </a:lnR>
                    <a:lnT w="38100">
                      <a:solidFill>
                        <a:srgbClr val="FBC43E">
                          <a:alpha val="100000"/>
                        </a:srgbClr>
                      </a:solidFill>
                    </a:lnT>
                    <a:lnB w="38100">
                      <a:solidFill>
                        <a:srgbClr val="FBC43E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5智能体prompt-based </a:t>
                      </a:r>
                      <a:r>
                        <a:rPr sz="1100" b="0" i="0" strike="noStrike" dirty="0" err="1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ReAct</a:t>
                      </a:r>
                      <a:r>
                        <a:rPr sz="1100" b="0" i="0" strike="noStrike" dirty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 + </a:t>
                      </a:r>
                      <a:r>
                        <a:rPr sz="1100" b="0" i="0" strike="noStrike" dirty="0" err="1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SSE流式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38100">
                      <a:solidFill>
                        <a:srgbClr val="FBC43E">
                          <a:alpha val="100000"/>
                        </a:srgbClr>
                      </a:solidFill>
                    </a:lnL>
                    <a:lnR w="38100">
                      <a:solidFill>
                        <a:srgbClr val="FBC43E">
                          <a:alpha val="100000"/>
                        </a:srgbClr>
                      </a:solidFill>
                    </a:lnR>
                    <a:lnT w="38100">
                      <a:solidFill>
                        <a:srgbClr val="FBC43E">
                          <a:alpha val="100000"/>
                        </a:srgbClr>
                      </a:solidFill>
                    </a:lnT>
                    <a:lnB w="38100">
                      <a:solidFill>
                        <a:srgbClr val="FBC43E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 i="0" strike="noStrike">
                          <a:ln/>
                          <a:solidFill>
                            <a:srgbClr val="FBC43E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1" i="0" strike="noStrike" dirty="0">
                          <a:ln/>
                          <a:solidFill>
                            <a:srgbClr val="FBC43E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10分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38100">
                      <a:solidFill>
                        <a:srgbClr val="FBC43E">
                          <a:alpha val="100000"/>
                        </a:srgbClr>
                      </a:solidFill>
                    </a:lnL>
                    <a:lnR w="38100">
                      <a:solidFill>
                        <a:srgbClr val="FBC43E">
                          <a:alpha val="100000"/>
                        </a:srgbClr>
                      </a:solidFill>
                    </a:lnR>
                    <a:lnT w="38100">
                      <a:solidFill>
                        <a:srgbClr val="FBC43E">
                          <a:alpha val="100000"/>
                        </a:srgbClr>
                      </a:solidFill>
                    </a:lnT>
                    <a:lnB w="38100">
                      <a:solidFill>
                        <a:srgbClr val="FBC43E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 err="1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AIGC内容生成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38100">
                      <a:solidFill>
                        <a:srgbClr val="FBC43E">
                          <a:alpha val="100000"/>
                        </a:srgbClr>
                      </a:solidFill>
                    </a:lnL>
                    <a:lnR w="38100">
                      <a:solidFill>
                        <a:srgbClr val="FBC43E">
                          <a:alpha val="100000"/>
                        </a:srgbClr>
                      </a:solidFill>
                    </a:lnR>
                    <a:lnT w="38100">
                      <a:solidFill>
                        <a:srgbClr val="FBC43E">
                          <a:alpha val="100000"/>
                        </a:srgbClr>
                      </a:solidFill>
                    </a:lnT>
                    <a:lnB w="38100">
                      <a:solidFill>
                        <a:srgbClr val="FBC43E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4类专业心理文书自动生成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38100">
                      <a:solidFill>
                        <a:srgbClr val="FBC43E">
                          <a:alpha val="100000"/>
                        </a:srgbClr>
                      </a:solidFill>
                    </a:lnL>
                    <a:lnR w="38100">
                      <a:solidFill>
                        <a:srgbClr val="FBC43E">
                          <a:alpha val="100000"/>
                        </a:srgbClr>
                      </a:solidFill>
                    </a:lnR>
                    <a:lnT w="38100">
                      <a:solidFill>
                        <a:srgbClr val="FBC43E">
                          <a:alpha val="100000"/>
                        </a:srgbClr>
                      </a:solidFill>
                    </a:lnT>
                    <a:lnB w="38100">
                      <a:solidFill>
                        <a:srgbClr val="FBC43E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 i="0" strike="noStrike">
                          <a:ln/>
                          <a:solidFill>
                            <a:srgbClr val="FBC43E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1" i="0" strike="noStrike" dirty="0">
                          <a:ln/>
                          <a:solidFill>
                            <a:srgbClr val="FBC43E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10分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38100">
                      <a:solidFill>
                        <a:srgbClr val="FBC43E">
                          <a:alpha val="100000"/>
                        </a:srgbClr>
                      </a:solidFill>
                    </a:lnL>
                    <a:lnR w="38100">
                      <a:solidFill>
                        <a:srgbClr val="FBC43E">
                          <a:alpha val="100000"/>
                        </a:srgbClr>
                      </a:solidFill>
                    </a:lnR>
                    <a:lnT w="38100">
                      <a:solidFill>
                        <a:srgbClr val="FBC43E">
                          <a:alpha val="100000"/>
                        </a:srgbClr>
                      </a:solidFill>
                    </a:lnT>
                    <a:lnB w="38100">
                      <a:solidFill>
                        <a:srgbClr val="FBC43E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 err="1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可运行Demo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38100">
                      <a:solidFill>
                        <a:srgbClr val="FBC43E">
                          <a:alpha val="100000"/>
                        </a:srgbClr>
                      </a:solidFill>
                    </a:lnL>
                    <a:lnR w="38100">
                      <a:solidFill>
                        <a:srgbClr val="FBC43E">
                          <a:alpha val="100000"/>
                        </a:srgbClr>
                      </a:solidFill>
                    </a:lnR>
                    <a:lnT w="38100">
                      <a:solidFill>
                        <a:srgbClr val="FBC43E">
                          <a:alpha val="100000"/>
                        </a:srgbClr>
                      </a:solidFill>
                    </a:lnT>
                    <a:lnB w="38100">
                      <a:solidFill>
                        <a:srgbClr val="FBC43E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Web UI + REST API(90+端点) + </a:t>
                      </a:r>
                      <a:r>
                        <a:rPr sz="1100" b="0" i="0" strike="noStrike" dirty="0" err="1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CLI一键启动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38100">
                      <a:solidFill>
                        <a:srgbClr val="FBC43E">
                          <a:alpha val="100000"/>
                        </a:srgbClr>
                      </a:solidFill>
                    </a:lnL>
                    <a:lnR w="38100">
                      <a:solidFill>
                        <a:srgbClr val="FBC43E">
                          <a:alpha val="100000"/>
                        </a:srgbClr>
                      </a:solidFill>
                    </a:lnR>
                    <a:lnT w="38100">
                      <a:solidFill>
                        <a:srgbClr val="FBC43E">
                          <a:alpha val="100000"/>
                        </a:srgbClr>
                      </a:solidFill>
                    </a:lnT>
                    <a:lnB w="38100">
                      <a:solidFill>
                        <a:srgbClr val="FBC43E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 i="0" strike="noStrike">
                          <a:ln/>
                          <a:solidFill>
                            <a:srgbClr val="FBC43E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1" i="0" strike="noStrike" dirty="0">
                          <a:ln/>
                          <a:solidFill>
                            <a:srgbClr val="FBC43E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10分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38100">
                      <a:solidFill>
                        <a:srgbClr val="FBC43E">
                          <a:alpha val="100000"/>
                        </a:srgbClr>
                      </a:solidFill>
                    </a:lnL>
                    <a:lnR w="38100">
                      <a:solidFill>
                        <a:srgbClr val="FBC43E">
                          <a:alpha val="100000"/>
                        </a:srgbClr>
                      </a:solidFill>
                    </a:lnR>
                    <a:lnT w="38100">
                      <a:solidFill>
                        <a:srgbClr val="FBC43E">
                          <a:alpha val="100000"/>
                        </a:srgbClr>
                      </a:solidFill>
                    </a:lnT>
                    <a:lnB w="38100">
                      <a:solidFill>
                        <a:srgbClr val="FBC43E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 err="1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云部署+公网链接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38100">
                      <a:solidFill>
                        <a:srgbClr val="FBC43E">
                          <a:alpha val="100000"/>
                        </a:srgbClr>
                      </a:solidFill>
                    </a:lnL>
                    <a:lnR w="38100">
                      <a:solidFill>
                        <a:srgbClr val="FBC43E">
                          <a:alpha val="100000"/>
                        </a:srgbClr>
                      </a:solidFill>
                    </a:lnR>
                    <a:lnT w="38100">
                      <a:solidFill>
                        <a:srgbClr val="FBC43E">
                          <a:alpha val="100000"/>
                        </a:srgbClr>
                      </a:solidFill>
                    </a:lnT>
                    <a:lnB w="38100">
                      <a:solidFill>
                        <a:srgbClr val="FBC43E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Docker + docker-compose + </a:t>
                      </a:r>
                      <a:r>
                        <a:rPr sz="1100" b="0" i="0" strike="noStrike" dirty="0" err="1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CloudBase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38100">
                      <a:solidFill>
                        <a:srgbClr val="FBC43E">
                          <a:alpha val="100000"/>
                        </a:srgbClr>
                      </a:solidFill>
                    </a:lnL>
                    <a:lnR w="38100">
                      <a:solidFill>
                        <a:srgbClr val="FBC43E">
                          <a:alpha val="100000"/>
                        </a:srgbClr>
                      </a:solidFill>
                    </a:lnR>
                    <a:lnT w="38100">
                      <a:solidFill>
                        <a:srgbClr val="FBC43E">
                          <a:alpha val="100000"/>
                        </a:srgbClr>
                      </a:solidFill>
                    </a:lnT>
                    <a:lnB w="38100">
                      <a:solidFill>
                        <a:srgbClr val="FBC43E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 i="0" strike="noStrike">
                          <a:ln/>
                          <a:solidFill>
                            <a:srgbClr val="FBC43E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1" i="0" strike="noStrike" dirty="0">
                          <a:ln/>
                          <a:solidFill>
                            <a:srgbClr val="FBC43E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15分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38100">
                      <a:solidFill>
                        <a:srgbClr val="FBC43E">
                          <a:alpha val="100000"/>
                        </a:srgbClr>
                      </a:solidFill>
                    </a:lnL>
                    <a:lnR w="38100">
                      <a:solidFill>
                        <a:srgbClr val="FBC43E">
                          <a:alpha val="100000"/>
                        </a:srgbClr>
                      </a:solidFill>
                    </a:lnR>
                    <a:lnT w="38100">
                      <a:solidFill>
                        <a:srgbClr val="FBC43E">
                          <a:alpha val="100000"/>
                        </a:srgbClr>
                      </a:solidFill>
                    </a:lnT>
                    <a:lnB w="38100">
                      <a:solidFill>
                        <a:srgbClr val="FBC43E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 err="1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GitLink开源+文档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38100">
                      <a:solidFill>
                        <a:srgbClr val="FBC43E">
                          <a:alpha val="100000"/>
                        </a:srgbClr>
                      </a:solidFill>
                    </a:lnL>
                    <a:lnR w="38100">
                      <a:solidFill>
                        <a:srgbClr val="FBC43E">
                          <a:alpha val="100000"/>
                        </a:srgbClr>
                      </a:solidFill>
                    </a:lnR>
                    <a:lnT w="38100">
                      <a:solidFill>
                        <a:srgbClr val="FBC43E">
                          <a:alpha val="100000"/>
                        </a:srgbClr>
                      </a:solidFill>
                    </a:lnT>
                    <a:lnB w="38100">
                      <a:solidFill>
                        <a:srgbClr val="FBC43E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0" i="0" strike="noStrike" dirty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Apache 2.0协议 + 684行详尽README文档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38100">
                      <a:solidFill>
                        <a:srgbClr val="FBC43E">
                          <a:alpha val="100000"/>
                        </a:srgbClr>
                      </a:solidFill>
                    </a:lnL>
                    <a:lnR w="38100">
                      <a:solidFill>
                        <a:srgbClr val="FBC43E">
                          <a:alpha val="100000"/>
                        </a:srgbClr>
                      </a:solidFill>
                    </a:lnR>
                    <a:lnT w="38100">
                      <a:solidFill>
                        <a:srgbClr val="FBC43E">
                          <a:alpha val="100000"/>
                        </a:srgbClr>
                      </a:solidFill>
                    </a:lnT>
                    <a:lnB w="38100">
                      <a:solidFill>
                        <a:srgbClr val="FBC43E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 i="0" strike="noStrike">
                          <a:ln/>
                          <a:solidFill>
                            <a:srgbClr val="FBC43E">
                              <a:alpha val="100000"/>
                            </a:srgbClr>
                          </a:solidFill>
                          <a:latin typeface="&quot;Source Han Sans&quot;, sans-serif"/>
                          <a:ea typeface="&quot;Source Han Sans&quot;, sans-serif"/>
                          <a:cs typeface="&quot;Source Han Sans&quot;, sans-serif"/>
                        </a:defRPr>
                      </a:pPr>
                      <a:r>
                        <a:rPr sz="1100" b="1" i="0" strike="noStrike" dirty="0">
                          <a:ln/>
                          <a:solidFill>
                            <a:srgbClr val="FBC43E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&quot;Source Han Sans&quot;, sans-serif"/>
                        </a:rPr>
                        <a:t>10分</a:t>
                      </a:r>
                      <a:endParaRPr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38100">
                      <a:solidFill>
                        <a:srgbClr val="FBC43E">
                          <a:alpha val="100000"/>
                        </a:srgbClr>
                      </a:solidFill>
                    </a:lnL>
                    <a:lnR w="38100">
                      <a:solidFill>
                        <a:srgbClr val="FBC43E">
                          <a:alpha val="100000"/>
                        </a:srgbClr>
                      </a:solidFill>
                    </a:lnR>
                    <a:lnT w="38100">
                      <a:solidFill>
                        <a:srgbClr val="FBC43E">
                          <a:alpha val="100000"/>
                        </a:srgbClr>
                      </a:solidFill>
                    </a:lnT>
                    <a:lnB w="38100">
                      <a:solidFill>
                        <a:srgbClr val="FBC43E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763334" y="5626327"/>
            <a:ext cx="10665333" cy="731341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945884" y="5776098"/>
            <a:ext cx="10398700" cy="431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作品实现全面覆盖赛道八大核心要求，在国产算力集成、智能体能力、AIGC生成与开源质量等维度均达到高标准交付，满分200分全覆盖，系统具备极高的可运行性与开源规范性。</a:t>
            </a:r>
            <a:endParaRPr lang="en-US" sz="1100"/>
          </a:p>
        </p:txBody>
      </p:sp>
    </p:spTree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AutoShape 3"/>
          <p:cNvSpPr/>
          <p:nvPr/>
        </p:nvSpPr>
        <p:spPr>
          <a:xfrm>
            <a:off x="742765" y="571500"/>
            <a:ext cx="1618845" cy="5715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742765" y="895350"/>
            <a:ext cx="7484778" cy="279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心镜·AIGC智能体平台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742765" y="1419225"/>
            <a:ext cx="7237190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从可运行的系统Demo到校园心理健康数据基座的演进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27543" y="0"/>
            <a:ext cx="3961409" cy="2333625"/>
          </a:xfrm>
          <a:prstGeom prst="rect">
            <a:avLst/>
          </a:pr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AutoShape 7"/>
          <p:cNvSpPr/>
          <p:nvPr/>
        </p:nvSpPr>
        <p:spPr>
          <a:xfrm>
            <a:off x="0" y="2333625"/>
            <a:ext cx="12188952" cy="4524375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2344796" y="3739455"/>
            <a:ext cx="7499360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300" b="0" i="0" strike="noStrike">
                <a:ln/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ACTION ROADMAP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2133067" y="4491930"/>
            <a:ext cx="7922819" cy="10922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7200" b="1" i="0" strike="noStrike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落地保障&amp;展示</a:t>
            </a:r>
            <a:endParaRPr lang="en-US" sz="1100"/>
          </a:p>
        </p:txBody>
      </p:sp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37990" y="409575"/>
            <a:ext cx="10512971" cy="177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 dirty="0">
                <a:ln/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SYSTEM DEMO</a:t>
            </a:r>
            <a:endParaRPr lang="en-US" sz="1100" dirty="0"/>
          </a:p>
        </p:txBody>
      </p:sp>
      <p:sp>
        <p:nvSpPr>
          <p:cNvPr id="4" name="TextBox 4"/>
          <p:cNvSpPr txBox="1"/>
          <p:nvPr/>
        </p:nvSpPr>
        <p:spPr>
          <a:xfrm>
            <a:off x="837990" y="714375"/>
            <a:ext cx="10512971" cy="4572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 dirty="0" err="1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工程化保障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837990" y="1257300"/>
            <a:ext cx="1333166" cy="47625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AutoShape 6"/>
          <p:cNvSpPr/>
          <p:nvPr/>
        </p:nvSpPr>
        <p:spPr>
          <a:xfrm>
            <a:off x="837990" y="1457325"/>
            <a:ext cx="10512971" cy="72390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066533" y="1619250"/>
            <a:ext cx="11122419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系统提供从数据总览到AIGC报告生成的完整交互界面，并建立涵盖自动化测试、容器化部署与开源合规的六项工程保障，确保能跑、能部署、能复现，不是单</a:t>
            </a:r>
            <a:endParaRPr lang="en-US" sz="1100"/>
          </a:p>
          <a:p>
            <a:pPr algn="l"/>
            <a:r>
              <a:rPr sz="11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点技术Demo而是可交付的完整系统。</a:t>
            </a: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37990" y="2371725"/>
            <a:ext cx="5066033" cy="1985962"/>
          </a:xfrm>
          <a:prstGeom prst="roundRect">
            <a:avLst>
              <a:gd name="adj" fmla="val 1767"/>
            </a:avLst>
          </a:prstGeom>
          <a:solidFill>
            <a:srgbClr val="F3F3F3">
              <a:alpha val="100000"/>
            </a:srgbClr>
          </a:solidFill>
          <a:ln w="9525">
            <a:solidFill>
              <a:srgbClr val="D8D8D8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AutoShape 9"/>
          <p:cNvSpPr/>
          <p:nvPr/>
        </p:nvSpPr>
        <p:spPr>
          <a:xfrm>
            <a:off x="1057011" y="2571750"/>
            <a:ext cx="457086" cy="457200"/>
          </a:xfrm>
          <a:prstGeom prst="roundRect">
            <a:avLst>
              <a:gd name="adj" fmla="val 25006"/>
            </a:avLst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AutoShape 10"/>
          <p:cNvSpPr/>
          <p:nvPr/>
        </p:nvSpPr>
        <p:spPr>
          <a:xfrm>
            <a:off x="1171208" y="2686050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10000"/>
                </a:moveTo>
                <a:lnTo>
                  <a:pt x="0" y="5263"/>
                </a:lnTo>
                <a:lnTo>
                  <a:pt x="1111" y="5263"/>
                </a:lnTo>
                <a:lnTo>
                  <a:pt x="1111" y="10000"/>
                </a:lnTo>
                <a:lnTo>
                  <a:pt x="0" y="10000"/>
                </a:lnTo>
                <a:moveTo>
                  <a:pt x="8887" y="10000"/>
                </a:moveTo>
                <a:lnTo>
                  <a:pt x="8887" y="3158"/>
                </a:lnTo>
                <a:lnTo>
                  <a:pt x="9998" y="3158"/>
                </a:lnTo>
                <a:lnTo>
                  <a:pt x="9998" y="10000"/>
                </a:lnTo>
                <a:lnTo>
                  <a:pt x="8887" y="10000"/>
                </a:lnTo>
                <a:moveTo>
                  <a:pt x="4444" y="10000"/>
                </a:moveTo>
                <a:lnTo>
                  <a:pt x="4444" y="0"/>
                </a:lnTo>
                <a:lnTo>
                  <a:pt x="5554" y="0"/>
                </a:lnTo>
                <a:lnTo>
                  <a:pt x="5554" y="10000"/>
                </a:lnTo>
              </a:path>
            </a:pathLst>
          </a:cu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1666458" y="2600325"/>
            <a:ext cx="4018545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数据与视频分析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666458" y="2952750"/>
            <a:ext cx="4037590" cy="850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solidFill>
                  <a:srgbClr val="333333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提供情绪趋势折线图与预警分布面板，支持拖拽上传视频并实时返回双模态分析结果。可视化界面直观呈现多维度心理状态变化轨迹，助力精准识别潜在风险。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84928" y="2371725"/>
            <a:ext cx="5066033" cy="1985962"/>
          </a:xfrm>
          <a:prstGeom prst="roundRect">
            <a:avLst>
              <a:gd name="adj" fmla="val 1767"/>
            </a:avLst>
          </a:prstGeom>
          <a:solidFill>
            <a:srgbClr val="F3F3F3">
              <a:alpha val="100000"/>
            </a:srgbClr>
          </a:solidFill>
          <a:ln w="9525">
            <a:solidFill>
              <a:srgbClr val="D8D8D8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AutoShape 14"/>
          <p:cNvSpPr/>
          <p:nvPr/>
        </p:nvSpPr>
        <p:spPr>
          <a:xfrm>
            <a:off x="6503948" y="2571750"/>
            <a:ext cx="457086" cy="457200"/>
          </a:xfrm>
          <a:prstGeom prst="roundRect">
            <a:avLst>
              <a:gd name="adj" fmla="val 25006"/>
            </a:avLst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AutoShape 15"/>
          <p:cNvSpPr/>
          <p:nvPr/>
        </p:nvSpPr>
        <p:spPr>
          <a:xfrm>
            <a:off x="6618145" y="2686050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2000" y="2000"/>
                </a:moveTo>
                <a:lnTo>
                  <a:pt x="2000" y="8000"/>
                </a:lnTo>
                <a:lnTo>
                  <a:pt x="7998" y="8000"/>
                </a:lnTo>
                <a:lnTo>
                  <a:pt x="7998" y="2000"/>
                </a:lnTo>
                <a:lnTo>
                  <a:pt x="2000" y="2000"/>
                </a:lnTo>
                <a:moveTo>
                  <a:pt x="5999" y="10000"/>
                </a:moveTo>
                <a:lnTo>
                  <a:pt x="5999" y="9000"/>
                </a:lnTo>
                <a:lnTo>
                  <a:pt x="3999" y="9000"/>
                </a:lnTo>
                <a:lnTo>
                  <a:pt x="3999" y="10000"/>
                </a:lnTo>
                <a:lnTo>
                  <a:pt x="2999" y="10000"/>
                </a:lnTo>
                <a:lnTo>
                  <a:pt x="2999" y="9000"/>
                </a:lnTo>
                <a:lnTo>
                  <a:pt x="1500" y="9000"/>
                </a:lnTo>
                <a:cubicBezTo>
                  <a:pt x="1360" y="9000"/>
                  <a:pt x="1241" y="8951"/>
                  <a:pt x="1145" y="8855"/>
                </a:cubicBezTo>
                <a:cubicBezTo>
                  <a:pt x="1048" y="8758"/>
                  <a:pt x="1000" y="8640"/>
                  <a:pt x="1000" y="8500"/>
                </a:cubicBezTo>
                <a:lnTo>
                  <a:pt x="1000" y="7000"/>
                </a:lnTo>
                <a:lnTo>
                  <a:pt x="0" y="7000"/>
                </a:lnTo>
                <a:lnTo>
                  <a:pt x="0" y="6000"/>
                </a:lnTo>
                <a:lnTo>
                  <a:pt x="1000" y="6000"/>
                </a:lnTo>
                <a:lnTo>
                  <a:pt x="1000" y="4000"/>
                </a:lnTo>
                <a:lnTo>
                  <a:pt x="0" y="4000"/>
                </a:lnTo>
                <a:lnTo>
                  <a:pt x="0" y="3000"/>
                </a:lnTo>
                <a:lnTo>
                  <a:pt x="1000" y="3000"/>
                </a:lnTo>
                <a:lnTo>
                  <a:pt x="1000" y="1500"/>
                </a:lnTo>
                <a:cubicBezTo>
                  <a:pt x="1000" y="1360"/>
                  <a:pt x="1048" y="1241"/>
                  <a:pt x="1145" y="1145"/>
                </a:cubicBezTo>
                <a:cubicBezTo>
                  <a:pt x="1241" y="1048"/>
                  <a:pt x="1360" y="1000"/>
                  <a:pt x="1500" y="1000"/>
                </a:cubicBezTo>
                <a:lnTo>
                  <a:pt x="2999" y="1000"/>
                </a:lnTo>
                <a:lnTo>
                  <a:pt x="2999" y="0"/>
                </a:lnTo>
                <a:lnTo>
                  <a:pt x="3999" y="0"/>
                </a:lnTo>
                <a:lnTo>
                  <a:pt x="3999" y="1000"/>
                </a:lnTo>
                <a:lnTo>
                  <a:pt x="5999" y="1000"/>
                </a:lnTo>
                <a:lnTo>
                  <a:pt x="5999" y="0"/>
                </a:lnTo>
                <a:lnTo>
                  <a:pt x="6999" y="0"/>
                </a:lnTo>
                <a:lnTo>
                  <a:pt x="6999" y="1000"/>
                </a:lnTo>
                <a:lnTo>
                  <a:pt x="8498" y="1000"/>
                </a:lnTo>
                <a:cubicBezTo>
                  <a:pt x="8638" y="1000"/>
                  <a:pt x="8756" y="1048"/>
                  <a:pt x="8853" y="1145"/>
                </a:cubicBezTo>
                <a:cubicBezTo>
                  <a:pt x="8949" y="1241"/>
                  <a:pt x="8998" y="1360"/>
                  <a:pt x="8998" y="1500"/>
                </a:cubicBezTo>
                <a:lnTo>
                  <a:pt x="8998" y="3000"/>
                </a:lnTo>
                <a:lnTo>
                  <a:pt x="9998" y="3000"/>
                </a:lnTo>
                <a:lnTo>
                  <a:pt x="9998" y="4000"/>
                </a:lnTo>
                <a:lnTo>
                  <a:pt x="8998" y="4000"/>
                </a:lnTo>
                <a:lnTo>
                  <a:pt x="8998" y="6000"/>
                </a:lnTo>
                <a:lnTo>
                  <a:pt x="9998" y="6000"/>
                </a:lnTo>
                <a:lnTo>
                  <a:pt x="9998" y="7000"/>
                </a:lnTo>
                <a:lnTo>
                  <a:pt x="8998" y="7000"/>
                </a:lnTo>
                <a:lnTo>
                  <a:pt x="8998" y="8500"/>
                </a:lnTo>
                <a:cubicBezTo>
                  <a:pt x="8998" y="8640"/>
                  <a:pt x="8949" y="8758"/>
                  <a:pt x="8853" y="8855"/>
                </a:cubicBezTo>
                <a:cubicBezTo>
                  <a:pt x="8756" y="8951"/>
                  <a:pt x="8638" y="9000"/>
                  <a:pt x="8498" y="9000"/>
                </a:cubicBezTo>
                <a:lnTo>
                  <a:pt x="6999" y="9000"/>
                </a:lnTo>
                <a:lnTo>
                  <a:pt x="6999" y="10000"/>
                </a:lnTo>
                <a:lnTo>
                  <a:pt x="5999" y="10000"/>
                </a:lnTo>
                <a:moveTo>
                  <a:pt x="2999" y="7000"/>
                </a:moveTo>
                <a:lnTo>
                  <a:pt x="2999" y="3000"/>
                </a:lnTo>
                <a:lnTo>
                  <a:pt x="6999" y="3000"/>
                </a:lnTo>
                <a:lnTo>
                  <a:pt x="6999" y="7000"/>
                </a:lnTo>
              </a:path>
            </a:pathLst>
          </a:cu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7113396" y="2600325"/>
            <a:ext cx="4018545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智能体与AIGC产出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113396" y="2952750"/>
            <a:ext cx="4037590" cy="635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solidFill>
                  <a:srgbClr val="333333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5智能体推理过程全透明流式展示，一键生成心理评估日报与个性化干预方案，支持回溯审查。多智能体协作机制确保生成内容的科学性与可解释性。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7990" y="4491038"/>
            <a:ext cx="5066033" cy="1985962"/>
          </a:xfrm>
          <a:prstGeom prst="roundRect">
            <a:avLst>
              <a:gd name="adj" fmla="val 1767"/>
            </a:avLst>
          </a:prstGeom>
          <a:solidFill>
            <a:srgbClr val="F3F3F3">
              <a:alpha val="100000"/>
            </a:srgbClr>
          </a:solidFill>
          <a:ln w="9525">
            <a:solidFill>
              <a:srgbClr val="D8D8D8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AutoShape 19"/>
          <p:cNvSpPr/>
          <p:nvPr/>
        </p:nvSpPr>
        <p:spPr>
          <a:xfrm>
            <a:off x="1057011" y="4691062"/>
            <a:ext cx="457086" cy="457200"/>
          </a:xfrm>
          <a:prstGeom prst="roundRect">
            <a:avLst>
              <a:gd name="adj" fmla="val 25006"/>
            </a:avLst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AutoShape 20"/>
          <p:cNvSpPr/>
          <p:nvPr/>
        </p:nvSpPr>
        <p:spPr>
          <a:xfrm>
            <a:off x="1171208" y="4805362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508" y="7583"/>
                </a:moveTo>
                <a:cubicBezTo>
                  <a:pt x="286" y="7203"/>
                  <a:pt x="117" y="6804"/>
                  <a:pt x="0" y="6384"/>
                </a:cubicBezTo>
                <a:cubicBezTo>
                  <a:pt x="256" y="6253"/>
                  <a:pt x="461" y="6064"/>
                  <a:pt x="617" y="5816"/>
                </a:cubicBezTo>
                <a:cubicBezTo>
                  <a:pt x="772" y="5568"/>
                  <a:pt x="850" y="5296"/>
                  <a:pt x="850" y="5000"/>
                </a:cubicBezTo>
                <a:cubicBezTo>
                  <a:pt x="850" y="4704"/>
                  <a:pt x="772" y="4432"/>
                  <a:pt x="617" y="4184"/>
                </a:cubicBezTo>
                <a:cubicBezTo>
                  <a:pt x="461" y="3936"/>
                  <a:pt x="256" y="3746"/>
                  <a:pt x="0" y="3616"/>
                </a:cubicBezTo>
                <a:cubicBezTo>
                  <a:pt x="242" y="2754"/>
                  <a:pt x="674" y="2007"/>
                  <a:pt x="1296" y="1374"/>
                </a:cubicBezTo>
                <a:cubicBezTo>
                  <a:pt x="1538" y="1532"/>
                  <a:pt x="1806" y="1617"/>
                  <a:pt x="2100" y="1627"/>
                </a:cubicBezTo>
                <a:cubicBezTo>
                  <a:pt x="2394" y="1637"/>
                  <a:pt x="2669" y="1568"/>
                  <a:pt x="2925" y="1420"/>
                </a:cubicBezTo>
                <a:cubicBezTo>
                  <a:pt x="3180" y="1272"/>
                  <a:pt x="3377" y="1069"/>
                  <a:pt x="3516" y="811"/>
                </a:cubicBezTo>
                <a:cubicBezTo>
                  <a:pt x="3654" y="553"/>
                  <a:pt x="3716" y="282"/>
                  <a:pt x="3703" y="0"/>
                </a:cubicBezTo>
                <a:cubicBezTo>
                  <a:pt x="4567" y="-227"/>
                  <a:pt x="5431" y="-227"/>
                  <a:pt x="6295" y="0"/>
                </a:cubicBezTo>
                <a:cubicBezTo>
                  <a:pt x="6281" y="282"/>
                  <a:pt x="6344" y="553"/>
                  <a:pt x="6482" y="811"/>
                </a:cubicBezTo>
                <a:cubicBezTo>
                  <a:pt x="6620" y="1069"/>
                  <a:pt x="6817" y="1272"/>
                  <a:pt x="7073" y="1420"/>
                </a:cubicBezTo>
                <a:cubicBezTo>
                  <a:pt x="7329" y="1568"/>
                  <a:pt x="7604" y="1637"/>
                  <a:pt x="7898" y="1627"/>
                </a:cubicBezTo>
                <a:cubicBezTo>
                  <a:pt x="8192" y="1617"/>
                  <a:pt x="8460" y="1532"/>
                  <a:pt x="8702" y="1374"/>
                </a:cubicBezTo>
                <a:cubicBezTo>
                  <a:pt x="9006" y="1690"/>
                  <a:pt x="9268" y="2038"/>
                  <a:pt x="9490" y="2417"/>
                </a:cubicBezTo>
                <a:cubicBezTo>
                  <a:pt x="9711" y="2796"/>
                  <a:pt x="9880" y="3196"/>
                  <a:pt x="9998" y="3616"/>
                </a:cubicBezTo>
                <a:cubicBezTo>
                  <a:pt x="9742" y="3746"/>
                  <a:pt x="9536" y="3936"/>
                  <a:pt x="9381" y="4184"/>
                </a:cubicBezTo>
                <a:cubicBezTo>
                  <a:pt x="9225" y="4432"/>
                  <a:pt x="9148" y="4704"/>
                  <a:pt x="9148" y="5000"/>
                </a:cubicBezTo>
                <a:cubicBezTo>
                  <a:pt x="9148" y="5296"/>
                  <a:pt x="9225" y="5568"/>
                  <a:pt x="9381" y="5816"/>
                </a:cubicBezTo>
                <a:cubicBezTo>
                  <a:pt x="9536" y="6064"/>
                  <a:pt x="9742" y="6253"/>
                  <a:pt x="9998" y="6384"/>
                </a:cubicBezTo>
                <a:cubicBezTo>
                  <a:pt x="9756" y="7245"/>
                  <a:pt x="9324" y="7992"/>
                  <a:pt x="8702" y="8626"/>
                </a:cubicBezTo>
                <a:cubicBezTo>
                  <a:pt x="8460" y="8467"/>
                  <a:pt x="8192" y="8383"/>
                  <a:pt x="7898" y="8373"/>
                </a:cubicBezTo>
                <a:cubicBezTo>
                  <a:pt x="7604" y="8362"/>
                  <a:pt x="7329" y="8431"/>
                  <a:pt x="7073" y="8580"/>
                </a:cubicBezTo>
                <a:cubicBezTo>
                  <a:pt x="6817" y="8728"/>
                  <a:pt x="6620" y="8931"/>
                  <a:pt x="6482" y="9189"/>
                </a:cubicBezTo>
                <a:cubicBezTo>
                  <a:pt x="6344" y="9447"/>
                  <a:pt x="6281" y="9717"/>
                  <a:pt x="6295" y="10000"/>
                </a:cubicBezTo>
                <a:cubicBezTo>
                  <a:pt x="5431" y="10227"/>
                  <a:pt x="4567" y="10227"/>
                  <a:pt x="3703" y="10000"/>
                </a:cubicBezTo>
                <a:cubicBezTo>
                  <a:pt x="3716" y="9717"/>
                  <a:pt x="3654" y="9447"/>
                  <a:pt x="3516" y="9189"/>
                </a:cubicBezTo>
                <a:cubicBezTo>
                  <a:pt x="3377" y="8931"/>
                  <a:pt x="3180" y="8728"/>
                  <a:pt x="2925" y="8580"/>
                </a:cubicBezTo>
                <a:cubicBezTo>
                  <a:pt x="2669" y="8431"/>
                  <a:pt x="2394" y="8362"/>
                  <a:pt x="2100" y="8373"/>
                </a:cubicBezTo>
                <a:cubicBezTo>
                  <a:pt x="1806" y="8383"/>
                  <a:pt x="1538" y="8467"/>
                  <a:pt x="1296" y="8626"/>
                </a:cubicBezTo>
                <a:cubicBezTo>
                  <a:pt x="992" y="8309"/>
                  <a:pt x="729" y="7961"/>
                  <a:pt x="508" y="7583"/>
                </a:cubicBezTo>
                <a:moveTo>
                  <a:pt x="3443" y="7686"/>
                </a:moveTo>
                <a:cubicBezTo>
                  <a:pt x="3719" y="7844"/>
                  <a:pt x="3958" y="8047"/>
                  <a:pt x="4159" y="8295"/>
                </a:cubicBezTo>
                <a:cubicBezTo>
                  <a:pt x="4359" y="8543"/>
                  <a:pt x="4511" y="8815"/>
                  <a:pt x="4615" y="9112"/>
                </a:cubicBezTo>
                <a:cubicBezTo>
                  <a:pt x="4871" y="9139"/>
                  <a:pt x="5127" y="9139"/>
                  <a:pt x="5383" y="9112"/>
                </a:cubicBezTo>
                <a:cubicBezTo>
                  <a:pt x="5486" y="8815"/>
                  <a:pt x="5636" y="8543"/>
                  <a:pt x="5834" y="8295"/>
                </a:cubicBezTo>
                <a:cubicBezTo>
                  <a:pt x="6030" y="8047"/>
                  <a:pt x="6269" y="7843"/>
                  <a:pt x="6550" y="7681"/>
                </a:cubicBezTo>
                <a:cubicBezTo>
                  <a:pt x="6830" y="7519"/>
                  <a:pt x="7129" y="7414"/>
                  <a:pt x="7447" y="7366"/>
                </a:cubicBezTo>
                <a:cubicBezTo>
                  <a:pt x="7765" y="7317"/>
                  <a:pt x="8076" y="7327"/>
                  <a:pt x="8380" y="7397"/>
                </a:cubicBezTo>
                <a:cubicBezTo>
                  <a:pt x="8532" y="7183"/>
                  <a:pt x="8663" y="6959"/>
                  <a:pt x="8774" y="6725"/>
                </a:cubicBezTo>
                <a:cubicBezTo>
                  <a:pt x="8560" y="6491"/>
                  <a:pt x="8396" y="6226"/>
                  <a:pt x="8282" y="5930"/>
                </a:cubicBezTo>
                <a:cubicBezTo>
                  <a:pt x="8167" y="5634"/>
                  <a:pt x="8110" y="5324"/>
                  <a:pt x="8110" y="5000"/>
                </a:cubicBezTo>
                <a:cubicBezTo>
                  <a:pt x="8110" y="4676"/>
                  <a:pt x="8167" y="4366"/>
                  <a:pt x="8282" y="4070"/>
                </a:cubicBezTo>
                <a:cubicBezTo>
                  <a:pt x="8396" y="3774"/>
                  <a:pt x="8560" y="3509"/>
                  <a:pt x="8774" y="3275"/>
                </a:cubicBezTo>
                <a:cubicBezTo>
                  <a:pt x="8718" y="3157"/>
                  <a:pt x="8658" y="3044"/>
                  <a:pt x="8593" y="2934"/>
                </a:cubicBezTo>
                <a:cubicBezTo>
                  <a:pt x="8527" y="2824"/>
                  <a:pt x="8456" y="2713"/>
                  <a:pt x="8380" y="2603"/>
                </a:cubicBezTo>
                <a:cubicBezTo>
                  <a:pt x="8076" y="2672"/>
                  <a:pt x="7765" y="2682"/>
                  <a:pt x="7447" y="2634"/>
                </a:cubicBezTo>
                <a:cubicBezTo>
                  <a:pt x="7129" y="2586"/>
                  <a:pt x="6831" y="2481"/>
                  <a:pt x="6555" y="2319"/>
                </a:cubicBezTo>
                <a:cubicBezTo>
                  <a:pt x="6278" y="2157"/>
                  <a:pt x="6039" y="1952"/>
                  <a:pt x="5839" y="1705"/>
                </a:cubicBezTo>
                <a:cubicBezTo>
                  <a:pt x="5638" y="1457"/>
                  <a:pt x="5486" y="1184"/>
                  <a:pt x="5383" y="888"/>
                </a:cubicBezTo>
                <a:cubicBezTo>
                  <a:pt x="5127" y="860"/>
                  <a:pt x="4871" y="860"/>
                  <a:pt x="4615" y="888"/>
                </a:cubicBezTo>
                <a:cubicBezTo>
                  <a:pt x="4511" y="1184"/>
                  <a:pt x="4361" y="1457"/>
                  <a:pt x="4164" y="1705"/>
                </a:cubicBezTo>
                <a:cubicBezTo>
                  <a:pt x="3967" y="1952"/>
                  <a:pt x="3727" y="2157"/>
                  <a:pt x="3443" y="2319"/>
                </a:cubicBezTo>
                <a:cubicBezTo>
                  <a:pt x="3159" y="2481"/>
                  <a:pt x="2860" y="2586"/>
                  <a:pt x="2546" y="2634"/>
                </a:cubicBezTo>
                <a:cubicBezTo>
                  <a:pt x="2231" y="2682"/>
                  <a:pt x="1922" y="2672"/>
                  <a:pt x="1618" y="2603"/>
                </a:cubicBezTo>
                <a:cubicBezTo>
                  <a:pt x="1466" y="2817"/>
                  <a:pt x="1334" y="3041"/>
                  <a:pt x="1224" y="3275"/>
                </a:cubicBezTo>
                <a:cubicBezTo>
                  <a:pt x="1438" y="3509"/>
                  <a:pt x="1602" y="3774"/>
                  <a:pt x="1716" y="4070"/>
                </a:cubicBezTo>
                <a:cubicBezTo>
                  <a:pt x="1830" y="4366"/>
                  <a:pt x="1888" y="4676"/>
                  <a:pt x="1888" y="5000"/>
                </a:cubicBezTo>
                <a:cubicBezTo>
                  <a:pt x="1888" y="5324"/>
                  <a:pt x="1830" y="5634"/>
                  <a:pt x="1716" y="5930"/>
                </a:cubicBezTo>
                <a:cubicBezTo>
                  <a:pt x="1602" y="6226"/>
                  <a:pt x="1438" y="6491"/>
                  <a:pt x="1224" y="6725"/>
                </a:cubicBezTo>
                <a:cubicBezTo>
                  <a:pt x="1279" y="6842"/>
                  <a:pt x="1339" y="6956"/>
                  <a:pt x="1405" y="7066"/>
                </a:cubicBezTo>
                <a:cubicBezTo>
                  <a:pt x="1471" y="7176"/>
                  <a:pt x="1542" y="7286"/>
                  <a:pt x="1618" y="7397"/>
                </a:cubicBezTo>
                <a:cubicBezTo>
                  <a:pt x="1922" y="7327"/>
                  <a:pt x="2233" y="7317"/>
                  <a:pt x="2551" y="7366"/>
                </a:cubicBezTo>
                <a:cubicBezTo>
                  <a:pt x="2869" y="7414"/>
                  <a:pt x="3166" y="7520"/>
                  <a:pt x="3443" y="7686"/>
                </a:cubicBezTo>
                <a:moveTo>
                  <a:pt x="4999" y="6550"/>
                </a:moveTo>
                <a:cubicBezTo>
                  <a:pt x="4715" y="6550"/>
                  <a:pt x="4454" y="6481"/>
                  <a:pt x="4216" y="6343"/>
                </a:cubicBezTo>
                <a:cubicBezTo>
                  <a:pt x="3977" y="6205"/>
                  <a:pt x="3789" y="6017"/>
                  <a:pt x="3651" y="5780"/>
                </a:cubicBezTo>
                <a:cubicBezTo>
                  <a:pt x="3512" y="5542"/>
                  <a:pt x="3443" y="5282"/>
                  <a:pt x="3443" y="5000"/>
                </a:cubicBezTo>
                <a:cubicBezTo>
                  <a:pt x="3443" y="4717"/>
                  <a:pt x="3512" y="4457"/>
                  <a:pt x="3651" y="4220"/>
                </a:cubicBezTo>
                <a:cubicBezTo>
                  <a:pt x="3789" y="3982"/>
                  <a:pt x="3977" y="3795"/>
                  <a:pt x="4216" y="3657"/>
                </a:cubicBezTo>
                <a:cubicBezTo>
                  <a:pt x="4454" y="3519"/>
                  <a:pt x="4715" y="3450"/>
                  <a:pt x="4999" y="3450"/>
                </a:cubicBezTo>
                <a:cubicBezTo>
                  <a:pt x="5282" y="3450"/>
                  <a:pt x="5543" y="3519"/>
                  <a:pt x="5782" y="3657"/>
                </a:cubicBezTo>
                <a:cubicBezTo>
                  <a:pt x="6020" y="3795"/>
                  <a:pt x="6209" y="3982"/>
                  <a:pt x="6347" y="4220"/>
                </a:cubicBezTo>
                <a:cubicBezTo>
                  <a:pt x="6485" y="4457"/>
                  <a:pt x="6555" y="4717"/>
                  <a:pt x="6555" y="5000"/>
                </a:cubicBezTo>
                <a:cubicBezTo>
                  <a:pt x="6555" y="5282"/>
                  <a:pt x="6485" y="5542"/>
                  <a:pt x="6347" y="5780"/>
                </a:cubicBezTo>
                <a:cubicBezTo>
                  <a:pt x="6209" y="6017"/>
                  <a:pt x="6020" y="6205"/>
                  <a:pt x="5782" y="6343"/>
                </a:cubicBezTo>
                <a:cubicBezTo>
                  <a:pt x="5543" y="6481"/>
                  <a:pt x="5282" y="6550"/>
                  <a:pt x="4999" y="6550"/>
                </a:cubicBezTo>
                <a:moveTo>
                  <a:pt x="4999" y="5517"/>
                </a:moveTo>
                <a:cubicBezTo>
                  <a:pt x="5144" y="5517"/>
                  <a:pt x="5267" y="5467"/>
                  <a:pt x="5367" y="5367"/>
                </a:cubicBezTo>
                <a:cubicBezTo>
                  <a:pt x="5467" y="5267"/>
                  <a:pt x="5518" y="5144"/>
                  <a:pt x="5518" y="5000"/>
                </a:cubicBezTo>
                <a:cubicBezTo>
                  <a:pt x="5518" y="4855"/>
                  <a:pt x="5467" y="4733"/>
                  <a:pt x="5367" y="4633"/>
                </a:cubicBezTo>
                <a:cubicBezTo>
                  <a:pt x="5267" y="4533"/>
                  <a:pt x="5144" y="4483"/>
                  <a:pt x="4999" y="4483"/>
                </a:cubicBezTo>
                <a:cubicBezTo>
                  <a:pt x="4853" y="4483"/>
                  <a:pt x="4731" y="4533"/>
                  <a:pt x="4631" y="4633"/>
                </a:cubicBezTo>
                <a:cubicBezTo>
                  <a:pt x="4530" y="4733"/>
                  <a:pt x="4480" y="4855"/>
                  <a:pt x="4480" y="5000"/>
                </a:cubicBezTo>
                <a:cubicBezTo>
                  <a:pt x="4480" y="5144"/>
                  <a:pt x="4530" y="5267"/>
                  <a:pt x="4631" y="5367"/>
                </a:cubicBezTo>
                <a:cubicBezTo>
                  <a:pt x="4731" y="5467"/>
                  <a:pt x="4853" y="5517"/>
                  <a:pt x="4999" y="5517"/>
                </a:cubicBezTo>
              </a:path>
            </a:pathLst>
          </a:cu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1666458" y="4719638"/>
            <a:ext cx="4018545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测试与部署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666458" y="5072062"/>
            <a:ext cx="4053064" cy="635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 dirty="0">
                <a:solidFill>
                  <a:srgbClr val="333333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26项单元测试100%通过，提供Docker一键部署方案与本地/</a:t>
            </a:r>
            <a:r>
              <a:rPr lang="en-US" sz="1400" b="0" i="0" strike="noStrike" dirty="0" err="1">
                <a:solidFill>
                  <a:srgbClr val="333333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云端三种模式部署指南。完善的CI</a:t>
            </a:r>
            <a:r>
              <a:rPr lang="en-US" sz="1400" b="0" i="0" strike="noStrike" dirty="0">
                <a:solidFill>
                  <a:srgbClr val="333333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/</a:t>
            </a:r>
            <a:r>
              <a:rPr lang="en-US" sz="1400" b="0" i="0" strike="noStrike" dirty="0" err="1">
                <a:solidFill>
                  <a:srgbClr val="333333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CD流程保障代码质量，降低运维复杂度与部署</a:t>
            </a:r>
            <a:r>
              <a:rPr lang="zh-CN" altLang="en-US" sz="1400" dirty="0">
                <a:solidFill>
                  <a:srgbClr val="333333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门</a:t>
            </a:r>
            <a:r>
              <a:rPr lang="en-US" sz="1400" b="0" i="0" strike="noStrike" dirty="0">
                <a:solidFill>
                  <a:srgbClr val="333333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槛。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6284928" y="4491038"/>
            <a:ext cx="5066033" cy="1985962"/>
          </a:xfrm>
          <a:prstGeom prst="roundRect">
            <a:avLst>
              <a:gd name="adj" fmla="val 1767"/>
            </a:avLst>
          </a:prstGeom>
          <a:solidFill>
            <a:srgbClr val="F3F3F3">
              <a:alpha val="100000"/>
            </a:srgbClr>
          </a:solidFill>
          <a:ln w="9525">
            <a:solidFill>
              <a:srgbClr val="D8D8D8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AutoShape 24"/>
          <p:cNvSpPr/>
          <p:nvPr/>
        </p:nvSpPr>
        <p:spPr>
          <a:xfrm>
            <a:off x="6503948" y="4691062"/>
            <a:ext cx="457086" cy="457200"/>
          </a:xfrm>
          <a:prstGeom prst="roundRect">
            <a:avLst>
              <a:gd name="adj" fmla="val 25006"/>
            </a:avLst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AutoShape 25"/>
          <p:cNvSpPr/>
          <p:nvPr/>
        </p:nvSpPr>
        <p:spPr>
          <a:xfrm>
            <a:off x="6618145" y="4805362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7640" y="1856"/>
                </a:moveTo>
                <a:lnTo>
                  <a:pt x="9998" y="5000"/>
                </a:lnTo>
                <a:lnTo>
                  <a:pt x="7640" y="8144"/>
                </a:lnTo>
                <a:lnTo>
                  <a:pt x="7049" y="7356"/>
                </a:lnTo>
                <a:lnTo>
                  <a:pt x="8823" y="5000"/>
                </a:lnTo>
                <a:lnTo>
                  <a:pt x="7049" y="2644"/>
                </a:lnTo>
                <a:lnTo>
                  <a:pt x="7640" y="1856"/>
                </a:lnTo>
                <a:moveTo>
                  <a:pt x="2949" y="2644"/>
                </a:moveTo>
                <a:lnTo>
                  <a:pt x="1175" y="5000"/>
                </a:lnTo>
                <a:lnTo>
                  <a:pt x="2949" y="7356"/>
                </a:lnTo>
                <a:lnTo>
                  <a:pt x="2358" y="8144"/>
                </a:lnTo>
                <a:lnTo>
                  <a:pt x="0" y="5000"/>
                </a:lnTo>
                <a:lnTo>
                  <a:pt x="2358" y="1856"/>
                </a:lnTo>
                <a:lnTo>
                  <a:pt x="2949" y="2644"/>
                </a:lnTo>
                <a:moveTo>
                  <a:pt x="6807" y="0"/>
                </a:moveTo>
                <a:lnTo>
                  <a:pt x="4074" y="10000"/>
                </a:lnTo>
                <a:lnTo>
                  <a:pt x="3191" y="10000"/>
                </a:lnTo>
                <a:lnTo>
                  <a:pt x="5924" y="0"/>
                </a:lnTo>
              </a:path>
            </a:pathLst>
          </a:cu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7113396" y="4719638"/>
            <a:ext cx="4018545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接口与合规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7113396" y="5072062"/>
            <a:ext cx="4052618" cy="850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 dirty="0">
                <a:solidFill>
                  <a:srgbClr val="333333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开放90+端点中文Swagger交互式文档，遵循Apache 2.0协议并在GitLink公开仓库。标准化接口设计便于第三方系统集成，开源合规保</a:t>
            </a:r>
            <a:endParaRPr lang="en-US" sz="1100" dirty="0"/>
          </a:p>
          <a:p>
            <a:pPr algn="l"/>
            <a:r>
              <a:rPr sz="1400" b="0" i="0" strike="noStrike" dirty="0" err="1">
                <a:solidFill>
                  <a:srgbClr val="333333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障知识产权安全</a:t>
            </a:r>
            <a:r>
              <a:rPr sz="1400" b="0" i="0" strike="noStrike" dirty="0">
                <a:solidFill>
                  <a:srgbClr val="333333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</a:t>
            </a:r>
            <a:endParaRPr dirty="0"/>
          </a:p>
        </p:txBody>
      </p:sp>
    </p:spTree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C2E41-563C-AF34-0B2C-B97FEB7E8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E12F3DE-2F96-2F7A-7A23-254EF694A68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4AC33F6-A0C1-CD98-C336-F29174E62CD0}"/>
              </a:ext>
            </a:extLst>
          </p:cNvPr>
          <p:cNvSpPr txBox="1"/>
          <p:nvPr/>
        </p:nvSpPr>
        <p:spPr>
          <a:xfrm>
            <a:off x="837990" y="409575"/>
            <a:ext cx="10512971" cy="177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/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SYSTEM DEMO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547DC8A-4C66-5282-ED34-C432860ED6DD}"/>
              </a:ext>
            </a:extLst>
          </p:cNvPr>
          <p:cNvSpPr txBox="1"/>
          <p:nvPr/>
        </p:nvSpPr>
        <p:spPr>
          <a:xfrm>
            <a:off x="837990" y="714375"/>
            <a:ext cx="10512971" cy="4572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 err="1">
                <a:ln/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Source Han Sans"/>
                <a:ea typeface="Source Han Sans"/>
                <a:cs typeface="Source Han Sans"/>
              </a:rPr>
              <a:t>系统演示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92539818-A1FF-68F7-F332-A2398F5DCD35}"/>
              </a:ext>
            </a:extLst>
          </p:cNvPr>
          <p:cNvSpPr/>
          <p:nvPr/>
        </p:nvSpPr>
        <p:spPr>
          <a:xfrm>
            <a:off x="837990" y="1257300"/>
            <a:ext cx="1333166" cy="47625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4313796E-457E-44EB-0C07-AEB4EBBC831F}"/>
              </a:ext>
            </a:extLst>
          </p:cNvPr>
          <p:cNvSpPr/>
          <p:nvPr/>
        </p:nvSpPr>
        <p:spPr>
          <a:xfrm>
            <a:off x="837990" y="1457325"/>
            <a:ext cx="10512971" cy="72390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9D4C274-4629-3A61-AF01-690CDE49CDB1}"/>
              </a:ext>
            </a:extLst>
          </p:cNvPr>
          <p:cNvSpPr txBox="1"/>
          <p:nvPr/>
        </p:nvSpPr>
        <p:spPr>
          <a:xfrm>
            <a:off x="1066533" y="1619250"/>
            <a:ext cx="11122419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/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Source Han Sans"/>
                <a:ea typeface="Source Han Sans"/>
                <a:cs typeface="Source Han Sans"/>
              </a:rPr>
              <a:t>系统提供从数据总览到AIGC报告生成的完整交互界面，并建立涵盖自动化测试、容器化部署与开源合规的六项工程保障，确保能跑、能部署、能复现，不是单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/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Source Han Sans"/>
                <a:ea typeface="Source Han Sans"/>
                <a:cs typeface="Source Han Sans"/>
              </a:rPr>
              <a:t>点技术Demo而是可交付的完整系统。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A23483DC-43FC-1544-0488-7A2705DE9CB2}"/>
              </a:ext>
            </a:extLst>
          </p:cNvPr>
          <p:cNvSpPr/>
          <p:nvPr/>
        </p:nvSpPr>
        <p:spPr>
          <a:xfrm>
            <a:off x="1057011" y="2571750"/>
            <a:ext cx="457086" cy="457200"/>
          </a:xfrm>
          <a:prstGeom prst="roundRect">
            <a:avLst>
              <a:gd name="adj" fmla="val 25006"/>
            </a:avLst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DC72CD65-F73D-4F1C-46B3-3E938B36E6F4}"/>
              </a:ext>
            </a:extLst>
          </p:cNvPr>
          <p:cNvSpPr/>
          <p:nvPr/>
        </p:nvSpPr>
        <p:spPr>
          <a:xfrm>
            <a:off x="1171208" y="2686050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10000"/>
                </a:moveTo>
                <a:lnTo>
                  <a:pt x="0" y="5263"/>
                </a:lnTo>
                <a:lnTo>
                  <a:pt x="1111" y="5263"/>
                </a:lnTo>
                <a:lnTo>
                  <a:pt x="1111" y="10000"/>
                </a:lnTo>
                <a:lnTo>
                  <a:pt x="0" y="10000"/>
                </a:lnTo>
                <a:moveTo>
                  <a:pt x="8887" y="10000"/>
                </a:moveTo>
                <a:lnTo>
                  <a:pt x="8887" y="3158"/>
                </a:lnTo>
                <a:lnTo>
                  <a:pt x="9998" y="3158"/>
                </a:lnTo>
                <a:lnTo>
                  <a:pt x="9998" y="10000"/>
                </a:lnTo>
                <a:lnTo>
                  <a:pt x="8887" y="10000"/>
                </a:lnTo>
                <a:moveTo>
                  <a:pt x="4444" y="10000"/>
                </a:moveTo>
                <a:lnTo>
                  <a:pt x="4444" y="0"/>
                </a:lnTo>
                <a:lnTo>
                  <a:pt x="5554" y="0"/>
                </a:lnTo>
                <a:lnTo>
                  <a:pt x="5554" y="10000"/>
                </a:lnTo>
              </a:path>
            </a:pathLst>
          </a:cu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EFE5FD16-ADC5-19F4-F917-A20E54BBAEAE}"/>
              </a:ext>
            </a:extLst>
          </p:cNvPr>
          <p:cNvSpPr/>
          <p:nvPr/>
        </p:nvSpPr>
        <p:spPr>
          <a:xfrm>
            <a:off x="6618145" y="2686050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2000" y="2000"/>
                </a:moveTo>
                <a:lnTo>
                  <a:pt x="2000" y="8000"/>
                </a:lnTo>
                <a:lnTo>
                  <a:pt x="7998" y="8000"/>
                </a:lnTo>
                <a:lnTo>
                  <a:pt x="7998" y="2000"/>
                </a:lnTo>
                <a:lnTo>
                  <a:pt x="2000" y="2000"/>
                </a:lnTo>
                <a:moveTo>
                  <a:pt x="5999" y="10000"/>
                </a:moveTo>
                <a:lnTo>
                  <a:pt x="5999" y="9000"/>
                </a:lnTo>
                <a:lnTo>
                  <a:pt x="3999" y="9000"/>
                </a:lnTo>
                <a:lnTo>
                  <a:pt x="3999" y="10000"/>
                </a:lnTo>
                <a:lnTo>
                  <a:pt x="2999" y="10000"/>
                </a:lnTo>
                <a:lnTo>
                  <a:pt x="2999" y="9000"/>
                </a:lnTo>
                <a:lnTo>
                  <a:pt x="1500" y="9000"/>
                </a:lnTo>
                <a:cubicBezTo>
                  <a:pt x="1360" y="9000"/>
                  <a:pt x="1241" y="8951"/>
                  <a:pt x="1145" y="8855"/>
                </a:cubicBezTo>
                <a:cubicBezTo>
                  <a:pt x="1048" y="8758"/>
                  <a:pt x="1000" y="8640"/>
                  <a:pt x="1000" y="8500"/>
                </a:cubicBezTo>
                <a:lnTo>
                  <a:pt x="1000" y="7000"/>
                </a:lnTo>
                <a:lnTo>
                  <a:pt x="0" y="7000"/>
                </a:lnTo>
                <a:lnTo>
                  <a:pt x="0" y="6000"/>
                </a:lnTo>
                <a:lnTo>
                  <a:pt x="1000" y="6000"/>
                </a:lnTo>
                <a:lnTo>
                  <a:pt x="1000" y="4000"/>
                </a:lnTo>
                <a:lnTo>
                  <a:pt x="0" y="4000"/>
                </a:lnTo>
                <a:lnTo>
                  <a:pt x="0" y="3000"/>
                </a:lnTo>
                <a:lnTo>
                  <a:pt x="1000" y="3000"/>
                </a:lnTo>
                <a:lnTo>
                  <a:pt x="1000" y="1500"/>
                </a:lnTo>
                <a:cubicBezTo>
                  <a:pt x="1000" y="1360"/>
                  <a:pt x="1048" y="1241"/>
                  <a:pt x="1145" y="1145"/>
                </a:cubicBezTo>
                <a:cubicBezTo>
                  <a:pt x="1241" y="1048"/>
                  <a:pt x="1360" y="1000"/>
                  <a:pt x="1500" y="1000"/>
                </a:cubicBezTo>
                <a:lnTo>
                  <a:pt x="2999" y="1000"/>
                </a:lnTo>
                <a:lnTo>
                  <a:pt x="2999" y="0"/>
                </a:lnTo>
                <a:lnTo>
                  <a:pt x="3999" y="0"/>
                </a:lnTo>
                <a:lnTo>
                  <a:pt x="3999" y="1000"/>
                </a:lnTo>
                <a:lnTo>
                  <a:pt x="5999" y="1000"/>
                </a:lnTo>
                <a:lnTo>
                  <a:pt x="5999" y="0"/>
                </a:lnTo>
                <a:lnTo>
                  <a:pt x="6999" y="0"/>
                </a:lnTo>
                <a:lnTo>
                  <a:pt x="6999" y="1000"/>
                </a:lnTo>
                <a:lnTo>
                  <a:pt x="8498" y="1000"/>
                </a:lnTo>
                <a:cubicBezTo>
                  <a:pt x="8638" y="1000"/>
                  <a:pt x="8756" y="1048"/>
                  <a:pt x="8853" y="1145"/>
                </a:cubicBezTo>
                <a:cubicBezTo>
                  <a:pt x="8949" y="1241"/>
                  <a:pt x="8998" y="1360"/>
                  <a:pt x="8998" y="1500"/>
                </a:cubicBezTo>
                <a:lnTo>
                  <a:pt x="8998" y="3000"/>
                </a:lnTo>
                <a:lnTo>
                  <a:pt x="9998" y="3000"/>
                </a:lnTo>
                <a:lnTo>
                  <a:pt x="9998" y="4000"/>
                </a:lnTo>
                <a:lnTo>
                  <a:pt x="8998" y="4000"/>
                </a:lnTo>
                <a:lnTo>
                  <a:pt x="8998" y="6000"/>
                </a:lnTo>
                <a:lnTo>
                  <a:pt x="9998" y="6000"/>
                </a:lnTo>
                <a:lnTo>
                  <a:pt x="9998" y="7000"/>
                </a:lnTo>
                <a:lnTo>
                  <a:pt x="8998" y="7000"/>
                </a:lnTo>
                <a:lnTo>
                  <a:pt x="8998" y="8500"/>
                </a:lnTo>
                <a:cubicBezTo>
                  <a:pt x="8998" y="8640"/>
                  <a:pt x="8949" y="8758"/>
                  <a:pt x="8853" y="8855"/>
                </a:cubicBezTo>
                <a:cubicBezTo>
                  <a:pt x="8756" y="8951"/>
                  <a:pt x="8638" y="9000"/>
                  <a:pt x="8498" y="9000"/>
                </a:cubicBezTo>
                <a:lnTo>
                  <a:pt x="6999" y="9000"/>
                </a:lnTo>
                <a:lnTo>
                  <a:pt x="6999" y="10000"/>
                </a:lnTo>
                <a:lnTo>
                  <a:pt x="5999" y="10000"/>
                </a:lnTo>
                <a:moveTo>
                  <a:pt x="2999" y="7000"/>
                </a:moveTo>
                <a:lnTo>
                  <a:pt x="2999" y="3000"/>
                </a:lnTo>
                <a:lnTo>
                  <a:pt x="6999" y="3000"/>
                </a:lnTo>
                <a:lnTo>
                  <a:pt x="6999" y="7000"/>
                </a:lnTo>
              </a:path>
            </a:pathLst>
          </a:cu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29990F2E-532D-19C8-A85F-99729A2DCE57}"/>
              </a:ext>
            </a:extLst>
          </p:cNvPr>
          <p:cNvSpPr/>
          <p:nvPr/>
        </p:nvSpPr>
        <p:spPr>
          <a:xfrm>
            <a:off x="6618145" y="4805362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7640" y="1856"/>
                </a:moveTo>
                <a:lnTo>
                  <a:pt x="9998" y="5000"/>
                </a:lnTo>
                <a:lnTo>
                  <a:pt x="7640" y="8144"/>
                </a:lnTo>
                <a:lnTo>
                  <a:pt x="7049" y="7356"/>
                </a:lnTo>
                <a:lnTo>
                  <a:pt x="8823" y="5000"/>
                </a:lnTo>
                <a:lnTo>
                  <a:pt x="7049" y="2644"/>
                </a:lnTo>
                <a:lnTo>
                  <a:pt x="7640" y="1856"/>
                </a:lnTo>
                <a:moveTo>
                  <a:pt x="2949" y="2644"/>
                </a:moveTo>
                <a:lnTo>
                  <a:pt x="1175" y="5000"/>
                </a:lnTo>
                <a:lnTo>
                  <a:pt x="2949" y="7356"/>
                </a:lnTo>
                <a:lnTo>
                  <a:pt x="2358" y="8144"/>
                </a:lnTo>
                <a:lnTo>
                  <a:pt x="0" y="5000"/>
                </a:lnTo>
                <a:lnTo>
                  <a:pt x="2358" y="1856"/>
                </a:lnTo>
                <a:lnTo>
                  <a:pt x="2949" y="2644"/>
                </a:lnTo>
                <a:moveTo>
                  <a:pt x="6807" y="0"/>
                </a:moveTo>
                <a:lnTo>
                  <a:pt x="4074" y="10000"/>
                </a:lnTo>
                <a:lnTo>
                  <a:pt x="3191" y="10000"/>
                </a:lnTo>
                <a:lnTo>
                  <a:pt x="5924" y="0"/>
                </a:lnTo>
              </a:path>
            </a:pathLst>
          </a:cu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9472505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F738B-14F8-AD3A-2F8D-9580F655E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6ACDF99-E394-AD62-028B-636062B9FFF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38782CF-EADE-4711-C1DE-EA47B213CCC1}"/>
              </a:ext>
            </a:extLst>
          </p:cNvPr>
          <p:cNvSpPr/>
          <p:nvPr/>
        </p:nvSpPr>
        <p:spPr>
          <a:xfrm>
            <a:off x="742765" y="571500"/>
            <a:ext cx="1618845" cy="5715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58134D2-F605-2E9A-B91A-4780194F7836}"/>
              </a:ext>
            </a:extLst>
          </p:cNvPr>
          <p:cNvSpPr txBox="1"/>
          <p:nvPr/>
        </p:nvSpPr>
        <p:spPr>
          <a:xfrm>
            <a:off x="742765" y="895350"/>
            <a:ext cx="7484778" cy="279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心镜·AIGC智能体平台</a:t>
            </a:r>
            <a:endParaRPr lang="en-US" sz="110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9D0F135-6976-CA6C-C249-7E69FCAA5690}"/>
              </a:ext>
            </a:extLst>
          </p:cNvPr>
          <p:cNvSpPr txBox="1"/>
          <p:nvPr/>
        </p:nvSpPr>
        <p:spPr>
          <a:xfrm>
            <a:off x="742765" y="1419225"/>
            <a:ext cx="7237190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zh-CN" altLang="en-US" sz="1300" dirty="0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</a:rPr>
              <a:t>未来实施计划</a:t>
            </a:r>
            <a:endParaRPr lang="en-US" sz="1100" dirty="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158CDD79-C9BD-F9F0-64B0-C00C82168225}"/>
              </a:ext>
            </a:extLst>
          </p:cNvPr>
          <p:cNvSpPr/>
          <p:nvPr/>
        </p:nvSpPr>
        <p:spPr>
          <a:xfrm>
            <a:off x="8227543" y="0"/>
            <a:ext cx="3961409" cy="2333625"/>
          </a:xfrm>
          <a:prstGeom prst="rect">
            <a:avLst/>
          </a:pr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79110A00-D3E6-D380-C42A-3DC4C182912F}"/>
              </a:ext>
            </a:extLst>
          </p:cNvPr>
          <p:cNvSpPr/>
          <p:nvPr/>
        </p:nvSpPr>
        <p:spPr>
          <a:xfrm>
            <a:off x="0" y="2333625"/>
            <a:ext cx="12188952" cy="4524375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C555EDA-30FE-5876-7A8D-AAA0C248C73B}"/>
              </a:ext>
            </a:extLst>
          </p:cNvPr>
          <p:cNvSpPr txBox="1"/>
          <p:nvPr/>
        </p:nvSpPr>
        <p:spPr>
          <a:xfrm>
            <a:off x="2344796" y="3739455"/>
            <a:ext cx="7499360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300" b="0" i="0" strike="noStrike">
                <a:ln/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ACTION ROADMAP</a:t>
            </a:r>
            <a:endParaRPr lang="en-US" sz="110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87ABD80-7925-8024-E5E2-A60030E2726F}"/>
              </a:ext>
            </a:extLst>
          </p:cNvPr>
          <p:cNvSpPr txBox="1"/>
          <p:nvPr/>
        </p:nvSpPr>
        <p:spPr>
          <a:xfrm>
            <a:off x="2133067" y="4491930"/>
            <a:ext cx="7922819" cy="10922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zh-CN" altLang="en-US" sz="7200" b="1" dirty="0"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</a:rPr>
              <a:t>未来展望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3294100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57035" y="523875"/>
            <a:ext cx="10474880" cy="1809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ln/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INNOVATION &amp; OUTLOOK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857035" y="881062"/>
            <a:ext cx="10474880" cy="571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40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创新价值与未来展望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57035" y="1598414"/>
            <a:ext cx="1618845" cy="5715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AutoShape 6"/>
          <p:cNvSpPr/>
          <p:nvPr/>
        </p:nvSpPr>
        <p:spPr>
          <a:xfrm>
            <a:off x="857035" y="1788914"/>
            <a:ext cx="3313872" cy="2479923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104623" y="1998464"/>
            <a:ext cx="2818695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三大首次突破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1276031" y="2444204"/>
            <a:ext cx="2647288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引入VibraImage前庭振动分析对抗伪</a:t>
            </a:r>
            <a:endParaRPr lang="en-US" sz="1100"/>
          </a:p>
          <a:p>
            <a:pPr algn="l"/>
            <a:r>
              <a:rPr sz="12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装，从问卷打分升级为生理信号量化</a:t>
            </a: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276031" y="3027016"/>
            <a:ext cx="2647288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在国产C500实现14倍端到端加速，打</a:t>
            </a:r>
            <a:endParaRPr lang="en-US" sz="1100"/>
          </a:p>
          <a:p>
            <a:pPr algn="l"/>
            <a:r>
              <a:rPr sz="12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破国外GPU依赖，全链路零NVIDIA</a:t>
            </a: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276031" y="3609826"/>
            <a:ext cx="2647288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构建无感采集→双模态感知→多智能体</a:t>
            </a:r>
            <a:endParaRPr lang="en-US" sz="1100"/>
          </a:p>
          <a:p>
            <a:pPr algn="l"/>
            <a:r>
              <a:rPr sz="12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决策→AIGC服务全链路心理监测闭环</a:t>
            </a: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37540" y="1788914"/>
            <a:ext cx="3313872" cy="2479923"/>
          </a:xfrm>
          <a:prstGeom prst="rect">
            <a:avLst/>
          </a:prstGeom>
          <a:solidFill>
            <a:srgbClr val="F3F3F3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4685129" y="1998464"/>
            <a:ext cx="2818695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短期落地规划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4856536" y="2444204"/>
            <a:ext cx="2647288" cy="64948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2026年下半年启动1-2所中小学真实课</a:t>
            </a:r>
            <a:endParaRPr lang="en-US" sz="1100"/>
          </a:p>
          <a:p>
            <a:pPr algn="l"/>
            <a:r>
              <a:rPr sz="12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堂试点部署，通过一线教学反馈持续迭</a:t>
            </a:r>
            <a:endParaRPr/>
          </a:p>
          <a:p>
            <a:pPr algn="l"/>
            <a:r>
              <a:rPr sz="12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代算法与系统</a:t>
            </a: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4856536" y="3270796"/>
            <a:ext cx="2647288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建立标准化部署流程，为规模化推广奠</a:t>
            </a:r>
            <a:endParaRPr lang="en-US" sz="1100"/>
          </a:p>
          <a:p>
            <a:pPr algn="l"/>
            <a:r>
              <a:rPr sz="12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定基础</a:t>
            </a: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018045" y="1788914"/>
            <a:ext cx="3313872" cy="2479923"/>
          </a:xfrm>
          <a:prstGeom prst="rect">
            <a:avLst/>
          </a:prstGeom>
          <a:solidFill>
            <a:srgbClr val="F3F3F3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8265632" y="1998464"/>
            <a:ext cx="2818695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长期生态愿景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437041" y="2444204"/>
            <a:ext cx="2662465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 dirty="0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2027年推进多城市学校推广与开源社区</a:t>
            </a:r>
            <a:endParaRPr lang="en-US" sz="1100" dirty="0"/>
          </a:p>
          <a:p>
            <a:pPr algn="l"/>
            <a:r>
              <a:rPr sz="1200" b="0" i="0" strike="noStrike" dirty="0" err="1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建设，构建校园心理健康数据基座</a:t>
            </a:r>
            <a:endParaRPr dirty="0"/>
          </a:p>
        </p:txBody>
      </p:sp>
      <p:sp>
        <p:nvSpPr>
          <p:cNvPr id="18" name="TextBox 18"/>
          <p:cNvSpPr txBox="1"/>
          <p:nvPr/>
        </p:nvSpPr>
        <p:spPr>
          <a:xfrm>
            <a:off x="8437041" y="3027016"/>
            <a:ext cx="2647288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沉淀千万级样本数据，支撑学术研究，</a:t>
            </a:r>
            <a:endParaRPr lang="en-US" sz="1100"/>
          </a:p>
          <a:p>
            <a:pPr algn="l"/>
            <a:r>
              <a:rPr sz="1200" b="0" i="0" strike="noStrike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推动青少年心理健康领域行业标准制定</a:t>
            </a: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57035" y="4571411"/>
            <a:ext cx="10474880" cy="971550"/>
          </a:xfrm>
          <a:prstGeom prst="rect">
            <a:avLst/>
          </a:prstGeom>
          <a:solidFill>
            <a:srgbClr val="F3F3F3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1123668" y="4833693"/>
            <a:ext cx="10208247" cy="5524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 dirty="0" err="1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项目实现前庭振动校园应用、国产GPU全流水线加速等三大首次突破，并规划从真实课堂试点到构建心理健</a:t>
            </a:r>
            <a:endParaRPr lang="en-US" sz="1100" dirty="0"/>
          </a:p>
          <a:p>
            <a:pPr algn="l"/>
            <a:r>
              <a:rPr sz="1600" b="0" i="0" strike="noStrike" dirty="0" err="1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康数据基座的演进路线，让智能化心理健康服务惠及更多青少年</a:t>
            </a:r>
            <a:r>
              <a:rPr sz="1600" b="0" i="0" strike="noStrike" dirty="0">
                <a:ln/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</a:t>
            </a:r>
            <a:endParaRPr dirty="0"/>
          </a:p>
        </p:txBody>
      </p:sp>
    </p:spTree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88952" cy="962025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2546407" y="352425"/>
            <a:ext cx="7096136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300" b="1" i="0" strike="noStrike">
                <a:ln/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THANK YOU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962025"/>
            <a:ext cx="12188952" cy="58959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AutoShape 6"/>
          <p:cNvSpPr/>
          <p:nvPr/>
        </p:nvSpPr>
        <p:spPr>
          <a:xfrm>
            <a:off x="0" y="962025"/>
            <a:ext cx="12188952" cy="5895975"/>
          </a:xfrm>
          <a:prstGeom prst="rect">
            <a:avLst/>
          </a:prstGeom>
          <a:solidFill>
            <a:srgbClr val="000000">
              <a:alpha val="90196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295076" y="3224212"/>
            <a:ext cx="9598800" cy="8763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6900" b="1" i="0" strike="noStrike">
                <a:ln/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谢谢！请评委指正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2118783" y="6162675"/>
            <a:ext cx="7951386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300" b="1" i="0" strike="noStrike">
                <a:ln/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华 南 师 范 大 学 · 码 到 成 功 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904148" y="6686550"/>
            <a:ext cx="2380654" cy="171450"/>
          </a:xfrm>
          <a:prstGeom prst="rect">
            <a:avLst/>
          </a:prstGeom>
          <a:solidFill>
            <a:srgbClr val="FBC43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1916</Words>
  <Application>Microsoft Office PowerPoint</Application>
  <PresentationFormat>宽屏</PresentationFormat>
  <Paragraphs>306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宋体</vt:lpstr>
      <vt:lpstr>Poppins</vt:lpstr>
      <vt:lpstr>Calibri</vt:lpstr>
      <vt:lpstr>Arial</vt:lpstr>
      <vt:lpstr>Source Han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锴嘉 吴</cp:lastModifiedBy>
  <cp:revision>4</cp:revision>
  <dcterms:created xsi:type="dcterms:W3CDTF">2006-08-16T00:00:00Z</dcterms:created>
  <dcterms:modified xsi:type="dcterms:W3CDTF">2026-08-04T07:57:22Z</dcterms:modified>
</cp:coreProperties>
</file>